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Poppins Italics" charset="1" panose="00000500000000000000"/>
      <p:regular r:id="rId25"/>
    </p:embeddedFont>
    <p:embeddedFont>
      <p:font typeface="Poppins" charset="1" panose="00000500000000000000"/>
      <p:regular r:id="rId26"/>
    </p:embeddedFont>
    <p:embeddedFont>
      <p:font typeface="Poppins Bold" charset="1" panose="00000800000000000000"/>
      <p:regular r:id="rId27"/>
    </p:embeddedFont>
    <p:embeddedFont>
      <p:font typeface="Lato" charset="1" panose="020F0502020204030203"/>
      <p:regular r:id="rId28"/>
    </p:embeddedFont>
    <p:embeddedFont>
      <p:font typeface="Lato Bold" charset="1" panose="020F05020202040302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75693" y="8683829"/>
            <a:ext cx="7762921" cy="566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i="true">
                <a:solidFill>
                  <a:srgbClr val="0A714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Presentado por</a:t>
            </a:r>
            <a:r>
              <a:rPr lang="en-US" sz="3200">
                <a:solidFill>
                  <a:srgbClr val="0A714E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b="true" sz="32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Carolina Medina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-690290" y="6560213"/>
            <a:ext cx="4684205" cy="4899413"/>
          </a:xfrm>
          <a:custGeom>
            <a:avLst/>
            <a:gdLst/>
            <a:ahLst/>
            <a:cxnLst/>
            <a:rect r="r" b="b" t="t" l="l"/>
            <a:pathLst>
              <a:path h="4899413" w="4684205">
                <a:moveTo>
                  <a:pt x="0" y="0"/>
                </a:moveTo>
                <a:lnTo>
                  <a:pt x="4684205" y="0"/>
                </a:lnTo>
                <a:lnTo>
                  <a:pt x="4684205" y="4899414"/>
                </a:lnTo>
                <a:lnTo>
                  <a:pt x="0" y="4899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30694" y="553934"/>
            <a:ext cx="5026149" cy="1256537"/>
          </a:xfrm>
          <a:custGeom>
            <a:avLst/>
            <a:gdLst/>
            <a:ahLst/>
            <a:cxnLst/>
            <a:rect r="r" b="b" t="t" l="l"/>
            <a:pathLst>
              <a:path h="1256537" w="5026149">
                <a:moveTo>
                  <a:pt x="0" y="0"/>
                </a:moveTo>
                <a:lnTo>
                  <a:pt x="5026148" y="0"/>
                </a:lnTo>
                <a:lnTo>
                  <a:pt x="5026148" y="1256537"/>
                </a:lnTo>
                <a:lnTo>
                  <a:pt x="0" y="12565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173458" y="2712137"/>
            <a:ext cx="11941084" cy="4862726"/>
          </a:xfrm>
          <a:custGeom>
            <a:avLst/>
            <a:gdLst/>
            <a:ahLst/>
            <a:cxnLst/>
            <a:rect r="r" b="b" t="t" l="l"/>
            <a:pathLst>
              <a:path h="4862726" w="11941084">
                <a:moveTo>
                  <a:pt x="0" y="0"/>
                </a:moveTo>
                <a:lnTo>
                  <a:pt x="11941084" y="0"/>
                </a:lnTo>
                <a:lnTo>
                  <a:pt x="11941084" y="4862726"/>
                </a:lnTo>
                <a:lnTo>
                  <a:pt x="0" y="48627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6932" y="2590224"/>
            <a:ext cx="16830152" cy="4836953"/>
            <a:chOff x="0" y="0"/>
            <a:chExt cx="4432633" cy="12739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32633" cy="1273930"/>
            </a:xfrm>
            <a:custGeom>
              <a:avLst/>
              <a:gdLst/>
              <a:ahLst/>
              <a:cxnLst/>
              <a:rect r="r" b="b" t="t" l="l"/>
              <a:pathLst>
                <a:path h="1273930" w="4432633">
                  <a:moveTo>
                    <a:pt x="9200" y="0"/>
                  </a:moveTo>
                  <a:lnTo>
                    <a:pt x="4423432" y="0"/>
                  </a:lnTo>
                  <a:cubicBezTo>
                    <a:pt x="4428513" y="0"/>
                    <a:pt x="4432633" y="4119"/>
                    <a:pt x="4432633" y="9200"/>
                  </a:cubicBezTo>
                  <a:lnTo>
                    <a:pt x="4432633" y="1264730"/>
                  </a:lnTo>
                  <a:cubicBezTo>
                    <a:pt x="4432633" y="1269811"/>
                    <a:pt x="4428513" y="1273930"/>
                    <a:pt x="4423432" y="1273930"/>
                  </a:cubicBezTo>
                  <a:lnTo>
                    <a:pt x="9200" y="1273930"/>
                  </a:lnTo>
                  <a:cubicBezTo>
                    <a:pt x="4119" y="1273930"/>
                    <a:pt x="0" y="1269811"/>
                    <a:pt x="0" y="1264730"/>
                  </a:cubicBezTo>
                  <a:lnTo>
                    <a:pt x="0" y="9200"/>
                  </a:lnTo>
                  <a:cubicBezTo>
                    <a:pt x="0" y="4119"/>
                    <a:pt x="4119" y="0"/>
                    <a:pt x="9200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32633" cy="1312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78796" y="3080840"/>
            <a:ext cx="14530408" cy="3322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En la actualidad cada año el gobierno ha destinado mediante la Subsecretaria de de Desarrollo Regional y Administrativo (SUBDERE) al rededor de 500 millones de pesos a fondos para la tenencia responsable de mascotas y animales abandonados, sin considerar que el sector privado destina mucho mas recursos económicos en estas materias.</a:t>
            </a:r>
          </a:p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Existe una alta tasa de devolución de mascotas debido a "matches" subjetivos basados en estética y no en el alineamiento entre el perfil del adopante y mascota.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516102" y="1019175"/>
            <a:ext cx="13255795" cy="9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CONTEXTO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927674" y="553934"/>
            <a:ext cx="4029169" cy="1007292"/>
          </a:xfrm>
          <a:custGeom>
            <a:avLst/>
            <a:gdLst/>
            <a:ahLst/>
            <a:cxnLst/>
            <a:rect r="r" b="b" t="t" l="l"/>
            <a:pathLst>
              <a:path h="1007292" w="4029169">
                <a:moveTo>
                  <a:pt x="0" y="0"/>
                </a:moveTo>
                <a:lnTo>
                  <a:pt x="4029168" y="0"/>
                </a:lnTo>
                <a:lnTo>
                  <a:pt x="4029168" y="1007292"/>
                </a:lnTo>
                <a:lnTo>
                  <a:pt x="0" y="10072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8924" y="3235493"/>
            <a:ext cx="16830152" cy="4251999"/>
            <a:chOff x="0" y="0"/>
            <a:chExt cx="4432633" cy="11198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32633" cy="1119868"/>
            </a:xfrm>
            <a:custGeom>
              <a:avLst/>
              <a:gdLst/>
              <a:ahLst/>
              <a:cxnLst/>
              <a:rect r="r" b="b" t="t" l="l"/>
              <a:pathLst>
                <a:path h="1119868" w="4432633">
                  <a:moveTo>
                    <a:pt x="9200" y="0"/>
                  </a:moveTo>
                  <a:lnTo>
                    <a:pt x="4423432" y="0"/>
                  </a:lnTo>
                  <a:cubicBezTo>
                    <a:pt x="4428513" y="0"/>
                    <a:pt x="4432633" y="4119"/>
                    <a:pt x="4432633" y="9200"/>
                  </a:cubicBezTo>
                  <a:lnTo>
                    <a:pt x="4432633" y="1110668"/>
                  </a:lnTo>
                  <a:cubicBezTo>
                    <a:pt x="4432633" y="1115749"/>
                    <a:pt x="4428513" y="1119868"/>
                    <a:pt x="4423432" y="1119868"/>
                  </a:cubicBezTo>
                  <a:lnTo>
                    <a:pt x="9200" y="1119868"/>
                  </a:lnTo>
                  <a:cubicBezTo>
                    <a:pt x="4119" y="1119868"/>
                    <a:pt x="0" y="1115749"/>
                    <a:pt x="0" y="1110668"/>
                  </a:cubicBezTo>
                  <a:lnTo>
                    <a:pt x="0" y="9200"/>
                  </a:lnTo>
                  <a:cubicBezTo>
                    <a:pt x="0" y="4119"/>
                    <a:pt x="4119" y="0"/>
                    <a:pt x="9200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32633" cy="1157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65862" y="4078512"/>
            <a:ext cx="14956276" cy="2082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FamilIA es una solución tecnológica de vanguardia diseñada para optimizar el proceso de adopción de mascotas mediante el uso de Inteligencia Artificial Generativa (GenAI). A través de un ecosistema Full-Stack robusto que orqueste modelos de IA (Gemini 3.1 Pro (High) y Gemini 3 Flash) para automatizar el emparejamiento semántico entre humanos y mascotas.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185149" y="2084405"/>
            <a:ext cx="13255795" cy="9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SOLUCION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965660" y="366443"/>
            <a:ext cx="3957194" cy="989299"/>
          </a:xfrm>
          <a:custGeom>
            <a:avLst/>
            <a:gdLst/>
            <a:ahLst/>
            <a:cxnLst/>
            <a:rect r="r" b="b" t="t" l="l"/>
            <a:pathLst>
              <a:path h="989299" w="3957194">
                <a:moveTo>
                  <a:pt x="0" y="0"/>
                </a:moveTo>
                <a:lnTo>
                  <a:pt x="3957195" y="0"/>
                </a:lnTo>
                <a:lnTo>
                  <a:pt x="3957195" y="989299"/>
                </a:lnTo>
                <a:lnTo>
                  <a:pt x="0" y="989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8924" y="2835502"/>
            <a:ext cx="16830152" cy="4792905"/>
            <a:chOff x="0" y="0"/>
            <a:chExt cx="4432633" cy="12623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32633" cy="1262329"/>
            </a:xfrm>
            <a:custGeom>
              <a:avLst/>
              <a:gdLst/>
              <a:ahLst/>
              <a:cxnLst/>
              <a:rect r="r" b="b" t="t" l="l"/>
              <a:pathLst>
                <a:path h="1262329" w="4432633">
                  <a:moveTo>
                    <a:pt x="9200" y="0"/>
                  </a:moveTo>
                  <a:lnTo>
                    <a:pt x="4423432" y="0"/>
                  </a:lnTo>
                  <a:cubicBezTo>
                    <a:pt x="4428513" y="0"/>
                    <a:pt x="4432633" y="4119"/>
                    <a:pt x="4432633" y="9200"/>
                  </a:cubicBezTo>
                  <a:lnTo>
                    <a:pt x="4432633" y="1253129"/>
                  </a:lnTo>
                  <a:cubicBezTo>
                    <a:pt x="4432633" y="1258210"/>
                    <a:pt x="4428513" y="1262329"/>
                    <a:pt x="4423432" y="1262329"/>
                  </a:cubicBezTo>
                  <a:lnTo>
                    <a:pt x="9200" y="1262329"/>
                  </a:lnTo>
                  <a:cubicBezTo>
                    <a:pt x="4119" y="1262329"/>
                    <a:pt x="0" y="1258210"/>
                    <a:pt x="0" y="1253129"/>
                  </a:cubicBezTo>
                  <a:lnTo>
                    <a:pt x="0" y="9200"/>
                  </a:lnTo>
                  <a:cubicBezTo>
                    <a:pt x="0" y="4119"/>
                    <a:pt x="4119" y="0"/>
                    <a:pt x="9200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32633" cy="1300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90485" y="4288080"/>
            <a:ext cx="14956276" cy="124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Optimizar la gestión de recursos económicos de los refugios tanto privados como municipales, al maximizar la liberación de cupos y recursos críticos de los refugios, agilizando el proceso de adopción de mascotas mediante la automatización de los procesos de preselección.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62930" y="1155127"/>
            <a:ext cx="13255795" cy="9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 GENERAL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965660" y="366443"/>
            <a:ext cx="3957194" cy="989299"/>
          </a:xfrm>
          <a:custGeom>
            <a:avLst/>
            <a:gdLst/>
            <a:ahLst/>
            <a:cxnLst/>
            <a:rect r="r" b="b" t="t" l="l"/>
            <a:pathLst>
              <a:path h="989299" w="3957194">
                <a:moveTo>
                  <a:pt x="0" y="0"/>
                </a:moveTo>
                <a:lnTo>
                  <a:pt x="3957195" y="0"/>
                </a:lnTo>
                <a:lnTo>
                  <a:pt x="3957195" y="989299"/>
                </a:lnTo>
                <a:lnTo>
                  <a:pt x="0" y="989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5286" y="2447229"/>
            <a:ext cx="16404909" cy="6736218"/>
            <a:chOff x="0" y="0"/>
            <a:chExt cx="4320635" cy="17741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0635" cy="1774148"/>
            </a:xfrm>
            <a:custGeom>
              <a:avLst/>
              <a:gdLst/>
              <a:ahLst/>
              <a:cxnLst/>
              <a:rect r="r" b="b" t="t" l="l"/>
              <a:pathLst>
                <a:path h="1774148" w="4320635">
                  <a:moveTo>
                    <a:pt x="9439" y="0"/>
                  </a:moveTo>
                  <a:lnTo>
                    <a:pt x="4311196" y="0"/>
                  </a:lnTo>
                  <a:cubicBezTo>
                    <a:pt x="4313699" y="0"/>
                    <a:pt x="4316100" y="994"/>
                    <a:pt x="4317870" y="2764"/>
                  </a:cubicBezTo>
                  <a:cubicBezTo>
                    <a:pt x="4319640" y="4535"/>
                    <a:pt x="4320635" y="6935"/>
                    <a:pt x="4320635" y="9439"/>
                  </a:cubicBezTo>
                  <a:lnTo>
                    <a:pt x="4320635" y="1764709"/>
                  </a:lnTo>
                  <a:cubicBezTo>
                    <a:pt x="4320635" y="1767213"/>
                    <a:pt x="4319640" y="1769613"/>
                    <a:pt x="4317870" y="1771383"/>
                  </a:cubicBezTo>
                  <a:cubicBezTo>
                    <a:pt x="4316100" y="1773154"/>
                    <a:pt x="4313699" y="1774148"/>
                    <a:pt x="4311196" y="1774148"/>
                  </a:cubicBezTo>
                  <a:lnTo>
                    <a:pt x="9439" y="1774148"/>
                  </a:lnTo>
                  <a:cubicBezTo>
                    <a:pt x="6935" y="1774148"/>
                    <a:pt x="4535" y="1773154"/>
                    <a:pt x="2764" y="1771383"/>
                  </a:cubicBezTo>
                  <a:cubicBezTo>
                    <a:pt x="994" y="1769613"/>
                    <a:pt x="0" y="1767213"/>
                    <a:pt x="0" y="1764709"/>
                  </a:cubicBezTo>
                  <a:lnTo>
                    <a:pt x="0" y="9439"/>
                  </a:lnTo>
                  <a:cubicBezTo>
                    <a:pt x="0" y="6935"/>
                    <a:pt x="994" y="4535"/>
                    <a:pt x="2764" y="2764"/>
                  </a:cubicBezTo>
                  <a:cubicBezTo>
                    <a:pt x="4535" y="994"/>
                    <a:pt x="6935" y="0"/>
                    <a:pt x="9439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20635" cy="1812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965660" y="366443"/>
            <a:ext cx="3957194" cy="989299"/>
          </a:xfrm>
          <a:custGeom>
            <a:avLst/>
            <a:gdLst/>
            <a:ahLst/>
            <a:cxnLst/>
            <a:rect r="r" b="b" t="t" l="l"/>
            <a:pathLst>
              <a:path h="989299" w="3957194">
                <a:moveTo>
                  <a:pt x="0" y="0"/>
                </a:moveTo>
                <a:lnTo>
                  <a:pt x="3957195" y="0"/>
                </a:lnTo>
                <a:lnTo>
                  <a:pt x="3957195" y="989299"/>
                </a:lnTo>
                <a:lnTo>
                  <a:pt x="0" y="989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01045" y="3099138"/>
            <a:ext cx="259594" cy="243546"/>
          </a:xfrm>
          <a:custGeom>
            <a:avLst/>
            <a:gdLst/>
            <a:ahLst/>
            <a:cxnLst/>
            <a:rect r="r" b="b" t="t" l="l"/>
            <a:pathLst>
              <a:path h="243546" w="259594">
                <a:moveTo>
                  <a:pt x="0" y="0"/>
                </a:moveTo>
                <a:lnTo>
                  <a:pt x="259593" y="0"/>
                </a:lnTo>
                <a:lnTo>
                  <a:pt x="259593" y="243546"/>
                </a:lnTo>
                <a:lnTo>
                  <a:pt x="0" y="243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46177" y="1113463"/>
            <a:ext cx="8700580" cy="83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49"/>
              </a:lnSpc>
            </a:pPr>
            <a:r>
              <a:rPr lang="en-US" b="true" sz="5499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 ESPECIFICOS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76287" y="2983537"/>
            <a:ext cx="12107170" cy="110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Reducir el tiempo promedio de adopción: Lograr que un animal pase un porcentaje de menos de tiempo en el refugio desde su ingreso hasta su adopción definitiva gracias a la agilidad del emparejamiento digital.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76287" y="4122907"/>
            <a:ext cx="12107170" cy="110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Acelerar la etapa de pre-selección: Disminuir en un porcentaje las horas hombre dedicadas por el personal de los refugios a las entrevistas iniciales y revisión de perfiles, automatizando el filtrado mediante el algoritmo.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76287" y="6753264"/>
            <a:ext cx="12343693" cy="73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4"/>
              </a:lnSpc>
            </a:pPr>
            <a:r>
              <a:rPr lang="en-US" sz="211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Crear una base de datos analítica: Generar reportes mensuales sobre perfiles de adoptantes y demanda de tipos de mascotas para ayudar a los organismos públicos a tomar decisiones basadas en datos reales.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76287" y="5322533"/>
            <a:ext cx="12107170" cy="110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Generar ahorro operativo: Reducir los costos directos de mantención (alimento, caniles y medicina preventiva) de las instituciones en un porcentaje significativo anual, al acelerar el flujo de salida de los animales hacia hogares permanentes.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76287" y="7843401"/>
            <a:ext cx="12107170" cy="73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Minimizar la tasa de devolución: Mantener el índice de devoluciones por incompatibilidad por debajo del porcentaje  (siendo el estándar actual mucho más alto), asegurando vínculos duraderos.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401045" y="4170532"/>
            <a:ext cx="259594" cy="243546"/>
          </a:xfrm>
          <a:custGeom>
            <a:avLst/>
            <a:gdLst/>
            <a:ahLst/>
            <a:cxnLst/>
            <a:rect r="r" b="b" t="t" l="l"/>
            <a:pathLst>
              <a:path h="243546" w="259594">
                <a:moveTo>
                  <a:pt x="0" y="0"/>
                </a:moveTo>
                <a:lnTo>
                  <a:pt x="259593" y="0"/>
                </a:lnTo>
                <a:lnTo>
                  <a:pt x="259593" y="243546"/>
                </a:lnTo>
                <a:lnTo>
                  <a:pt x="0" y="243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423648" y="7992323"/>
            <a:ext cx="259594" cy="243546"/>
          </a:xfrm>
          <a:custGeom>
            <a:avLst/>
            <a:gdLst/>
            <a:ahLst/>
            <a:cxnLst/>
            <a:rect r="r" b="b" t="t" l="l"/>
            <a:pathLst>
              <a:path h="243546" w="259594">
                <a:moveTo>
                  <a:pt x="0" y="0"/>
                </a:moveTo>
                <a:lnTo>
                  <a:pt x="259593" y="0"/>
                </a:lnTo>
                <a:lnTo>
                  <a:pt x="259593" y="243546"/>
                </a:lnTo>
                <a:lnTo>
                  <a:pt x="0" y="243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423648" y="6800889"/>
            <a:ext cx="259594" cy="243546"/>
          </a:xfrm>
          <a:custGeom>
            <a:avLst/>
            <a:gdLst/>
            <a:ahLst/>
            <a:cxnLst/>
            <a:rect r="r" b="b" t="t" l="l"/>
            <a:pathLst>
              <a:path h="243546" w="259594">
                <a:moveTo>
                  <a:pt x="0" y="0"/>
                </a:moveTo>
                <a:lnTo>
                  <a:pt x="259593" y="0"/>
                </a:lnTo>
                <a:lnTo>
                  <a:pt x="259593" y="243546"/>
                </a:lnTo>
                <a:lnTo>
                  <a:pt x="0" y="243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423648" y="5477431"/>
            <a:ext cx="259594" cy="243546"/>
          </a:xfrm>
          <a:custGeom>
            <a:avLst/>
            <a:gdLst/>
            <a:ahLst/>
            <a:cxnLst/>
            <a:rect r="r" b="b" t="t" l="l"/>
            <a:pathLst>
              <a:path h="243546" w="259594">
                <a:moveTo>
                  <a:pt x="0" y="0"/>
                </a:moveTo>
                <a:lnTo>
                  <a:pt x="259593" y="0"/>
                </a:lnTo>
                <a:lnTo>
                  <a:pt x="259593" y="243545"/>
                </a:lnTo>
                <a:lnTo>
                  <a:pt x="0" y="2435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5286" y="2209313"/>
            <a:ext cx="16404909" cy="7585917"/>
            <a:chOff x="0" y="0"/>
            <a:chExt cx="4320635" cy="19979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0635" cy="1997937"/>
            </a:xfrm>
            <a:custGeom>
              <a:avLst/>
              <a:gdLst/>
              <a:ahLst/>
              <a:cxnLst/>
              <a:rect r="r" b="b" t="t" l="l"/>
              <a:pathLst>
                <a:path h="1997937" w="4320635">
                  <a:moveTo>
                    <a:pt x="9439" y="0"/>
                  </a:moveTo>
                  <a:lnTo>
                    <a:pt x="4311196" y="0"/>
                  </a:lnTo>
                  <a:cubicBezTo>
                    <a:pt x="4313699" y="0"/>
                    <a:pt x="4316100" y="994"/>
                    <a:pt x="4317870" y="2764"/>
                  </a:cubicBezTo>
                  <a:cubicBezTo>
                    <a:pt x="4319640" y="4535"/>
                    <a:pt x="4320635" y="6935"/>
                    <a:pt x="4320635" y="9439"/>
                  </a:cubicBezTo>
                  <a:lnTo>
                    <a:pt x="4320635" y="1988498"/>
                  </a:lnTo>
                  <a:cubicBezTo>
                    <a:pt x="4320635" y="1991002"/>
                    <a:pt x="4319640" y="1993402"/>
                    <a:pt x="4317870" y="1995172"/>
                  </a:cubicBezTo>
                  <a:cubicBezTo>
                    <a:pt x="4316100" y="1996943"/>
                    <a:pt x="4313699" y="1997937"/>
                    <a:pt x="4311196" y="1997937"/>
                  </a:cubicBezTo>
                  <a:lnTo>
                    <a:pt x="9439" y="1997937"/>
                  </a:lnTo>
                  <a:cubicBezTo>
                    <a:pt x="6935" y="1997937"/>
                    <a:pt x="4535" y="1996943"/>
                    <a:pt x="2764" y="1995172"/>
                  </a:cubicBezTo>
                  <a:cubicBezTo>
                    <a:pt x="994" y="1993402"/>
                    <a:pt x="0" y="1991002"/>
                    <a:pt x="0" y="1988498"/>
                  </a:cubicBezTo>
                  <a:lnTo>
                    <a:pt x="0" y="9439"/>
                  </a:lnTo>
                  <a:cubicBezTo>
                    <a:pt x="0" y="6935"/>
                    <a:pt x="994" y="4535"/>
                    <a:pt x="2764" y="2764"/>
                  </a:cubicBezTo>
                  <a:cubicBezTo>
                    <a:pt x="4535" y="994"/>
                    <a:pt x="6935" y="0"/>
                    <a:pt x="9439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20635" cy="2036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487414" y="1091713"/>
            <a:ext cx="8700580" cy="83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9"/>
              </a:lnSpc>
            </a:pPr>
            <a:r>
              <a:rPr lang="en-US" b="true" sz="5499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ALCANCE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27042" y="2585461"/>
            <a:ext cx="12356415" cy="232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Módulo del Adoptante (App Móvil React Native):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Registro y perfilamiento psicográfico mediante un formulario dinámico.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Visualización de "Matches" generados por Gemini 3.1 Pro, incluyendo una explicación semántica de la compatibilidad.</a:t>
            </a:r>
          </a:p>
          <a:p>
            <a:pPr algn="l" marL="410211" indent="-205106" lvl="1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lang="en-US" sz="1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Integración de chatbot de Azure Foundry IA para consultas de ley de tenencia responsable y primeros meses de cuidados 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827042" y="4859970"/>
            <a:ext cx="12356415" cy="232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Módulo del Refugio/Municipio (Plataforma Web React):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Gestión de inventario de mascotas (ingreso de fichas, fotos y antecedentes conductuales).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Visualización de analítica básica: número de adopciones exitosas y estimación de ahorro de recursos por liberación de cupos.</a:t>
            </a:r>
          </a:p>
          <a:p>
            <a:pPr algn="l" marL="410211" indent="-205106" lvl="1">
              <a:lnSpc>
                <a:spcPts val="2660"/>
              </a:lnSpc>
              <a:spcBef>
                <a:spcPct val="0"/>
              </a:spcBef>
              <a:buFont typeface="Arial"/>
              <a:buChar char="•"/>
            </a:pPr>
            <a:r>
              <a:rPr lang="en-US" sz="1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Herramienta de "Generación de Perfiles": Uso de GenAI para crear descripciones atractivas de las mascotas a partir de datos técnicos.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827042" y="7412505"/>
            <a:ext cx="12356415" cy="199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Alcance Técnico (La infraestructura)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Despliegue Cloud Full-Stack: Implementación de la solución utilizando Firebase como plataforma única para Backend (Functions), Base de Datos (Firestore), Autenticación y Almacenamiento.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Integración de IA Generativa: Conexión mediante la API de Antigravity para orquestar los modelos Gemini. El alcance se limita al procesamiento de texto y razonamiento lógico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965660" y="366443"/>
            <a:ext cx="3957194" cy="989299"/>
          </a:xfrm>
          <a:custGeom>
            <a:avLst/>
            <a:gdLst/>
            <a:ahLst/>
            <a:cxnLst/>
            <a:rect r="r" b="b" t="t" l="l"/>
            <a:pathLst>
              <a:path h="989299" w="3957194">
                <a:moveTo>
                  <a:pt x="0" y="0"/>
                </a:moveTo>
                <a:lnTo>
                  <a:pt x="3957195" y="0"/>
                </a:lnTo>
                <a:lnTo>
                  <a:pt x="3957195" y="989299"/>
                </a:lnTo>
                <a:lnTo>
                  <a:pt x="0" y="989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37046" y="2703720"/>
            <a:ext cx="259594" cy="243546"/>
          </a:xfrm>
          <a:custGeom>
            <a:avLst/>
            <a:gdLst/>
            <a:ahLst/>
            <a:cxnLst/>
            <a:rect r="r" b="b" t="t" l="l"/>
            <a:pathLst>
              <a:path h="243546" w="259594">
                <a:moveTo>
                  <a:pt x="0" y="0"/>
                </a:moveTo>
                <a:lnTo>
                  <a:pt x="259594" y="0"/>
                </a:lnTo>
                <a:lnTo>
                  <a:pt x="259594" y="243546"/>
                </a:lnTo>
                <a:lnTo>
                  <a:pt x="0" y="243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237046" y="7450605"/>
            <a:ext cx="259594" cy="243546"/>
          </a:xfrm>
          <a:custGeom>
            <a:avLst/>
            <a:gdLst/>
            <a:ahLst/>
            <a:cxnLst/>
            <a:rect r="r" b="b" t="t" l="l"/>
            <a:pathLst>
              <a:path h="243546" w="259594">
                <a:moveTo>
                  <a:pt x="0" y="0"/>
                </a:moveTo>
                <a:lnTo>
                  <a:pt x="259594" y="0"/>
                </a:lnTo>
                <a:lnTo>
                  <a:pt x="259594" y="243546"/>
                </a:lnTo>
                <a:lnTo>
                  <a:pt x="0" y="243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237046" y="4899954"/>
            <a:ext cx="259594" cy="243546"/>
          </a:xfrm>
          <a:custGeom>
            <a:avLst/>
            <a:gdLst/>
            <a:ahLst/>
            <a:cxnLst/>
            <a:rect r="r" b="b" t="t" l="l"/>
            <a:pathLst>
              <a:path h="243546" w="259594">
                <a:moveTo>
                  <a:pt x="0" y="0"/>
                </a:moveTo>
                <a:lnTo>
                  <a:pt x="259594" y="0"/>
                </a:lnTo>
                <a:lnTo>
                  <a:pt x="259594" y="243546"/>
                </a:lnTo>
                <a:lnTo>
                  <a:pt x="0" y="243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5286" y="1699494"/>
            <a:ext cx="16404909" cy="8016431"/>
            <a:chOff x="0" y="0"/>
            <a:chExt cx="4320635" cy="21113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0635" cy="2111323"/>
            </a:xfrm>
            <a:custGeom>
              <a:avLst/>
              <a:gdLst/>
              <a:ahLst/>
              <a:cxnLst/>
              <a:rect r="r" b="b" t="t" l="l"/>
              <a:pathLst>
                <a:path h="2111323" w="4320635">
                  <a:moveTo>
                    <a:pt x="9439" y="0"/>
                  </a:moveTo>
                  <a:lnTo>
                    <a:pt x="4311196" y="0"/>
                  </a:lnTo>
                  <a:cubicBezTo>
                    <a:pt x="4313699" y="0"/>
                    <a:pt x="4316100" y="994"/>
                    <a:pt x="4317870" y="2764"/>
                  </a:cubicBezTo>
                  <a:cubicBezTo>
                    <a:pt x="4319640" y="4535"/>
                    <a:pt x="4320635" y="6935"/>
                    <a:pt x="4320635" y="9439"/>
                  </a:cubicBezTo>
                  <a:lnTo>
                    <a:pt x="4320635" y="2101885"/>
                  </a:lnTo>
                  <a:cubicBezTo>
                    <a:pt x="4320635" y="2104388"/>
                    <a:pt x="4319640" y="2106789"/>
                    <a:pt x="4317870" y="2108559"/>
                  </a:cubicBezTo>
                  <a:cubicBezTo>
                    <a:pt x="4316100" y="2110329"/>
                    <a:pt x="4313699" y="2111323"/>
                    <a:pt x="4311196" y="2111323"/>
                  </a:cubicBezTo>
                  <a:lnTo>
                    <a:pt x="9439" y="2111323"/>
                  </a:lnTo>
                  <a:cubicBezTo>
                    <a:pt x="6935" y="2111323"/>
                    <a:pt x="4535" y="2110329"/>
                    <a:pt x="2764" y="2108559"/>
                  </a:cubicBezTo>
                  <a:cubicBezTo>
                    <a:pt x="994" y="2106789"/>
                    <a:pt x="0" y="2104388"/>
                    <a:pt x="0" y="2101885"/>
                  </a:cubicBezTo>
                  <a:lnTo>
                    <a:pt x="0" y="9439"/>
                  </a:lnTo>
                  <a:cubicBezTo>
                    <a:pt x="0" y="6935"/>
                    <a:pt x="994" y="4535"/>
                    <a:pt x="2764" y="2764"/>
                  </a:cubicBezTo>
                  <a:cubicBezTo>
                    <a:pt x="4535" y="994"/>
                    <a:pt x="6935" y="0"/>
                    <a:pt x="9439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20635" cy="2149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436942" y="874319"/>
            <a:ext cx="8676966" cy="54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b="true" sz="36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REQUERIMIENTOS FUNCIONALES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60689" y="2553360"/>
            <a:ext cx="6778441" cy="499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Gestión de Usuarios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RF-01: Registro de Adoptantes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RF-02: Inicio de Sesión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RF-03: Gestión de Perfil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Perfilamiento Psicográfico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RF-04: Cuestionario Inicial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RF-05: Almacenamiento de Perfil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Motor de Compatibilidad IA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RF-06: Generación de Compatibilidad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RF-07: Ranking de Matches</a:t>
            </a: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49516" y="2553360"/>
            <a:ext cx="7050344" cy="4291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Motor de Compatibilidad IA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RF-08: Explicación Semántica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RF-09: Recomendaciones Alternativas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Gestión de Mascotas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RF-10: Registro de Mascotas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RF-11: Edición de Mascotas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Solicitudes de Adopción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RF-12: Solicitud de Adopción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RF-13: Gestión de Solicitudes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RF-14: Historial de Solicitudes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965660" y="366443"/>
            <a:ext cx="3957194" cy="989299"/>
          </a:xfrm>
          <a:custGeom>
            <a:avLst/>
            <a:gdLst/>
            <a:ahLst/>
            <a:cxnLst/>
            <a:rect r="r" b="b" t="t" l="l"/>
            <a:pathLst>
              <a:path h="989299" w="3957194">
                <a:moveTo>
                  <a:pt x="0" y="0"/>
                </a:moveTo>
                <a:lnTo>
                  <a:pt x="3957195" y="0"/>
                </a:lnTo>
                <a:lnTo>
                  <a:pt x="3957195" y="989299"/>
                </a:lnTo>
                <a:lnTo>
                  <a:pt x="0" y="989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7945" y="2176863"/>
            <a:ext cx="16404909" cy="7706741"/>
            <a:chOff x="0" y="0"/>
            <a:chExt cx="4320635" cy="2029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0635" cy="2029759"/>
            </a:xfrm>
            <a:custGeom>
              <a:avLst/>
              <a:gdLst/>
              <a:ahLst/>
              <a:cxnLst/>
              <a:rect r="r" b="b" t="t" l="l"/>
              <a:pathLst>
                <a:path h="2029759" w="4320635">
                  <a:moveTo>
                    <a:pt x="9439" y="0"/>
                  </a:moveTo>
                  <a:lnTo>
                    <a:pt x="4311196" y="0"/>
                  </a:lnTo>
                  <a:cubicBezTo>
                    <a:pt x="4313699" y="0"/>
                    <a:pt x="4316100" y="994"/>
                    <a:pt x="4317870" y="2764"/>
                  </a:cubicBezTo>
                  <a:cubicBezTo>
                    <a:pt x="4319640" y="4535"/>
                    <a:pt x="4320635" y="6935"/>
                    <a:pt x="4320635" y="9439"/>
                  </a:cubicBezTo>
                  <a:lnTo>
                    <a:pt x="4320635" y="2020320"/>
                  </a:lnTo>
                  <a:cubicBezTo>
                    <a:pt x="4320635" y="2022824"/>
                    <a:pt x="4319640" y="2025224"/>
                    <a:pt x="4317870" y="2026994"/>
                  </a:cubicBezTo>
                  <a:cubicBezTo>
                    <a:pt x="4316100" y="2028765"/>
                    <a:pt x="4313699" y="2029759"/>
                    <a:pt x="4311196" y="2029759"/>
                  </a:cubicBezTo>
                  <a:lnTo>
                    <a:pt x="9439" y="2029759"/>
                  </a:lnTo>
                  <a:cubicBezTo>
                    <a:pt x="6935" y="2029759"/>
                    <a:pt x="4535" y="2028765"/>
                    <a:pt x="2764" y="2026994"/>
                  </a:cubicBezTo>
                  <a:cubicBezTo>
                    <a:pt x="994" y="2025224"/>
                    <a:pt x="0" y="2022824"/>
                    <a:pt x="0" y="2020320"/>
                  </a:cubicBezTo>
                  <a:lnTo>
                    <a:pt x="0" y="9439"/>
                  </a:lnTo>
                  <a:cubicBezTo>
                    <a:pt x="0" y="6935"/>
                    <a:pt x="994" y="4535"/>
                    <a:pt x="2764" y="2764"/>
                  </a:cubicBezTo>
                  <a:cubicBezTo>
                    <a:pt x="4535" y="994"/>
                    <a:pt x="6935" y="0"/>
                    <a:pt x="9439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20635" cy="2067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087787" y="1346217"/>
            <a:ext cx="9877873" cy="61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b="true" sz="40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REQUERIMIENTOS NO FUNCIONALES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27499" y="2349883"/>
            <a:ext cx="6574513" cy="7669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Rendimiento</a:t>
            </a:r>
          </a:p>
          <a:p>
            <a:pPr algn="l">
              <a:lnSpc>
                <a:spcPts val="1959"/>
              </a:lnSpc>
            </a:pPr>
            <a:r>
              <a:rPr lang="en-US" sz="13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RNF-01</a:t>
            </a:r>
          </a:p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tiempo de respuesta de consultas normales no deberá superar 3 segundos.</a:t>
            </a: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  <a:r>
              <a:rPr lang="en-US" sz="13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RNF-02</a:t>
            </a:r>
          </a:p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La generación de compatibilidad mediante IA no deberá superar 10 segundos.</a:t>
            </a: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  <a:r>
              <a:rPr lang="en-US" sz="13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RNF-03</a:t>
            </a:r>
          </a:p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sistema deberá soportar al menos 500 usuarios concurrentes.</a:t>
            </a: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  <a:r>
              <a:rPr lang="en-US" sz="1399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Seguridad</a:t>
            </a:r>
          </a:p>
          <a:p>
            <a:pPr algn="l">
              <a:lnSpc>
                <a:spcPts val="1959"/>
              </a:lnSpc>
            </a:pPr>
            <a:r>
              <a:rPr lang="en-US" sz="13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RNF-04</a:t>
            </a:r>
          </a:p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Toda la comunicación deberá utilizar HTTPS.</a:t>
            </a: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  <a:r>
              <a:rPr lang="en-US" sz="1399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Mantenibilidad</a:t>
            </a:r>
          </a:p>
          <a:p>
            <a:pPr algn="l">
              <a:lnSpc>
                <a:spcPts val="1959"/>
              </a:lnSpc>
            </a:pPr>
            <a:r>
              <a:rPr lang="en-US" sz="13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RNF-05</a:t>
            </a:r>
          </a:p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La arquitectura deberá seguir una estructura multicapa:</a:t>
            </a:r>
          </a:p>
          <a:p>
            <a:pPr algn="l" marL="302259" indent="-151129" lvl="1">
              <a:lnSpc>
                <a:spcPts val="1959"/>
              </a:lnSpc>
              <a:buFont typeface="Arial"/>
              <a:buChar char="•"/>
            </a:pPr>
            <a:r>
              <a:rPr lang="en-US" b="true" sz="1399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Frontend</a:t>
            </a:r>
          </a:p>
          <a:p>
            <a:pPr algn="l" marL="302259" indent="-151129" lvl="1">
              <a:lnSpc>
                <a:spcPts val="1959"/>
              </a:lnSpc>
              <a:buFont typeface="Arial"/>
              <a:buChar char="•"/>
            </a:pPr>
            <a:r>
              <a:rPr lang="en-US" b="true" sz="1399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Backend/API</a:t>
            </a:r>
          </a:p>
          <a:p>
            <a:pPr algn="l" marL="302259" indent="-151129" lvl="1">
              <a:lnSpc>
                <a:spcPts val="1959"/>
              </a:lnSpc>
              <a:buFont typeface="Arial"/>
              <a:buChar char="•"/>
            </a:pPr>
            <a:r>
              <a:rPr lang="en-US" b="true" sz="1399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IA</a:t>
            </a:r>
          </a:p>
          <a:p>
            <a:pPr algn="l" marL="302259" indent="-151129" lvl="1">
              <a:lnSpc>
                <a:spcPts val="1959"/>
              </a:lnSpc>
              <a:buFont typeface="Arial"/>
              <a:buChar char="•"/>
            </a:pPr>
            <a:r>
              <a:rPr lang="en-US" b="true" sz="1399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Base de Datos</a:t>
            </a: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  <a:r>
              <a:rPr lang="en-US" sz="1399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Disponibilidad</a:t>
            </a:r>
          </a:p>
          <a:p>
            <a:pPr algn="l">
              <a:lnSpc>
                <a:spcPts val="1959"/>
              </a:lnSpc>
            </a:pPr>
            <a:r>
              <a:rPr lang="en-US" sz="13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RNF-06</a:t>
            </a:r>
          </a:p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La plataforma deberá tener una disponibilidad mínima del 99%.</a:t>
            </a: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832316" y="2349883"/>
            <a:ext cx="7224068" cy="970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Disponibilidad</a:t>
            </a:r>
          </a:p>
          <a:p>
            <a:pPr algn="l">
              <a:lnSpc>
                <a:spcPts val="1959"/>
              </a:lnSpc>
            </a:pPr>
            <a:r>
              <a:rPr lang="en-US" sz="13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RNF-06</a:t>
            </a:r>
          </a:p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La plataforma deberá tener una disponibilidad mínima del 99%.</a:t>
            </a: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  <a:r>
              <a:rPr lang="en-US" sz="13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RNF-07</a:t>
            </a:r>
          </a:p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Los datos deberán mantenerse respaldados automáticamente mediante Firebase</a:t>
            </a:r>
            <a:r>
              <a:rPr lang="en-US" sz="13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.</a:t>
            </a: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  <a:r>
              <a:rPr lang="en-US" sz="1399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Compatibilidad</a:t>
            </a:r>
          </a:p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RNF-08</a:t>
            </a:r>
          </a:p>
          <a:p>
            <a:pPr algn="l">
              <a:lnSpc>
                <a:spcPts val="1959"/>
              </a:lnSpc>
            </a:pPr>
            <a:r>
              <a:rPr lang="en-US" sz="13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La aplicación móvil deberá funcionar en Android e iOS.</a:t>
            </a: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RNF-09</a:t>
            </a:r>
          </a:p>
          <a:p>
            <a:pPr algn="l">
              <a:lnSpc>
                <a:spcPts val="1959"/>
              </a:lnSpc>
            </a:pPr>
            <a:r>
              <a:rPr lang="en-US" sz="13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La plataforma web deberá funcionar en:</a:t>
            </a:r>
          </a:p>
          <a:p>
            <a:pPr algn="l" marL="302259" indent="-151129" lvl="1">
              <a:lnSpc>
                <a:spcPts val="1959"/>
              </a:lnSpc>
              <a:buFont typeface="Arial"/>
              <a:buChar char="•"/>
            </a:pPr>
            <a:r>
              <a:rPr lang="en-US" b="true" sz="1399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Chrome</a:t>
            </a:r>
          </a:p>
          <a:p>
            <a:pPr algn="l" marL="302259" indent="-151129" lvl="1">
              <a:lnSpc>
                <a:spcPts val="1959"/>
              </a:lnSpc>
              <a:buFont typeface="Arial"/>
              <a:buChar char="•"/>
            </a:pPr>
            <a:r>
              <a:rPr lang="en-US" b="true" sz="1399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Edge</a:t>
            </a:r>
          </a:p>
          <a:p>
            <a:pPr algn="l" marL="302259" indent="-151129" lvl="1">
              <a:lnSpc>
                <a:spcPts val="1959"/>
              </a:lnSpc>
              <a:buFont typeface="Arial"/>
              <a:buChar char="•"/>
            </a:pPr>
            <a:r>
              <a:rPr lang="en-US" b="true" sz="1399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Firefox</a:t>
            </a:r>
          </a:p>
          <a:p>
            <a:pPr algn="l" marL="302259" indent="-151129" lvl="1">
              <a:lnSpc>
                <a:spcPts val="1959"/>
              </a:lnSpc>
              <a:buFont typeface="Arial"/>
              <a:buChar char="•"/>
            </a:pPr>
            <a:r>
              <a:rPr lang="en-US" b="true" sz="1399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Safari</a:t>
            </a: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  <a:r>
              <a:rPr lang="en-US" sz="1399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Motor de Compatibilidad IA</a:t>
            </a:r>
          </a:p>
          <a:p>
            <a:pPr algn="l">
              <a:lnSpc>
                <a:spcPts val="1959"/>
              </a:lnSpc>
            </a:pPr>
            <a:r>
              <a:rPr lang="en-US" sz="13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RNF-10</a:t>
            </a:r>
          </a:p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Las recomendaciones deberán ser explicables para el usuario.</a:t>
            </a: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  <a:r>
              <a:rPr lang="en-US" sz="13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RNF-11</a:t>
            </a:r>
          </a:p>
          <a:p>
            <a:pPr algn="l">
              <a:lnSpc>
                <a:spcPts val="1959"/>
              </a:lnSpc>
            </a:pPr>
            <a:r>
              <a:rPr lang="en-US" sz="13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El sistema deberá registrar auditorías de los resultados generados por IA.</a:t>
            </a: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  <a:r>
              <a:rPr lang="en-US" sz="13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RNF-12</a:t>
            </a:r>
          </a:p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La precisión del algoritmo de compatibilidad deberá superar el 80% durante las pruebas piloto.</a:t>
            </a: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965660" y="366443"/>
            <a:ext cx="3957194" cy="989299"/>
          </a:xfrm>
          <a:custGeom>
            <a:avLst/>
            <a:gdLst/>
            <a:ahLst/>
            <a:cxnLst/>
            <a:rect r="r" b="b" t="t" l="l"/>
            <a:pathLst>
              <a:path h="989299" w="3957194">
                <a:moveTo>
                  <a:pt x="0" y="0"/>
                </a:moveTo>
                <a:lnTo>
                  <a:pt x="3957195" y="0"/>
                </a:lnTo>
                <a:lnTo>
                  <a:pt x="3957195" y="989299"/>
                </a:lnTo>
                <a:lnTo>
                  <a:pt x="0" y="989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60839" y="2204125"/>
            <a:ext cx="12553295" cy="6857237"/>
          </a:xfrm>
          <a:custGeom>
            <a:avLst/>
            <a:gdLst/>
            <a:ahLst/>
            <a:cxnLst/>
            <a:rect r="r" b="b" t="t" l="l"/>
            <a:pathLst>
              <a:path h="6857237" w="12553295">
                <a:moveTo>
                  <a:pt x="0" y="0"/>
                </a:moveTo>
                <a:lnTo>
                  <a:pt x="12553295" y="0"/>
                </a:lnTo>
                <a:lnTo>
                  <a:pt x="12553295" y="6857237"/>
                </a:lnTo>
                <a:lnTo>
                  <a:pt x="0" y="68572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54285" y="810306"/>
            <a:ext cx="8700580" cy="83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9"/>
              </a:lnSpc>
            </a:pPr>
            <a:r>
              <a:rPr lang="en-US" b="true" sz="5499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ARQUITECTURA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965660" y="366443"/>
            <a:ext cx="3957194" cy="989299"/>
          </a:xfrm>
          <a:custGeom>
            <a:avLst/>
            <a:gdLst/>
            <a:ahLst/>
            <a:cxnLst/>
            <a:rect r="r" b="b" t="t" l="l"/>
            <a:pathLst>
              <a:path h="989299" w="3957194">
                <a:moveTo>
                  <a:pt x="0" y="0"/>
                </a:moveTo>
                <a:lnTo>
                  <a:pt x="3957195" y="0"/>
                </a:lnTo>
                <a:lnTo>
                  <a:pt x="3957195" y="989299"/>
                </a:lnTo>
                <a:lnTo>
                  <a:pt x="0" y="989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5681" y="2898038"/>
            <a:ext cx="17142063" cy="5799504"/>
            <a:chOff x="0" y="0"/>
            <a:chExt cx="4514782" cy="15274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4782" cy="1527441"/>
            </a:xfrm>
            <a:custGeom>
              <a:avLst/>
              <a:gdLst/>
              <a:ahLst/>
              <a:cxnLst/>
              <a:rect r="r" b="b" t="t" l="l"/>
              <a:pathLst>
                <a:path h="1527441" w="4514782">
                  <a:moveTo>
                    <a:pt x="9033" y="0"/>
                  </a:moveTo>
                  <a:lnTo>
                    <a:pt x="4505749" y="0"/>
                  </a:lnTo>
                  <a:cubicBezTo>
                    <a:pt x="4508145" y="0"/>
                    <a:pt x="4510442" y="952"/>
                    <a:pt x="4512136" y="2646"/>
                  </a:cubicBezTo>
                  <a:cubicBezTo>
                    <a:pt x="4513830" y="4340"/>
                    <a:pt x="4514782" y="6637"/>
                    <a:pt x="4514782" y="9033"/>
                  </a:cubicBezTo>
                  <a:lnTo>
                    <a:pt x="4514782" y="1518409"/>
                  </a:lnTo>
                  <a:cubicBezTo>
                    <a:pt x="4514782" y="1523397"/>
                    <a:pt x="4510738" y="1527441"/>
                    <a:pt x="4505749" y="1527441"/>
                  </a:cubicBezTo>
                  <a:lnTo>
                    <a:pt x="9033" y="1527441"/>
                  </a:lnTo>
                  <a:cubicBezTo>
                    <a:pt x="4044" y="1527441"/>
                    <a:pt x="0" y="1523397"/>
                    <a:pt x="0" y="1518409"/>
                  </a:cubicBezTo>
                  <a:lnTo>
                    <a:pt x="0" y="9033"/>
                  </a:lnTo>
                  <a:cubicBezTo>
                    <a:pt x="0" y="4044"/>
                    <a:pt x="4044" y="0"/>
                    <a:pt x="9033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14782" cy="1565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25149" y="1407767"/>
            <a:ext cx="10218709" cy="85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b="true" sz="5599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METODOLOGÍA CASCADA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775544" y="3883070"/>
            <a:ext cx="5557732" cy="3102402"/>
          </a:xfrm>
          <a:custGeom>
            <a:avLst/>
            <a:gdLst/>
            <a:ahLst/>
            <a:cxnLst/>
            <a:rect r="r" b="b" t="t" l="l"/>
            <a:pathLst>
              <a:path h="3102402" w="5557732">
                <a:moveTo>
                  <a:pt x="0" y="0"/>
                </a:moveTo>
                <a:lnTo>
                  <a:pt x="5557732" y="0"/>
                </a:lnTo>
                <a:lnTo>
                  <a:pt x="5557732" y="3102402"/>
                </a:lnTo>
                <a:lnTo>
                  <a:pt x="0" y="31024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695934" y="3105843"/>
            <a:ext cx="8469503" cy="389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Estructura secuencia para garantizar entregables técnicos robustos bajo el marco del semestre académico.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Fase 1: Definición de requerimientos y Prompt Engineering.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Fase 2: Modela de Firestore y reglas de seguridad.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Fase 3: Desarrollo de UI/UX en React.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Fase 4: Integración de API LLM y  Transbank.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965660" y="366443"/>
            <a:ext cx="3957194" cy="989299"/>
          </a:xfrm>
          <a:custGeom>
            <a:avLst/>
            <a:gdLst/>
            <a:ahLst/>
            <a:cxnLst/>
            <a:rect r="r" b="b" t="t" l="l"/>
            <a:pathLst>
              <a:path h="989299" w="3957194">
                <a:moveTo>
                  <a:pt x="0" y="0"/>
                </a:moveTo>
                <a:lnTo>
                  <a:pt x="3957195" y="0"/>
                </a:lnTo>
                <a:lnTo>
                  <a:pt x="3957195" y="989299"/>
                </a:lnTo>
                <a:lnTo>
                  <a:pt x="0" y="989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250681" y="4370265"/>
            <a:ext cx="259594" cy="243546"/>
          </a:xfrm>
          <a:custGeom>
            <a:avLst/>
            <a:gdLst/>
            <a:ahLst/>
            <a:cxnLst/>
            <a:rect r="r" b="b" t="t" l="l"/>
            <a:pathLst>
              <a:path h="243546" w="259594">
                <a:moveTo>
                  <a:pt x="0" y="0"/>
                </a:moveTo>
                <a:lnTo>
                  <a:pt x="259594" y="0"/>
                </a:lnTo>
                <a:lnTo>
                  <a:pt x="259594" y="243546"/>
                </a:lnTo>
                <a:lnTo>
                  <a:pt x="0" y="243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50681" y="5168807"/>
            <a:ext cx="259594" cy="243546"/>
          </a:xfrm>
          <a:custGeom>
            <a:avLst/>
            <a:gdLst/>
            <a:ahLst/>
            <a:cxnLst/>
            <a:rect r="r" b="b" t="t" l="l"/>
            <a:pathLst>
              <a:path h="243546" w="259594">
                <a:moveTo>
                  <a:pt x="0" y="0"/>
                </a:moveTo>
                <a:lnTo>
                  <a:pt x="259594" y="0"/>
                </a:lnTo>
                <a:lnTo>
                  <a:pt x="259594" y="243546"/>
                </a:lnTo>
                <a:lnTo>
                  <a:pt x="0" y="243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50681" y="5955278"/>
            <a:ext cx="259594" cy="243546"/>
          </a:xfrm>
          <a:custGeom>
            <a:avLst/>
            <a:gdLst/>
            <a:ahLst/>
            <a:cxnLst/>
            <a:rect r="r" b="b" t="t" l="l"/>
            <a:pathLst>
              <a:path h="243546" w="259594">
                <a:moveTo>
                  <a:pt x="0" y="0"/>
                </a:moveTo>
                <a:lnTo>
                  <a:pt x="259594" y="0"/>
                </a:lnTo>
                <a:lnTo>
                  <a:pt x="259594" y="243546"/>
                </a:lnTo>
                <a:lnTo>
                  <a:pt x="0" y="243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250681" y="6741926"/>
            <a:ext cx="259594" cy="243546"/>
          </a:xfrm>
          <a:custGeom>
            <a:avLst/>
            <a:gdLst/>
            <a:ahLst/>
            <a:cxnLst/>
            <a:rect r="r" b="b" t="t" l="l"/>
            <a:pathLst>
              <a:path h="243546" w="259594">
                <a:moveTo>
                  <a:pt x="0" y="0"/>
                </a:moveTo>
                <a:lnTo>
                  <a:pt x="259594" y="0"/>
                </a:lnTo>
                <a:lnTo>
                  <a:pt x="259594" y="243546"/>
                </a:lnTo>
                <a:lnTo>
                  <a:pt x="0" y="243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11306" y="1735154"/>
            <a:ext cx="12065388" cy="6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b="true" sz="45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CRONOLOGÍA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965660" y="366443"/>
            <a:ext cx="3957194" cy="989299"/>
          </a:xfrm>
          <a:custGeom>
            <a:avLst/>
            <a:gdLst/>
            <a:ahLst/>
            <a:cxnLst/>
            <a:rect r="r" b="b" t="t" l="l"/>
            <a:pathLst>
              <a:path h="989299" w="3957194">
                <a:moveTo>
                  <a:pt x="0" y="0"/>
                </a:moveTo>
                <a:lnTo>
                  <a:pt x="3957195" y="0"/>
                </a:lnTo>
                <a:lnTo>
                  <a:pt x="3957195" y="989299"/>
                </a:lnTo>
                <a:lnTo>
                  <a:pt x="0" y="989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67029" y="2800330"/>
            <a:ext cx="11131079" cy="6646450"/>
          </a:xfrm>
          <a:custGeom>
            <a:avLst/>
            <a:gdLst/>
            <a:ahLst/>
            <a:cxnLst/>
            <a:rect r="r" b="b" t="t" l="l"/>
            <a:pathLst>
              <a:path h="6646450" w="11131079">
                <a:moveTo>
                  <a:pt x="0" y="0"/>
                </a:moveTo>
                <a:lnTo>
                  <a:pt x="11131079" y="0"/>
                </a:lnTo>
                <a:lnTo>
                  <a:pt x="11131079" y="6646450"/>
                </a:lnTo>
                <a:lnTo>
                  <a:pt x="0" y="6646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65660" y="366443"/>
            <a:ext cx="3957194" cy="989299"/>
          </a:xfrm>
          <a:custGeom>
            <a:avLst/>
            <a:gdLst/>
            <a:ahLst/>
            <a:cxnLst/>
            <a:rect r="r" b="b" t="t" l="l"/>
            <a:pathLst>
              <a:path h="989299" w="3957194">
                <a:moveTo>
                  <a:pt x="0" y="0"/>
                </a:moveTo>
                <a:lnTo>
                  <a:pt x="3957195" y="0"/>
                </a:lnTo>
                <a:lnTo>
                  <a:pt x="3957195" y="989299"/>
                </a:lnTo>
                <a:lnTo>
                  <a:pt x="0" y="989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95650" y="2406596"/>
            <a:ext cx="12866816" cy="7023975"/>
          </a:xfrm>
          <a:custGeom>
            <a:avLst/>
            <a:gdLst/>
            <a:ahLst/>
            <a:cxnLst/>
            <a:rect r="r" b="b" t="t" l="l"/>
            <a:pathLst>
              <a:path h="7023975" w="12866816">
                <a:moveTo>
                  <a:pt x="0" y="0"/>
                </a:moveTo>
                <a:lnTo>
                  <a:pt x="12866816" y="0"/>
                </a:lnTo>
                <a:lnTo>
                  <a:pt x="12866816" y="7023975"/>
                </a:lnTo>
                <a:lnTo>
                  <a:pt x="0" y="7023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41529" y="1539858"/>
            <a:ext cx="12065388" cy="6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b="true" sz="45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MODELO DE DATOS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58695" y="7380504"/>
            <a:ext cx="1480654" cy="1480654"/>
          </a:xfrm>
          <a:custGeom>
            <a:avLst/>
            <a:gdLst/>
            <a:ahLst/>
            <a:cxnLst/>
            <a:rect r="r" b="b" t="t" l="l"/>
            <a:pathLst>
              <a:path h="1480654" w="1480654">
                <a:moveTo>
                  <a:pt x="0" y="0"/>
                </a:moveTo>
                <a:lnTo>
                  <a:pt x="1480654" y="0"/>
                </a:lnTo>
                <a:lnTo>
                  <a:pt x="1480654" y="1480654"/>
                </a:lnTo>
                <a:lnTo>
                  <a:pt x="0" y="1480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51381" y="7438578"/>
            <a:ext cx="3790294" cy="1364506"/>
          </a:xfrm>
          <a:custGeom>
            <a:avLst/>
            <a:gdLst/>
            <a:ahLst/>
            <a:cxnLst/>
            <a:rect r="r" b="b" t="t" l="l"/>
            <a:pathLst>
              <a:path h="1364506" w="3790294">
                <a:moveTo>
                  <a:pt x="0" y="0"/>
                </a:moveTo>
                <a:lnTo>
                  <a:pt x="3790294" y="0"/>
                </a:lnTo>
                <a:lnTo>
                  <a:pt x="3790294" y="1364506"/>
                </a:lnTo>
                <a:lnTo>
                  <a:pt x="0" y="13645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35980" y="4933409"/>
            <a:ext cx="1448053" cy="1448053"/>
          </a:xfrm>
          <a:custGeom>
            <a:avLst/>
            <a:gdLst/>
            <a:ahLst/>
            <a:cxnLst/>
            <a:rect r="r" b="b" t="t" l="l"/>
            <a:pathLst>
              <a:path h="1448053" w="1448053">
                <a:moveTo>
                  <a:pt x="0" y="0"/>
                </a:moveTo>
                <a:lnTo>
                  <a:pt x="1448053" y="0"/>
                </a:lnTo>
                <a:lnTo>
                  <a:pt x="1448053" y="1448053"/>
                </a:lnTo>
                <a:lnTo>
                  <a:pt x="0" y="14480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51913" y="5009732"/>
            <a:ext cx="1371730" cy="1371730"/>
          </a:xfrm>
          <a:custGeom>
            <a:avLst/>
            <a:gdLst/>
            <a:ahLst/>
            <a:cxnLst/>
            <a:rect r="r" b="b" t="t" l="l"/>
            <a:pathLst>
              <a:path h="1371730" w="1371730">
                <a:moveTo>
                  <a:pt x="0" y="0"/>
                </a:moveTo>
                <a:lnTo>
                  <a:pt x="1371730" y="0"/>
                </a:lnTo>
                <a:lnTo>
                  <a:pt x="1371730" y="1371730"/>
                </a:lnTo>
                <a:lnTo>
                  <a:pt x="0" y="1371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75253" y="4994624"/>
            <a:ext cx="1466836" cy="1466836"/>
          </a:xfrm>
          <a:custGeom>
            <a:avLst/>
            <a:gdLst/>
            <a:ahLst/>
            <a:cxnLst/>
            <a:rect r="r" b="b" t="t" l="l"/>
            <a:pathLst>
              <a:path h="1466836" w="1466836">
                <a:moveTo>
                  <a:pt x="0" y="0"/>
                </a:moveTo>
                <a:lnTo>
                  <a:pt x="1466835" y="0"/>
                </a:lnTo>
                <a:lnTo>
                  <a:pt x="1466835" y="1466835"/>
                </a:lnTo>
                <a:lnTo>
                  <a:pt x="0" y="14668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42920" y="7293050"/>
            <a:ext cx="1595372" cy="1383538"/>
          </a:xfrm>
          <a:custGeom>
            <a:avLst/>
            <a:gdLst/>
            <a:ahLst/>
            <a:cxnLst/>
            <a:rect r="r" b="b" t="t" l="l"/>
            <a:pathLst>
              <a:path h="1383538" w="1595372">
                <a:moveTo>
                  <a:pt x="0" y="0"/>
                </a:moveTo>
                <a:lnTo>
                  <a:pt x="1595371" y="0"/>
                </a:lnTo>
                <a:lnTo>
                  <a:pt x="1595371" y="1383539"/>
                </a:lnTo>
                <a:lnTo>
                  <a:pt x="0" y="13835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437778" y="7338458"/>
            <a:ext cx="1534627" cy="1413775"/>
          </a:xfrm>
          <a:custGeom>
            <a:avLst/>
            <a:gdLst/>
            <a:ahLst/>
            <a:cxnLst/>
            <a:rect r="r" b="b" t="t" l="l"/>
            <a:pathLst>
              <a:path h="1413775" w="1534627">
                <a:moveTo>
                  <a:pt x="0" y="0"/>
                </a:moveTo>
                <a:lnTo>
                  <a:pt x="1534627" y="0"/>
                </a:lnTo>
                <a:lnTo>
                  <a:pt x="1534627" y="1413776"/>
                </a:lnTo>
                <a:lnTo>
                  <a:pt x="0" y="14137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25639" y="7293050"/>
            <a:ext cx="1433661" cy="1433661"/>
          </a:xfrm>
          <a:custGeom>
            <a:avLst/>
            <a:gdLst/>
            <a:ahLst/>
            <a:cxnLst/>
            <a:rect r="r" b="b" t="t" l="l"/>
            <a:pathLst>
              <a:path h="1433661" w="1433661">
                <a:moveTo>
                  <a:pt x="0" y="0"/>
                </a:moveTo>
                <a:lnTo>
                  <a:pt x="1433661" y="0"/>
                </a:lnTo>
                <a:lnTo>
                  <a:pt x="1433661" y="1433661"/>
                </a:lnTo>
                <a:lnTo>
                  <a:pt x="0" y="14336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965660" y="366443"/>
            <a:ext cx="3957194" cy="989299"/>
          </a:xfrm>
          <a:custGeom>
            <a:avLst/>
            <a:gdLst/>
            <a:ahLst/>
            <a:cxnLst/>
            <a:rect r="r" b="b" t="t" l="l"/>
            <a:pathLst>
              <a:path h="989299" w="3957194">
                <a:moveTo>
                  <a:pt x="0" y="0"/>
                </a:moveTo>
                <a:lnTo>
                  <a:pt x="3957195" y="0"/>
                </a:lnTo>
                <a:lnTo>
                  <a:pt x="3957195" y="989299"/>
                </a:lnTo>
                <a:lnTo>
                  <a:pt x="0" y="9892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854215" y="5021154"/>
            <a:ext cx="1530809" cy="1530809"/>
          </a:xfrm>
          <a:custGeom>
            <a:avLst/>
            <a:gdLst/>
            <a:ahLst/>
            <a:cxnLst/>
            <a:rect r="r" b="b" t="t" l="l"/>
            <a:pathLst>
              <a:path h="1530809" w="1530809">
                <a:moveTo>
                  <a:pt x="0" y="0"/>
                </a:moveTo>
                <a:lnTo>
                  <a:pt x="1530809" y="0"/>
                </a:lnTo>
                <a:lnTo>
                  <a:pt x="1530809" y="1530809"/>
                </a:lnTo>
                <a:lnTo>
                  <a:pt x="0" y="153080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560007" y="7296218"/>
            <a:ext cx="1456016" cy="1456016"/>
          </a:xfrm>
          <a:custGeom>
            <a:avLst/>
            <a:gdLst/>
            <a:ahLst/>
            <a:cxnLst/>
            <a:rect r="r" b="b" t="t" l="l"/>
            <a:pathLst>
              <a:path h="1456016" w="1456016">
                <a:moveTo>
                  <a:pt x="0" y="0"/>
                </a:moveTo>
                <a:lnTo>
                  <a:pt x="1456015" y="0"/>
                </a:lnTo>
                <a:lnTo>
                  <a:pt x="1456015" y="1456016"/>
                </a:lnTo>
                <a:lnTo>
                  <a:pt x="0" y="145601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19307" y="1950960"/>
            <a:ext cx="12065388" cy="75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b="true" sz="50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TECNOLOGÍAS Y HERRAMIENTAS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58053" y="3666670"/>
            <a:ext cx="4461891" cy="4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b="true" sz="30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FRONT-END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09664" y="3535285"/>
            <a:ext cx="4461891" cy="4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b="true" sz="30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BACK-END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2843" y="2535321"/>
            <a:ext cx="15822313" cy="5859443"/>
            <a:chOff x="0" y="0"/>
            <a:chExt cx="4167194" cy="15432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67194" cy="1543228"/>
            </a:xfrm>
            <a:custGeom>
              <a:avLst/>
              <a:gdLst/>
              <a:ahLst/>
              <a:cxnLst/>
              <a:rect r="r" b="b" t="t" l="l"/>
              <a:pathLst>
                <a:path h="1543228" w="4167194">
                  <a:moveTo>
                    <a:pt x="9786" y="0"/>
                  </a:moveTo>
                  <a:lnTo>
                    <a:pt x="4157407" y="0"/>
                  </a:lnTo>
                  <a:cubicBezTo>
                    <a:pt x="4162812" y="0"/>
                    <a:pt x="4167194" y="4381"/>
                    <a:pt x="4167194" y="9786"/>
                  </a:cubicBezTo>
                  <a:lnTo>
                    <a:pt x="4167194" y="1533442"/>
                  </a:lnTo>
                  <a:cubicBezTo>
                    <a:pt x="4167194" y="1536037"/>
                    <a:pt x="4166163" y="1538526"/>
                    <a:pt x="4164328" y="1540362"/>
                  </a:cubicBezTo>
                  <a:cubicBezTo>
                    <a:pt x="4162492" y="1542197"/>
                    <a:pt x="4160003" y="1543228"/>
                    <a:pt x="4157407" y="1543228"/>
                  </a:cubicBezTo>
                  <a:lnTo>
                    <a:pt x="9786" y="1543228"/>
                  </a:lnTo>
                  <a:cubicBezTo>
                    <a:pt x="4381" y="1543228"/>
                    <a:pt x="0" y="1538847"/>
                    <a:pt x="0" y="1533442"/>
                  </a:cubicBezTo>
                  <a:lnTo>
                    <a:pt x="0" y="9786"/>
                  </a:lnTo>
                  <a:cubicBezTo>
                    <a:pt x="0" y="7191"/>
                    <a:pt x="1031" y="4702"/>
                    <a:pt x="2866" y="2866"/>
                  </a:cubicBezTo>
                  <a:cubicBezTo>
                    <a:pt x="4702" y="1031"/>
                    <a:pt x="7191" y="0"/>
                    <a:pt x="9786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67194" cy="1581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96996" y="1566081"/>
            <a:ext cx="13255795" cy="75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b="true" sz="50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MODELO DE NEGOCIO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94135" y="2540178"/>
            <a:ext cx="13456209" cy="545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  <a:spcBef>
                <a:spcPct val="0"/>
              </a:spcBef>
            </a:pPr>
          </a:p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Modelo de suscripción SaaS escalable </a:t>
            </a:r>
          </a:p>
          <a:p>
            <a:pPr algn="just">
              <a:lnSpc>
                <a:spcPts val="3080"/>
              </a:lnSpc>
              <a:spcBef>
                <a:spcPct val="0"/>
              </a:spcBef>
            </a:pPr>
          </a:p>
          <a:p>
            <a:pPr algn="just">
              <a:lnSpc>
                <a:spcPts val="3080"/>
              </a:lnSpc>
              <a:spcBef>
                <a:spcPct val="0"/>
              </a:spcBef>
            </a:pPr>
          </a:p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El cliente (refugio municipal o privado)  no compra el software, si no que paga por utilizarlo.</a:t>
            </a:r>
          </a:p>
          <a:p>
            <a:pPr algn="just">
              <a:lnSpc>
                <a:spcPts val="3080"/>
              </a:lnSpc>
              <a:spcBef>
                <a:spcPct val="0"/>
              </a:spcBef>
            </a:pPr>
          </a:p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Con cuotas basadas en el volumen de animales albergados </a:t>
            </a:r>
          </a:p>
          <a:p>
            <a:pPr algn="just">
              <a:lnSpc>
                <a:spcPts val="3080"/>
              </a:lnSpc>
              <a:spcBef>
                <a:spcPct val="0"/>
              </a:spcBef>
            </a:pPr>
          </a:p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Segmentos de Cliente: </a:t>
            </a:r>
          </a:p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Municipalidades (Dptos. de Higiene Ambiental).</a:t>
            </a:r>
          </a:p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Gobiernos Regionales (GORE).</a:t>
            </a:r>
          </a:p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Grandes fundaciones y refugios privados.</a:t>
            </a:r>
          </a:p>
          <a:p>
            <a:pPr algn="just">
              <a:lnSpc>
                <a:spcPts val="3080"/>
              </a:lnSpc>
              <a:spcBef>
                <a:spcPct val="0"/>
              </a:spcBef>
            </a:pPr>
          </a:p>
          <a:p>
            <a:pPr algn="just">
              <a:lnSpc>
                <a:spcPts val="3080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965660" y="366443"/>
            <a:ext cx="3957194" cy="989299"/>
          </a:xfrm>
          <a:custGeom>
            <a:avLst/>
            <a:gdLst/>
            <a:ahLst/>
            <a:cxnLst/>
            <a:rect r="r" b="b" t="t" l="l"/>
            <a:pathLst>
              <a:path h="989299" w="3957194">
                <a:moveTo>
                  <a:pt x="0" y="0"/>
                </a:moveTo>
                <a:lnTo>
                  <a:pt x="3957195" y="0"/>
                </a:lnTo>
                <a:lnTo>
                  <a:pt x="3957195" y="989299"/>
                </a:lnTo>
                <a:lnTo>
                  <a:pt x="0" y="989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84215" y="4152598"/>
            <a:ext cx="259594" cy="243546"/>
          </a:xfrm>
          <a:custGeom>
            <a:avLst/>
            <a:gdLst/>
            <a:ahLst/>
            <a:cxnLst/>
            <a:rect r="r" b="b" t="t" l="l"/>
            <a:pathLst>
              <a:path h="243546" w="259594">
                <a:moveTo>
                  <a:pt x="0" y="0"/>
                </a:moveTo>
                <a:lnTo>
                  <a:pt x="259593" y="0"/>
                </a:lnTo>
                <a:lnTo>
                  <a:pt x="259593" y="243546"/>
                </a:lnTo>
                <a:lnTo>
                  <a:pt x="0" y="243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84215" y="5021727"/>
            <a:ext cx="259594" cy="243546"/>
          </a:xfrm>
          <a:custGeom>
            <a:avLst/>
            <a:gdLst/>
            <a:ahLst/>
            <a:cxnLst/>
            <a:rect r="r" b="b" t="t" l="l"/>
            <a:pathLst>
              <a:path h="243546" w="259594">
                <a:moveTo>
                  <a:pt x="0" y="0"/>
                </a:moveTo>
                <a:lnTo>
                  <a:pt x="259593" y="0"/>
                </a:lnTo>
                <a:lnTo>
                  <a:pt x="259593" y="243546"/>
                </a:lnTo>
                <a:lnTo>
                  <a:pt x="0" y="243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84215" y="5805852"/>
            <a:ext cx="259594" cy="243546"/>
          </a:xfrm>
          <a:custGeom>
            <a:avLst/>
            <a:gdLst/>
            <a:ahLst/>
            <a:cxnLst/>
            <a:rect r="r" b="b" t="t" l="l"/>
            <a:pathLst>
              <a:path h="243546" w="259594">
                <a:moveTo>
                  <a:pt x="0" y="0"/>
                </a:moveTo>
                <a:lnTo>
                  <a:pt x="259593" y="0"/>
                </a:lnTo>
                <a:lnTo>
                  <a:pt x="259593" y="243546"/>
                </a:lnTo>
                <a:lnTo>
                  <a:pt x="0" y="243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9748" y="3963099"/>
            <a:ext cx="16776280" cy="3822074"/>
            <a:chOff x="0" y="0"/>
            <a:chExt cx="4418444" cy="10066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8444" cy="1006637"/>
            </a:xfrm>
            <a:custGeom>
              <a:avLst/>
              <a:gdLst/>
              <a:ahLst/>
              <a:cxnLst/>
              <a:rect r="r" b="b" t="t" l="l"/>
              <a:pathLst>
                <a:path h="1006637" w="4418444">
                  <a:moveTo>
                    <a:pt x="9230" y="0"/>
                  </a:moveTo>
                  <a:lnTo>
                    <a:pt x="4409215" y="0"/>
                  </a:lnTo>
                  <a:cubicBezTo>
                    <a:pt x="4414312" y="0"/>
                    <a:pt x="4418444" y="4132"/>
                    <a:pt x="4418444" y="9230"/>
                  </a:cubicBezTo>
                  <a:lnTo>
                    <a:pt x="4418444" y="997407"/>
                  </a:lnTo>
                  <a:cubicBezTo>
                    <a:pt x="4418444" y="1002504"/>
                    <a:pt x="4414312" y="1006637"/>
                    <a:pt x="4409215" y="1006637"/>
                  </a:cubicBezTo>
                  <a:lnTo>
                    <a:pt x="9230" y="1006637"/>
                  </a:lnTo>
                  <a:cubicBezTo>
                    <a:pt x="4132" y="1006637"/>
                    <a:pt x="0" y="1002504"/>
                    <a:pt x="0" y="997407"/>
                  </a:cubicBezTo>
                  <a:lnTo>
                    <a:pt x="0" y="9230"/>
                  </a:lnTo>
                  <a:cubicBezTo>
                    <a:pt x="0" y="4132"/>
                    <a:pt x="4132" y="0"/>
                    <a:pt x="9230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18444" cy="1044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68850" y="2287492"/>
            <a:ext cx="13255795" cy="75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b="true" sz="50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DEMOSTRACIÓN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4324" y="5492211"/>
            <a:ext cx="13876749" cy="94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DEMOSTRACIÓN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965660" y="366443"/>
            <a:ext cx="3957194" cy="989299"/>
          </a:xfrm>
          <a:custGeom>
            <a:avLst/>
            <a:gdLst/>
            <a:ahLst/>
            <a:cxnLst/>
            <a:rect r="r" b="b" t="t" l="l"/>
            <a:pathLst>
              <a:path h="989299" w="3957194">
                <a:moveTo>
                  <a:pt x="0" y="0"/>
                </a:moveTo>
                <a:lnTo>
                  <a:pt x="3957195" y="0"/>
                </a:lnTo>
                <a:lnTo>
                  <a:pt x="3957195" y="989299"/>
                </a:lnTo>
                <a:lnTo>
                  <a:pt x="0" y="989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2299" y="3048949"/>
            <a:ext cx="15968096" cy="6209351"/>
            <a:chOff x="0" y="0"/>
            <a:chExt cx="4205589" cy="16353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05589" cy="1635384"/>
            </a:xfrm>
            <a:custGeom>
              <a:avLst/>
              <a:gdLst/>
              <a:ahLst/>
              <a:cxnLst/>
              <a:rect r="r" b="b" t="t" l="l"/>
              <a:pathLst>
                <a:path h="1635384" w="4205589">
                  <a:moveTo>
                    <a:pt x="9697" y="0"/>
                  </a:moveTo>
                  <a:lnTo>
                    <a:pt x="4195892" y="0"/>
                  </a:lnTo>
                  <a:cubicBezTo>
                    <a:pt x="4198464" y="0"/>
                    <a:pt x="4200930" y="1022"/>
                    <a:pt x="4202749" y="2840"/>
                  </a:cubicBezTo>
                  <a:cubicBezTo>
                    <a:pt x="4204567" y="4659"/>
                    <a:pt x="4205589" y="7125"/>
                    <a:pt x="4205589" y="9697"/>
                  </a:cubicBezTo>
                  <a:lnTo>
                    <a:pt x="4205589" y="1625688"/>
                  </a:lnTo>
                  <a:cubicBezTo>
                    <a:pt x="4205589" y="1631043"/>
                    <a:pt x="4201248" y="1635384"/>
                    <a:pt x="4195892" y="1635384"/>
                  </a:cubicBezTo>
                  <a:lnTo>
                    <a:pt x="9697" y="1635384"/>
                  </a:lnTo>
                  <a:cubicBezTo>
                    <a:pt x="4341" y="1635384"/>
                    <a:pt x="0" y="1631043"/>
                    <a:pt x="0" y="1625688"/>
                  </a:cubicBezTo>
                  <a:lnTo>
                    <a:pt x="0" y="9697"/>
                  </a:lnTo>
                  <a:cubicBezTo>
                    <a:pt x="0" y="7125"/>
                    <a:pt x="1022" y="4659"/>
                    <a:pt x="2840" y="2840"/>
                  </a:cubicBezTo>
                  <a:cubicBezTo>
                    <a:pt x="4659" y="1022"/>
                    <a:pt x="7125" y="0"/>
                    <a:pt x="9697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205589" cy="1683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661434" y="1880819"/>
            <a:ext cx="8700580" cy="6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b="true" sz="45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 OBTENIDOS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66018" y="3560155"/>
            <a:ext cx="12989902" cy="545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Reducción de Devoluciones: Minimizar y mantener el índice de devoluciones de animales por incompatibilidad por debajo del 5% (frente al estándar actual que es mucho más alto) garantizando vínculos afectivos sanos y duraderos. </a:t>
            </a:r>
          </a:p>
          <a:p>
            <a:pPr algn="l">
              <a:lnSpc>
                <a:spcPts val="3079"/>
              </a:lnSpc>
            </a:pP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Optimización del Tiempo en Refugios: Reducir en un 60% el tiempo promedio de permanencia de las mascotas en los centros de acogida mediante la agilidad del emparejamiento digital. </a:t>
            </a:r>
          </a:p>
          <a:p>
            <a:pPr algn="l">
              <a:lnSpc>
                <a:spcPts val="3079"/>
              </a:lnSpc>
            </a:pP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Eficiencia Operativa: Acelerar el proceso de preselección de adoptantes, disminuyendo drásticamente las horas-hombre que el personal dedica a revisar perfiles y realizar entrevistas iniciales. </a:t>
            </a:r>
          </a:p>
          <a:p>
            <a:pPr algn="l">
              <a:lnSpc>
                <a:spcPts val="3079"/>
              </a:lnSpc>
            </a:pP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Ahorro de Recursos Económicos: Disminución significativa en costos directos de mantención de las instituciones (en áreas como alimentación, caniles y medicina preventiva) gracias a la aceleración del flujo de salida de los animales. 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965660" y="366443"/>
            <a:ext cx="3957194" cy="989299"/>
          </a:xfrm>
          <a:custGeom>
            <a:avLst/>
            <a:gdLst/>
            <a:ahLst/>
            <a:cxnLst/>
            <a:rect r="r" b="b" t="t" l="l"/>
            <a:pathLst>
              <a:path h="989299" w="3957194">
                <a:moveTo>
                  <a:pt x="0" y="0"/>
                </a:moveTo>
                <a:lnTo>
                  <a:pt x="3957195" y="0"/>
                </a:lnTo>
                <a:lnTo>
                  <a:pt x="3957195" y="989299"/>
                </a:lnTo>
                <a:lnTo>
                  <a:pt x="0" y="989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9952" y="3434146"/>
            <a:ext cx="15968096" cy="4867736"/>
            <a:chOff x="0" y="0"/>
            <a:chExt cx="4205589" cy="12820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05589" cy="1282037"/>
            </a:xfrm>
            <a:custGeom>
              <a:avLst/>
              <a:gdLst/>
              <a:ahLst/>
              <a:cxnLst/>
              <a:rect r="r" b="b" t="t" l="l"/>
              <a:pathLst>
                <a:path h="1282037" w="4205589">
                  <a:moveTo>
                    <a:pt x="9697" y="0"/>
                  </a:moveTo>
                  <a:lnTo>
                    <a:pt x="4195892" y="0"/>
                  </a:lnTo>
                  <a:cubicBezTo>
                    <a:pt x="4198464" y="0"/>
                    <a:pt x="4200930" y="1022"/>
                    <a:pt x="4202749" y="2840"/>
                  </a:cubicBezTo>
                  <a:cubicBezTo>
                    <a:pt x="4204567" y="4659"/>
                    <a:pt x="4205589" y="7125"/>
                    <a:pt x="4205589" y="9697"/>
                  </a:cubicBezTo>
                  <a:lnTo>
                    <a:pt x="4205589" y="1272341"/>
                  </a:lnTo>
                  <a:cubicBezTo>
                    <a:pt x="4205589" y="1277696"/>
                    <a:pt x="4201248" y="1282037"/>
                    <a:pt x="4195892" y="1282037"/>
                  </a:cubicBezTo>
                  <a:lnTo>
                    <a:pt x="9697" y="1282037"/>
                  </a:lnTo>
                  <a:cubicBezTo>
                    <a:pt x="7125" y="1282037"/>
                    <a:pt x="4659" y="1281016"/>
                    <a:pt x="2840" y="1279197"/>
                  </a:cubicBezTo>
                  <a:cubicBezTo>
                    <a:pt x="1022" y="1277379"/>
                    <a:pt x="0" y="1274912"/>
                    <a:pt x="0" y="1272341"/>
                  </a:cubicBezTo>
                  <a:lnTo>
                    <a:pt x="0" y="9697"/>
                  </a:lnTo>
                  <a:cubicBezTo>
                    <a:pt x="0" y="7125"/>
                    <a:pt x="1022" y="4659"/>
                    <a:pt x="2840" y="2840"/>
                  </a:cubicBezTo>
                  <a:cubicBezTo>
                    <a:pt x="4659" y="1022"/>
                    <a:pt x="7125" y="0"/>
                    <a:pt x="9697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205589" cy="1329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12338" y="2154527"/>
            <a:ext cx="13831920" cy="61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b="true" sz="40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OBSTÁCULOS PRESENTADOS DURANTE EL DESARROLLO​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33347" y="4179123"/>
            <a:ext cx="12989902" cy="2334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Complejidad en la Orquestación de Múltiples : Coordinar simultáneamente las APIs de Antigravity (para los modelos Gemini) y el ecosistema de Azure AI Foundry (para el chatbot de tenencia responsable) manteniendo tiempos de respuesta bajo los 10 segundos obligatorios para la IA. 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Persistencia de los datos en la nube de Firebase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965660" y="366443"/>
            <a:ext cx="3957194" cy="989299"/>
          </a:xfrm>
          <a:custGeom>
            <a:avLst/>
            <a:gdLst/>
            <a:ahLst/>
            <a:cxnLst/>
            <a:rect r="r" b="b" t="t" l="l"/>
            <a:pathLst>
              <a:path h="989299" w="3957194">
                <a:moveTo>
                  <a:pt x="0" y="0"/>
                </a:moveTo>
                <a:lnTo>
                  <a:pt x="3957195" y="0"/>
                </a:lnTo>
                <a:lnTo>
                  <a:pt x="3957195" y="989299"/>
                </a:lnTo>
                <a:lnTo>
                  <a:pt x="0" y="989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1604" y="2709070"/>
            <a:ext cx="15560241" cy="5456861"/>
            <a:chOff x="0" y="0"/>
            <a:chExt cx="4098170" cy="14371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98170" cy="1437198"/>
            </a:xfrm>
            <a:custGeom>
              <a:avLst/>
              <a:gdLst/>
              <a:ahLst/>
              <a:cxnLst/>
              <a:rect r="r" b="b" t="t" l="l"/>
              <a:pathLst>
                <a:path h="1437198" w="4098170">
                  <a:moveTo>
                    <a:pt x="9951" y="0"/>
                  </a:moveTo>
                  <a:lnTo>
                    <a:pt x="4088219" y="0"/>
                  </a:lnTo>
                  <a:cubicBezTo>
                    <a:pt x="4090859" y="0"/>
                    <a:pt x="4093390" y="1048"/>
                    <a:pt x="4095256" y="2915"/>
                  </a:cubicBezTo>
                  <a:cubicBezTo>
                    <a:pt x="4097122" y="4781"/>
                    <a:pt x="4098170" y="7312"/>
                    <a:pt x="4098170" y="9951"/>
                  </a:cubicBezTo>
                  <a:lnTo>
                    <a:pt x="4098170" y="1427247"/>
                  </a:lnTo>
                  <a:cubicBezTo>
                    <a:pt x="4098170" y="1429886"/>
                    <a:pt x="4097122" y="1432417"/>
                    <a:pt x="4095256" y="1434283"/>
                  </a:cubicBezTo>
                  <a:cubicBezTo>
                    <a:pt x="4093390" y="1436149"/>
                    <a:pt x="4090859" y="1437198"/>
                    <a:pt x="4088219" y="1437198"/>
                  </a:cubicBezTo>
                  <a:lnTo>
                    <a:pt x="9951" y="1437198"/>
                  </a:lnTo>
                  <a:cubicBezTo>
                    <a:pt x="7312" y="1437198"/>
                    <a:pt x="4781" y="1436149"/>
                    <a:pt x="2915" y="1434283"/>
                  </a:cubicBezTo>
                  <a:cubicBezTo>
                    <a:pt x="1048" y="1432417"/>
                    <a:pt x="0" y="1429886"/>
                    <a:pt x="0" y="1427247"/>
                  </a:cubicBezTo>
                  <a:lnTo>
                    <a:pt x="0" y="9951"/>
                  </a:lnTo>
                  <a:cubicBezTo>
                    <a:pt x="0" y="7312"/>
                    <a:pt x="1048" y="4781"/>
                    <a:pt x="2915" y="2915"/>
                  </a:cubicBezTo>
                  <a:cubicBezTo>
                    <a:pt x="4781" y="1048"/>
                    <a:pt x="7312" y="0"/>
                    <a:pt x="9951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098170" cy="14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993005" y="1552269"/>
            <a:ext cx="8700580" cy="85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b="true" sz="5599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MEJORAS FUTURAS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35347" y="3250569"/>
            <a:ext cx="12640934" cy="354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Implementar rec</a:t>
            </a:r>
            <a:r>
              <a:rPr lang="en-US" sz="21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onocimiento de imagen para identificar razas, tamaños y rasgos físicos de mascotas abandonadas a partir de fotos tomadas en la calle, facilitando su registro automático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Usar modelos geoespaciales para predecir en qué barrios es más probable que ocurra abandono, permitiendo que el gobierno realice campañas preventivas focalizadas.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965660" y="366443"/>
            <a:ext cx="3957194" cy="989299"/>
          </a:xfrm>
          <a:custGeom>
            <a:avLst/>
            <a:gdLst/>
            <a:ahLst/>
            <a:cxnLst/>
            <a:rect r="r" b="b" t="t" l="l"/>
            <a:pathLst>
              <a:path h="989299" w="3957194">
                <a:moveTo>
                  <a:pt x="0" y="0"/>
                </a:moveTo>
                <a:lnTo>
                  <a:pt x="3957195" y="0"/>
                </a:lnTo>
                <a:lnTo>
                  <a:pt x="3957195" y="989299"/>
                </a:lnTo>
                <a:lnTo>
                  <a:pt x="0" y="989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54342" y="4195365"/>
            <a:ext cx="259594" cy="243546"/>
          </a:xfrm>
          <a:custGeom>
            <a:avLst/>
            <a:gdLst/>
            <a:ahLst/>
            <a:cxnLst/>
            <a:rect r="r" b="b" t="t" l="l"/>
            <a:pathLst>
              <a:path h="243546" w="259594">
                <a:moveTo>
                  <a:pt x="0" y="0"/>
                </a:moveTo>
                <a:lnTo>
                  <a:pt x="259593" y="0"/>
                </a:lnTo>
                <a:lnTo>
                  <a:pt x="259593" y="243546"/>
                </a:lnTo>
                <a:lnTo>
                  <a:pt x="0" y="243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754342" y="5743392"/>
            <a:ext cx="259594" cy="243546"/>
          </a:xfrm>
          <a:custGeom>
            <a:avLst/>
            <a:gdLst/>
            <a:ahLst/>
            <a:cxnLst/>
            <a:rect r="r" b="b" t="t" l="l"/>
            <a:pathLst>
              <a:path h="243546" w="259594">
                <a:moveTo>
                  <a:pt x="0" y="0"/>
                </a:moveTo>
                <a:lnTo>
                  <a:pt x="259593" y="0"/>
                </a:lnTo>
                <a:lnTo>
                  <a:pt x="259593" y="243546"/>
                </a:lnTo>
                <a:lnTo>
                  <a:pt x="0" y="243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2" t="0" r="-125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04920" y="7149570"/>
            <a:ext cx="9976909" cy="261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</a:p>
          <a:p>
            <a:pPr algn="ctr">
              <a:lnSpc>
                <a:spcPts val="2970"/>
              </a:lnSpc>
            </a:pPr>
            <a:r>
              <a:rPr lang="en-US" b="true" sz="27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l">
              <a:lnSpc>
                <a:spcPts val="13953"/>
              </a:lnSpc>
            </a:pPr>
            <a:r>
              <a:rPr lang="en-US" sz="12684" b="true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DAGyh6hv9FE</dc:identifier>
  <dcterms:modified xsi:type="dcterms:W3CDTF">2011-08-01T06:04:30Z</dcterms:modified>
  <cp:revision>1</cp:revision>
  <dc:title>Presentación Familia</dc:title>
</cp:coreProperties>
</file>