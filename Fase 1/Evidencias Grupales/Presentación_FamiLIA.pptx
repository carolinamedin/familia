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Poppins Bold" charset="1" panose="00000800000000000000"/>
      <p:regular r:id="rId20"/>
    </p:embeddedFont>
    <p:embeddedFont>
      <p:font typeface="Poppins Italics" charset="1" panose="00000500000000000000"/>
      <p:regular r:id="rId21"/>
    </p:embeddedFont>
    <p:embeddedFont>
      <p:font typeface="Poppins" charset="1" panose="00000500000000000000"/>
      <p:regular r:id="rId22"/>
    </p:embeddedFont>
    <p:embeddedFont>
      <p:font typeface="Lato" charset="1" panose="020F0502020204030203"/>
      <p:regular r:id="rId23"/>
    </p:embeddedFont>
    <p:embeddedFont>
      <p:font typeface="Lato Bold" charset="1" panose="020F0502020204030203"/>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1.png" Type="http://schemas.openxmlformats.org/officeDocument/2006/relationships/image"/><Relationship Id="rId4"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1.png" Type="http://schemas.openxmlformats.org/officeDocument/2006/relationships/image"/><Relationship Id="rId4"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1.png" Type="http://schemas.openxmlformats.org/officeDocument/2006/relationships/image"/><Relationship Id="rId4" Target="../media/image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9.png" Type="http://schemas.openxmlformats.org/officeDocument/2006/relationships/image"/><Relationship Id="rId4" Target="../media/image1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11" Target="../media/image19.png" Type="http://schemas.openxmlformats.org/officeDocument/2006/relationships/image"/><Relationship Id="rId2" Target="../media/image5.jpe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14.png" Type="http://schemas.openxmlformats.org/officeDocument/2006/relationships/image"/><Relationship Id="rId7" Target="../media/image15.png" Type="http://schemas.openxmlformats.org/officeDocument/2006/relationships/image"/><Relationship Id="rId8" Target="../media/image16.png" Type="http://schemas.openxmlformats.org/officeDocument/2006/relationships/image"/><Relationship Id="rId9" Target="../media/image1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1.png" Type="http://schemas.openxmlformats.org/officeDocument/2006/relationships/image"/><Relationship Id="rId4" Target="../media/image2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png" Type="http://schemas.openxmlformats.org/officeDocument/2006/relationships/image"/><Relationship Id="rId4" Target="../media/image2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276010" y="637268"/>
            <a:ext cx="12525207" cy="9012465"/>
          </a:xfrm>
          <a:custGeom>
            <a:avLst/>
            <a:gdLst/>
            <a:ahLst/>
            <a:cxnLst/>
            <a:rect r="r" b="b" t="t" l="l"/>
            <a:pathLst>
              <a:path h="9012465" w="12525207">
                <a:moveTo>
                  <a:pt x="0" y="0"/>
                </a:moveTo>
                <a:lnTo>
                  <a:pt x="12525207" y="0"/>
                </a:lnTo>
                <a:lnTo>
                  <a:pt x="12525207" y="9012464"/>
                </a:lnTo>
                <a:lnTo>
                  <a:pt x="0" y="9012464"/>
                </a:lnTo>
                <a:lnTo>
                  <a:pt x="0" y="0"/>
                </a:lnTo>
                <a:close/>
              </a:path>
            </a:pathLst>
          </a:custGeom>
          <a:blipFill>
            <a:blip r:embed="rId2"/>
            <a:stretch>
              <a:fillRect l="-90" t="-501" r="0" b="0"/>
            </a:stretch>
          </a:blipFill>
        </p:spPr>
      </p:sp>
      <p:sp>
        <p:nvSpPr>
          <p:cNvPr name="TextBox 3" id="3"/>
          <p:cNvSpPr txBox="true"/>
          <p:nvPr/>
        </p:nvSpPr>
        <p:spPr>
          <a:xfrm rot="0">
            <a:off x="5230882" y="3625159"/>
            <a:ext cx="11411477" cy="2203486"/>
          </a:xfrm>
          <a:prstGeom prst="rect">
            <a:avLst/>
          </a:prstGeom>
        </p:spPr>
        <p:txBody>
          <a:bodyPr anchor="t" rtlCol="false" tIns="0" lIns="0" bIns="0" rIns="0">
            <a:spAutoFit/>
          </a:bodyPr>
          <a:lstStyle/>
          <a:p>
            <a:pPr algn="l">
              <a:lnSpc>
                <a:spcPts val="15959"/>
              </a:lnSpc>
            </a:pPr>
            <a:r>
              <a:rPr lang="en-US" sz="14508" b="true">
                <a:solidFill>
                  <a:srgbClr val="FF9F29"/>
                </a:solidFill>
                <a:latin typeface="Poppins Bold"/>
                <a:ea typeface="Poppins Bold"/>
                <a:cs typeface="Poppins Bold"/>
                <a:sym typeface="Poppins Bold"/>
              </a:rPr>
              <a:t>FAMIL</a:t>
            </a:r>
            <a:r>
              <a:rPr lang="en-US" sz="14508" b="true">
                <a:solidFill>
                  <a:srgbClr val="B88917"/>
                </a:solidFill>
                <a:latin typeface="Poppins Bold"/>
                <a:ea typeface="Poppins Bold"/>
                <a:cs typeface="Poppins Bold"/>
                <a:sym typeface="Poppins Bold"/>
              </a:rPr>
              <a:t>IA</a:t>
            </a:r>
          </a:p>
        </p:txBody>
      </p:sp>
      <p:sp>
        <p:nvSpPr>
          <p:cNvPr name="TextBox 4" id="4"/>
          <p:cNvSpPr txBox="true"/>
          <p:nvPr/>
        </p:nvSpPr>
        <p:spPr>
          <a:xfrm rot="0">
            <a:off x="1775693" y="8683829"/>
            <a:ext cx="7762921" cy="566457"/>
          </a:xfrm>
          <a:prstGeom prst="rect">
            <a:avLst/>
          </a:prstGeom>
        </p:spPr>
        <p:txBody>
          <a:bodyPr anchor="t" rtlCol="false" tIns="0" lIns="0" bIns="0" rIns="0">
            <a:spAutoFit/>
          </a:bodyPr>
          <a:lstStyle/>
          <a:p>
            <a:pPr algn="l">
              <a:lnSpc>
                <a:spcPts val="4480"/>
              </a:lnSpc>
              <a:spcBef>
                <a:spcPct val="0"/>
              </a:spcBef>
            </a:pPr>
            <a:r>
              <a:rPr lang="en-US" sz="3200" i="true">
                <a:solidFill>
                  <a:srgbClr val="B88917"/>
                </a:solidFill>
                <a:latin typeface="Poppins Italics"/>
                <a:ea typeface="Poppins Italics"/>
                <a:cs typeface="Poppins Italics"/>
                <a:sym typeface="Poppins Italics"/>
              </a:rPr>
              <a:t>Presentado por</a:t>
            </a:r>
            <a:r>
              <a:rPr lang="en-US" sz="3200">
                <a:solidFill>
                  <a:srgbClr val="B88917"/>
                </a:solidFill>
                <a:latin typeface="Poppins"/>
                <a:ea typeface="Poppins"/>
                <a:cs typeface="Poppins"/>
                <a:sym typeface="Poppins"/>
              </a:rPr>
              <a:t>: </a:t>
            </a:r>
            <a:r>
              <a:rPr lang="en-US" b="true" sz="3200">
                <a:solidFill>
                  <a:srgbClr val="B88917"/>
                </a:solidFill>
                <a:latin typeface="Poppins Bold"/>
                <a:ea typeface="Poppins Bold"/>
                <a:cs typeface="Poppins Bold"/>
                <a:sym typeface="Poppins Bold"/>
              </a:rPr>
              <a:t>Carolina Medina</a:t>
            </a:r>
          </a:p>
        </p:txBody>
      </p:sp>
      <p:sp>
        <p:nvSpPr>
          <p:cNvPr name="Freeform 5" id="5"/>
          <p:cNvSpPr/>
          <p:nvPr/>
        </p:nvSpPr>
        <p:spPr>
          <a:xfrm flipH="false" flipV="false" rot="-5400000">
            <a:off x="14253481" y="-157749"/>
            <a:ext cx="4697437" cy="4913254"/>
          </a:xfrm>
          <a:custGeom>
            <a:avLst/>
            <a:gdLst/>
            <a:ahLst/>
            <a:cxnLst/>
            <a:rect r="r" b="b" t="t" l="l"/>
            <a:pathLst>
              <a:path h="4913254" w="4697437">
                <a:moveTo>
                  <a:pt x="0" y="0"/>
                </a:moveTo>
                <a:lnTo>
                  <a:pt x="4697437" y="0"/>
                </a:lnTo>
                <a:lnTo>
                  <a:pt x="4697437" y="4913253"/>
                </a:lnTo>
                <a:lnTo>
                  <a:pt x="0" y="4913253"/>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5400000">
            <a:off x="-690290" y="6560213"/>
            <a:ext cx="4684205" cy="4899413"/>
          </a:xfrm>
          <a:custGeom>
            <a:avLst/>
            <a:gdLst/>
            <a:ahLst/>
            <a:cxnLst/>
            <a:rect r="r" b="b" t="t" l="l"/>
            <a:pathLst>
              <a:path h="4899413" w="4684205">
                <a:moveTo>
                  <a:pt x="0" y="0"/>
                </a:moveTo>
                <a:lnTo>
                  <a:pt x="4684205" y="0"/>
                </a:lnTo>
                <a:lnTo>
                  <a:pt x="4684205" y="4899414"/>
                </a:lnTo>
                <a:lnTo>
                  <a:pt x="0" y="4899414"/>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E7AA51">
                <a:alpha val="100000"/>
              </a:srgbClr>
            </a:gs>
            <a:gs pos="25000">
              <a:srgbClr val="FFE499">
                <a:alpha val="100000"/>
              </a:srgbClr>
            </a:gs>
            <a:gs pos="50000">
              <a:srgbClr val="8D5A1B">
                <a:alpha val="100000"/>
              </a:srgbClr>
            </a:gs>
            <a:gs pos="75000">
              <a:srgbClr val="E7AA51">
                <a:alpha val="100000"/>
              </a:srgbClr>
            </a:gs>
            <a:gs pos="100000">
              <a:srgbClr val="AC7031">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694607" y="839865"/>
            <a:ext cx="16830152" cy="8836395"/>
            <a:chOff x="0" y="0"/>
            <a:chExt cx="4432633" cy="2327281"/>
          </a:xfrm>
        </p:grpSpPr>
        <p:sp>
          <p:nvSpPr>
            <p:cNvPr name="Freeform 3" id="3"/>
            <p:cNvSpPr/>
            <p:nvPr/>
          </p:nvSpPr>
          <p:spPr>
            <a:xfrm flipH="false" flipV="false" rot="0">
              <a:off x="0" y="0"/>
              <a:ext cx="4432633" cy="2327281"/>
            </a:xfrm>
            <a:custGeom>
              <a:avLst/>
              <a:gdLst/>
              <a:ahLst/>
              <a:cxnLst/>
              <a:rect r="r" b="b" t="t" l="l"/>
              <a:pathLst>
                <a:path h="2327281" w="4432633">
                  <a:moveTo>
                    <a:pt x="9200" y="0"/>
                  </a:moveTo>
                  <a:lnTo>
                    <a:pt x="4423432" y="0"/>
                  </a:lnTo>
                  <a:cubicBezTo>
                    <a:pt x="4428513" y="0"/>
                    <a:pt x="4432633" y="4119"/>
                    <a:pt x="4432633" y="9200"/>
                  </a:cubicBezTo>
                  <a:lnTo>
                    <a:pt x="4432633" y="2318081"/>
                  </a:lnTo>
                  <a:cubicBezTo>
                    <a:pt x="4432633" y="2323162"/>
                    <a:pt x="4428513" y="2327281"/>
                    <a:pt x="4423432" y="2327281"/>
                  </a:cubicBezTo>
                  <a:lnTo>
                    <a:pt x="9200" y="2327281"/>
                  </a:lnTo>
                  <a:cubicBezTo>
                    <a:pt x="4119" y="2327281"/>
                    <a:pt x="0" y="2323162"/>
                    <a:pt x="0" y="2318081"/>
                  </a:cubicBezTo>
                  <a:lnTo>
                    <a:pt x="0" y="9200"/>
                  </a:lnTo>
                  <a:cubicBezTo>
                    <a:pt x="0" y="4119"/>
                    <a:pt x="4119" y="0"/>
                    <a:pt x="9200" y="0"/>
                  </a:cubicBezTo>
                  <a:close/>
                </a:path>
              </a:pathLst>
            </a:custGeom>
            <a:solidFill>
              <a:srgbClr val="FBF9F1"/>
            </a:solidFill>
            <a:ln w="38100" cap="sq">
              <a:gradFill>
                <a:gsLst>
                  <a:gs pos="0">
                    <a:srgbClr val="013E6A">
                      <a:alpha val="100000"/>
                    </a:srgbClr>
                  </a:gs>
                  <a:gs pos="25000">
                    <a:srgbClr val="43D1FF">
                      <a:alpha val="100000"/>
                    </a:srgbClr>
                  </a:gs>
                  <a:gs pos="50000">
                    <a:srgbClr val="013E6A">
                      <a:alpha val="100000"/>
                    </a:srgbClr>
                  </a:gs>
                  <a:gs pos="75000">
                    <a:srgbClr val="419AD6">
                      <a:alpha val="100000"/>
                    </a:srgbClr>
                  </a:gs>
                  <a:gs pos="100000">
                    <a:srgbClr val="01186A">
                      <a:alpha val="100000"/>
                    </a:srgbClr>
                  </a:gs>
                </a:gsLst>
                <a:lin ang="5400000"/>
              </a:gradFill>
              <a:prstDash val="solid"/>
              <a:miter/>
            </a:ln>
          </p:spPr>
        </p:sp>
        <p:sp>
          <p:nvSpPr>
            <p:cNvPr name="TextBox 4" id="4"/>
            <p:cNvSpPr txBox="true"/>
            <p:nvPr/>
          </p:nvSpPr>
          <p:spPr>
            <a:xfrm>
              <a:off x="0" y="-38100"/>
              <a:ext cx="4432633" cy="2365381"/>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795304" y="2888242"/>
            <a:ext cx="14530408" cy="1893571"/>
          </a:xfrm>
          <a:prstGeom prst="rect">
            <a:avLst/>
          </a:prstGeom>
        </p:spPr>
        <p:txBody>
          <a:bodyPr anchor="t" rtlCol="false" tIns="0" lIns="0" bIns="0" rIns="0">
            <a:spAutoFit/>
          </a:bodyPr>
          <a:lstStyle/>
          <a:p>
            <a:pPr algn="just">
              <a:lnSpc>
                <a:spcPts val="3779"/>
              </a:lnSpc>
              <a:spcBef>
                <a:spcPct val="0"/>
              </a:spcBef>
            </a:pPr>
            <a:r>
              <a:rPr lang="en-US" sz="2699">
                <a:solidFill>
                  <a:srgbClr val="B88917"/>
                </a:solidFill>
                <a:latin typeface="Lato"/>
                <a:ea typeface="Lato"/>
                <a:cs typeface="Lato"/>
                <a:sym typeface="Lato"/>
              </a:rPr>
              <a:t>En la actualidad cada año el gobierno ha destinado mediante la Subsecretaria de de Desarrollo Regional y Administrativo (SUBDERE) al rededor de 500 millones de pesos a fondos para la tenencia responsable de mascotas y animales abandonados, sin considerar que el sector privado destina mucho mas recursos económicos en estas materias.</a:t>
            </a:r>
          </a:p>
        </p:txBody>
      </p:sp>
      <p:sp>
        <p:nvSpPr>
          <p:cNvPr name="Freeform 6" id="6"/>
          <p:cNvSpPr/>
          <p:nvPr/>
        </p:nvSpPr>
        <p:spPr>
          <a:xfrm flipH="false" flipV="true" rot="-1542318">
            <a:off x="12687733" y="-4343179"/>
            <a:ext cx="7674102" cy="8229600"/>
          </a:xfrm>
          <a:custGeom>
            <a:avLst/>
            <a:gdLst/>
            <a:ahLst/>
            <a:cxnLst/>
            <a:rect r="r" b="b" t="t" l="l"/>
            <a:pathLst>
              <a:path h="8229600" w="7674102">
                <a:moveTo>
                  <a:pt x="0" y="8229600"/>
                </a:moveTo>
                <a:lnTo>
                  <a:pt x="7674102" y="8229600"/>
                </a:lnTo>
                <a:lnTo>
                  <a:pt x="7674102" y="0"/>
                </a:lnTo>
                <a:lnTo>
                  <a:pt x="0" y="0"/>
                </a:lnTo>
                <a:lnTo>
                  <a:pt x="0" y="8229600"/>
                </a:lnTo>
                <a:close/>
              </a:path>
            </a:pathLst>
          </a:custGeom>
          <a:blipFill>
            <a:blip r:embed="rId2">
              <a:alphaModFix amt="96000"/>
            </a:blip>
            <a:stretch>
              <a:fillRect l="0" t="0" r="0" b="0"/>
            </a:stretch>
          </a:blipFill>
        </p:spPr>
      </p:sp>
      <p:sp>
        <p:nvSpPr>
          <p:cNvPr name="TextBox 7" id="7"/>
          <p:cNvSpPr txBox="true"/>
          <p:nvPr/>
        </p:nvSpPr>
        <p:spPr>
          <a:xfrm rot="0">
            <a:off x="2516102" y="1279552"/>
            <a:ext cx="13255795" cy="924000"/>
          </a:xfrm>
          <a:prstGeom prst="rect">
            <a:avLst/>
          </a:prstGeom>
        </p:spPr>
        <p:txBody>
          <a:bodyPr anchor="t" rtlCol="false" tIns="0" lIns="0" bIns="0" rIns="0">
            <a:spAutoFit/>
          </a:bodyPr>
          <a:lstStyle/>
          <a:p>
            <a:pPr algn="ctr">
              <a:lnSpc>
                <a:spcPts val="6600"/>
              </a:lnSpc>
            </a:pPr>
            <a:r>
              <a:rPr lang="en-US" b="true" sz="6000">
                <a:solidFill>
                  <a:srgbClr val="FF9F29"/>
                </a:solidFill>
                <a:latin typeface="Poppins Bold"/>
                <a:ea typeface="Poppins Bold"/>
                <a:cs typeface="Poppins Bold"/>
                <a:sym typeface="Poppins Bold"/>
              </a:rPr>
              <a:t>CONTEXTO </a:t>
            </a:r>
          </a:p>
        </p:txBody>
      </p:sp>
      <p:sp>
        <p:nvSpPr>
          <p:cNvPr name="TextBox 8" id="8"/>
          <p:cNvSpPr txBox="true"/>
          <p:nvPr/>
        </p:nvSpPr>
        <p:spPr>
          <a:xfrm rot="0">
            <a:off x="1795304" y="5086350"/>
            <a:ext cx="14729480" cy="2846071"/>
          </a:xfrm>
          <a:prstGeom prst="rect">
            <a:avLst/>
          </a:prstGeom>
        </p:spPr>
        <p:txBody>
          <a:bodyPr anchor="t" rtlCol="false" tIns="0" lIns="0" bIns="0" rIns="0">
            <a:spAutoFit/>
          </a:bodyPr>
          <a:lstStyle/>
          <a:p>
            <a:pPr algn="just">
              <a:lnSpc>
                <a:spcPts val="3779"/>
              </a:lnSpc>
            </a:pPr>
            <a:r>
              <a:rPr lang="en-US" sz="2699">
                <a:solidFill>
                  <a:srgbClr val="B88917"/>
                </a:solidFill>
                <a:latin typeface="Lato"/>
                <a:ea typeface="Lato"/>
                <a:cs typeface="Lato"/>
                <a:sym typeface="Lato"/>
              </a:rPr>
              <a:t>Con esta aplicación FamilIA se propone hacer una match rápido y efectivo mediante predicción de compatibilidad con modelos de IA generativa LLMs entre macotas y adoptantes y con ello</a:t>
            </a:r>
          </a:p>
          <a:p>
            <a:pPr algn="just" marL="0" indent="0" lvl="0">
              <a:lnSpc>
                <a:spcPts val="3779"/>
              </a:lnSpc>
              <a:spcBef>
                <a:spcPct val="0"/>
              </a:spcBef>
            </a:pPr>
            <a:r>
              <a:rPr lang="en-US" sz="2699">
                <a:solidFill>
                  <a:srgbClr val="B88917"/>
                </a:solidFill>
                <a:latin typeface="Lato"/>
                <a:ea typeface="Lato"/>
                <a:cs typeface="Lato"/>
                <a:sym typeface="Lato"/>
              </a:rPr>
              <a:t>d</a:t>
            </a:r>
            <a:r>
              <a:rPr lang="en-US" sz="2699" strike="noStrike" u="none">
                <a:solidFill>
                  <a:srgbClr val="B88917"/>
                </a:solidFill>
                <a:latin typeface="Lato"/>
                <a:ea typeface="Lato"/>
                <a:cs typeface="Lato"/>
                <a:sym typeface="Lato"/>
              </a:rPr>
              <a:t>esarrollar una plataforma inteligente que permita identificar patrones de compatibilidad reales, acortanto en un 60% los tiempos de búsqueda de hogar de los animales y bajar la tasa en un porcentaje significativo de la devolución  de las mascotas a los centros de refugio municipales y privados.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E7AA51">
                <a:alpha val="100000"/>
              </a:srgbClr>
            </a:gs>
            <a:gs pos="25000">
              <a:srgbClr val="FFE499">
                <a:alpha val="100000"/>
              </a:srgbClr>
            </a:gs>
            <a:gs pos="50000">
              <a:srgbClr val="8D5A1B">
                <a:alpha val="100000"/>
              </a:srgbClr>
            </a:gs>
            <a:gs pos="75000">
              <a:srgbClr val="E7AA51">
                <a:alpha val="100000"/>
              </a:srgbClr>
            </a:gs>
            <a:gs pos="100000">
              <a:srgbClr val="AC7031">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728924" y="603626"/>
            <a:ext cx="16830152" cy="9368729"/>
            <a:chOff x="0" y="0"/>
            <a:chExt cx="4432633" cy="2467484"/>
          </a:xfrm>
        </p:grpSpPr>
        <p:sp>
          <p:nvSpPr>
            <p:cNvPr name="Freeform 3" id="3"/>
            <p:cNvSpPr/>
            <p:nvPr/>
          </p:nvSpPr>
          <p:spPr>
            <a:xfrm flipH="false" flipV="false" rot="0">
              <a:off x="0" y="0"/>
              <a:ext cx="4432633" cy="2467484"/>
            </a:xfrm>
            <a:custGeom>
              <a:avLst/>
              <a:gdLst/>
              <a:ahLst/>
              <a:cxnLst/>
              <a:rect r="r" b="b" t="t" l="l"/>
              <a:pathLst>
                <a:path h="2467484" w="4432633">
                  <a:moveTo>
                    <a:pt x="9200" y="0"/>
                  </a:moveTo>
                  <a:lnTo>
                    <a:pt x="4423432" y="0"/>
                  </a:lnTo>
                  <a:cubicBezTo>
                    <a:pt x="4428513" y="0"/>
                    <a:pt x="4432633" y="4119"/>
                    <a:pt x="4432633" y="9200"/>
                  </a:cubicBezTo>
                  <a:lnTo>
                    <a:pt x="4432633" y="2458284"/>
                  </a:lnTo>
                  <a:cubicBezTo>
                    <a:pt x="4432633" y="2463365"/>
                    <a:pt x="4428513" y="2467484"/>
                    <a:pt x="4423432" y="2467484"/>
                  </a:cubicBezTo>
                  <a:lnTo>
                    <a:pt x="9200" y="2467484"/>
                  </a:lnTo>
                  <a:cubicBezTo>
                    <a:pt x="4119" y="2467484"/>
                    <a:pt x="0" y="2463365"/>
                    <a:pt x="0" y="2458284"/>
                  </a:cubicBezTo>
                  <a:lnTo>
                    <a:pt x="0" y="9200"/>
                  </a:lnTo>
                  <a:cubicBezTo>
                    <a:pt x="0" y="4119"/>
                    <a:pt x="4119" y="0"/>
                    <a:pt x="9200" y="0"/>
                  </a:cubicBezTo>
                  <a:close/>
                </a:path>
              </a:pathLst>
            </a:custGeom>
            <a:solidFill>
              <a:srgbClr val="FBF9F1"/>
            </a:solidFill>
            <a:ln w="38100" cap="sq">
              <a:gradFill>
                <a:gsLst>
                  <a:gs pos="0">
                    <a:srgbClr val="013E6A">
                      <a:alpha val="100000"/>
                    </a:srgbClr>
                  </a:gs>
                  <a:gs pos="25000">
                    <a:srgbClr val="43D1FF">
                      <a:alpha val="100000"/>
                    </a:srgbClr>
                  </a:gs>
                  <a:gs pos="50000">
                    <a:srgbClr val="013E6A">
                      <a:alpha val="100000"/>
                    </a:srgbClr>
                  </a:gs>
                  <a:gs pos="75000">
                    <a:srgbClr val="419AD6">
                      <a:alpha val="100000"/>
                    </a:srgbClr>
                  </a:gs>
                  <a:gs pos="100000">
                    <a:srgbClr val="01186A">
                      <a:alpha val="100000"/>
                    </a:srgbClr>
                  </a:gs>
                </a:gsLst>
                <a:lin ang="5400000"/>
              </a:gradFill>
              <a:prstDash val="solid"/>
              <a:miter/>
            </a:ln>
          </p:spPr>
        </p:sp>
        <p:sp>
          <p:nvSpPr>
            <p:cNvPr name="TextBox 4" id="4"/>
            <p:cNvSpPr txBox="true"/>
            <p:nvPr/>
          </p:nvSpPr>
          <p:spPr>
            <a:xfrm>
              <a:off x="0" y="-38100"/>
              <a:ext cx="4432633" cy="2505584"/>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665862" y="2332482"/>
            <a:ext cx="14956276" cy="7531135"/>
          </a:xfrm>
          <a:prstGeom prst="rect">
            <a:avLst/>
          </a:prstGeom>
        </p:spPr>
        <p:txBody>
          <a:bodyPr anchor="t" rtlCol="false" tIns="0" lIns="0" bIns="0" rIns="0">
            <a:spAutoFit/>
          </a:bodyPr>
          <a:lstStyle/>
          <a:p>
            <a:pPr algn="just">
              <a:lnSpc>
                <a:spcPts val="3359"/>
              </a:lnSpc>
            </a:pPr>
            <a:r>
              <a:rPr lang="en-US" sz="2399">
                <a:solidFill>
                  <a:srgbClr val="B88917"/>
                </a:solidFill>
                <a:latin typeface="Lato"/>
                <a:ea typeface="Lato"/>
                <a:cs typeface="Lato"/>
                <a:sym typeface="Lato"/>
              </a:rPr>
              <a:t>FamilIA es una solución tecnológica de vanguardia diseñada para optimizar el proceso de adopción de mascotas mediante el uso de Inteligencia Artificial Generativa (GenAI). A través de un ecosistema digital compuesto por una aplicación móvil en React para adoptantes y una plataforma de gestión para refugios, nuestra herramienta emplea modelos de lenguaje de gran escala (LLMs) como Gemini 3.1 Pro (High) y Gemini 3 Flash para conectar de manera precisa a las familias con los animales más afines. Esta innovación transforma un proceso tradicionalmente incierto en un sistema eficiente, basado en el razonamiento lógico y de bajo riesgo. Mediante un análisis semántico de indicadores críticos (personalidad, entorno habitacional y estilo de vida), nuestro algoritmo predice con alto grado de certeza las opciones más adecuadas para cada adoptante. Esto acelera la toma de decisiones y elimina la incertidumbre en la búsqueda.</a:t>
            </a:r>
          </a:p>
          <a:p>
            <a:pPr algn="just">
              <a:lnSpc>
                <a:spcPts val="3359"/>
              </a:lnSpc>
            </a:pPr>
          </a:p>
          <a:p>
            <a:pPr algn="just">
              <a:lnSpc>
                <a:spcPts val="3359"/>
              </a:lnSpc>
            </a:pPr>
            <a:r>
              <a:rPr lang="en-US" sz="2399">
                <a:solidFill>
                  <a:srgbClr val="B88917"/>
                </a:solidFill>
                <a:latin typeface="Lato"/>
                <a:ea typeface="Lato"/>
                <a:cs typeface="Lato"/>
                <a:sym typeface="Lato"/>
              </a:rPr>
              <a:t>La reducción del tiempo de permanencia en refugios genera un alivio financiero inmediato para organismos públicos y privados. Al transferir la responsabilidad de manutención, salud y alimentación al adoptante final en menor tiempo, el sector puede ahorrar recursos significativos y reinvertirlos en programas preventivos, como campañas masivas de esterilización, atacando la sobrepoblación desde su origen. </a:t>
            </a:r>
          </a:p>
          <a:p>
            <a:pPr algn="just">
              <a:lnSpc>
                <a:spcPts val="3359"/>
              </a:lnSpc>
            </a:pPr>
            <a:r>
              <a:rPr lang="en-US" sz="2399">
                <a:solidFill>
                  <a:srgbClr val="B88917"/>
                </a:solidFill>
                <a:latin typeface="Lato"/>
                <a:ea typeface="Lato"/>
                <a:cs typeface="Lato"/>
                <a:sym typeface="Lato"/>
              </a:rPr>
              <a:t>Por otro lado, uno de los mayores desafíos del bienestar animal es la devolución por incompatibilidad. FamilIA mitiga este riesgo al asegurar que factores como el temperamento del animal y las características de la vivienda sean compatibles desde el primer día, evitando traumas emocionales tanto para la familia como para la mascota.</a:t>
            </a:r>
          </a:p>
          <a:p>
            <a:pPr algn="just">
              <a:lnSpc>
                <a:spcPts val="3359"/>
              </a:lnSpc>
              <a:spcBef>
                <a:spcPct val="0"/>
              </a:spcBef>
            </a:pPr>
          </a:p>
        </p:txBody>
      </p:sp>
      <p:sp>
        <p:nvSpPr>
          <p:cNvPr name="Freeform 6" id="6"/>
          <p:cNvSpPr/>
          <p:nvPr/>
        </p:nvSpPr>
        <p:spPr>
          <a:xfrm flipH="false" flipV="true" rot="-1542318">
            <a:off x="12687733" y="-4343179"/>
            <a:ext cx="7674102" cy="8229600"/>
          </a:xfrm>
          <a:custGeom>
            <a:avLst/>
            <a:gdLst/>
            <a:ahLst/>
            <a:cxnLst/>
            <a:rect r="r" b="b" t="t" l="l"/>
            <a:pathLst>
              <a:path h="8229600" w="7674102">
                <a:moveTo>
                  <a:pt x="0" y="8229600"/>
                </a:moveTo>
                <a:lnTo>
                  <a:pt x="7674102" y="8229600"/>
                </a:lnTo>
                <a:lnTo>
                  <a:pt x="7674102" y="0"/>
                </a:lnTo>
                <a:lnTo>
                  <a:pt x="0" y="0"/>
                </a:lnTo>
                <a:lnTo>
                  <a:pt x="0" y="8229600"/>
                </a:lnTo>
                <a:close/>
              </a:path>
            </a:pathLst>
          </a:custGeom>
          <a:blipFill>
            <a:blip r:embed="rId2">
              <a:alphaModFix amt="96000"/>
            </a:blip>
            <a:stretch>
              <a:fillRect l="0" t="0" r="0" b="0"/>
            </a:stretch>
          </a:blipFill>
        </p:spPr>
      </p:sp>
      <p:sp>
        <p:nvSpPr>
          <p:cNvPr name="TextBox 7" id="7"/>
          <p:cNvSpPr txBox="true"/>
          <p:nvPr/>
        </p:nvSpPr>
        <p:spPr>
          <a:xfrm rot="0">
            <a:off x="2516102" y="1019175"/>
            <a:ext cx="13255795" cy="924000"/>
          </a:xfrm>
          <a:prstGeom prst="rect">
            <a:avLst/>
          </a:prstGeom>
        </p:spPr>
        <p:txBody>
          <a:bodyPr anchor="t" rtlCol="false" tIns="0" lIns="0" bIns="0" rIns="0">
            <a:spAutoFit/>
          </a:bodyPr>
          <a:lstStyle/>
          <a:p>
            <a:pPr algn="ctr">
              <a:lnSpc>
                <a:spcPts val="6600"/>
              </a:lnSpc>
            </a:pPr>
            <a:r>
              <a:rPr lang="en-US" b="true" sz="6000">
                <a:solidFill>
                  <a:srgbClr val="FF9F29"/>
                </a:solidFill>
                <a:latin typeface="Poppins Bold"/>
                <a:ea typeface="Poppins Bold"/>
                <a:cs typeface="Poppins Bold"/>
                <a:sym typeface="Poppins Bold"/>
              </a:rPr>
              <a:t>OBJETIVOS GENERALES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E7AA51">
                <a:alpha val="100000"/>
              </a:srgbClr>
            </a:gs>
            <a:gs pos="25000">
              <a:srgbClr val="FFE499">
                <a:alpha val="100000"/>
              </a:srgbClr>
            </a:gs>
            <a:gs pos="50000">
              <a:srgbClr val="8D5A1B">
                <a:alpha val="100000"/>
              </a:srgbClr>
            </a:gs>
            <a:gs pos="75000">
              <a:srgbClr val="E7AA51">
                <a:alpha val="100000"/>
              </a:srgbClr>
            </a:gs>
            <a:gs pos="100000">
              <a:srgbClr val="AC7031">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18240375" y="0"/>
            <a:ext cx="47625" cy="10287000"/>
            <a:chOff x="0" y="0"/>
            <a:chExt cx="6554" cy="1415652"/>
          </a:xfrm>
        </p:grpSpPr>
        <p:sp>
          <p:nvSpPr>
            <p:cNvPr name="Freeform 3" id="3"/>
            <p:cNvSpPr/>
            <p:nvPr/>
          </p:nvSpPr>
          <p:spPr>
            <a:xfrm flipH="false" flipV="false" rot="0">
              <a:off x="0" y="0"/>
              <a:ext cx="6554" cy="1415652"/>
            </a:xfrm>
            <a:custGeom>
              <a:avLst/>
              <a:gdLst/>
              <a:ahLst/>
              <a:cxnLst/>
              <a:rect r="r" b="b" t="t" l="l"/>
              <a:pathLst>
                <a:path h="1415652" w="6554">
                  <a:moveTo>
                    <a:pt x="0" y="0"/>
                  </a:moveTo>
                  <a:lnTo>
                    <a:pt x="6554" y="0"/>
                  </a:lnTo>
                  <a:lnTo>
                    <a:pt x="6554" y="1415652"/>
                  </a:lnTo>
                  <a:lnTo>
                    <a:pt x="0" y="1415652"/>
                  </a:lnTo>
                  <a:close/>
                </a:path>
              </a:pathLst>
            </a:custGeom>
            <a:blipFill>
              <a:blip r:embed="rId2"/>
              <a:stretch>
                <a:fillRect l="-9710965" t="0" r="-22012654" b="42584"/>
              </a:stretch>
            </a:blipFill>
            <a:ln cap="sq">
              <a:noFill/>
              <a:prstDash val="solid"/>
              <a:miter/>
            </a:ln>
          </p:spPr>
        </p:sp>
      </p:grpSp>
      <p:grpSp>
        <p:nvGrpSpPr>
          <p:cNvPr name="Group 4" id="4"/>
          <p:cNvGrpSpPr/>
          <p:nvPr/>
        </p:nvGrpSpPr>
        <p:grpSpPr>
          <a:xfrm rot="0">
            <a:off x="1255286" y="702513"/>
            <a:ext cx="16404909" cy="9092717"/>
            <a:chOff x="0" y="0"/>
            <a:chExt cx="4320635" cy="2394790"/>
          </a:xfrm>
        </p:grpSpPr>
        <p:sp>
          <p:nvSpPr>
            <p:cNvPr name="Freeform 5" id="5"/>
            <p:cNvSpPr/>
            <p:nvPr/>
          </p:nvSpPr>
          <p:spPr>
            <a:xfrm flipH="false" flipV="false" rot="0">
              <a:off x="0" y="0"/>
              <a:ext cx="4320635" cy="2394789"/>
            </a:xfrm>
            <a:custGeom>
              <a:avLst/>
              <a:gdLst/>
              <a:ahLst/>
              <a:cxnLst/>
              <a:rect r="r" b="b" t="t" l="l"/>
              <a:pathLst>
                <a:path h="2394789" w="4320635">
                  <a:moveTo>
                    <a:pt x="9439" y="0"/>
                  </a:moveTo>
                  <a:lnTo>
                    <a:pt x="4311196" y="0"/>
                  </a:lnTo>
                  <a:cubicBezTo>
                    <a:pt x="4313699" y="0"/>
                    <a:pt x="4316100" y="994"/>
                    <a:pt x="4317870" y="2764"/>
                  </a:cubicBezTo>
                  <a:cubicBezTo>
                    <a:pt x="4319640" y="4535"/>
                    <a:pt x="4320635" y="6935"/>
                    <a:pt x="4320635" y="9439"/>
                  </a:cubicBezTo>
                  <a:lnTo>
                    <a:pt x="4320635" y="2385351"/>
                  </a:lnTo>
                  <a:cubicBezTo>
                    <a:pt x="4320635" y="2387854"/>
                    <a:pt x="4319640" y="2390255"/>
                    <a:pt x="4317870" y="2392025"/>
                  </a:cubicBezTo>
                  <a:cubicBezTo>
                    <a:pt x="4316100" y="2393795"/>
                    <a:pt x="4313699" y="2394789"/>
                    <a:pt x="4311196" y="2394789"/>
                  </a:cubicBezTo>
                  <a:lnTo>
                    <a:pt x="9439" y="2394789"/>
                  </a:lnTo>
                  <a:cubicBezTo>
                    <a:pt x="6935" y="2394789"/>
                    <a:pt x="4535" y="2393795"/>
                    <a:pt x="2764" y="2392025"/>
                  </a:cubicBezTo>
                  <a:cubicBezTo>
                    <a:pt x="994" y="2390255"/>
                    <a:pt x="0" y="2387854"/>
                    <a:pt x="0" y="2385351"/>
                  </a:cubicBezTo>
                  <a:lnTo>
                    <a:pt x="0" y="9439"/>
                  </a:lnTo>
                  <a:cubicBezTo>
                    <a:pt x="0" y="6935"/>
                    <a:pt x="994" y="4535"/>
                    <a:pt x="2764" y="2764"/>
                  </a:cubicBezTo>
                  <a:cubicBezTo>
                    <a:pt x="4535" y="994"/>
                    <a:pt x="6935" y="0"/>
                    <a:pt x="9439" y="0"/>
                  </a:cubicBezTo>
                  <a:close/>
                </a:path>
              </a:pathLst>
            </a:custGeom>
            <a:solidFill>
              <a:srgbClr val="FBF9F1"/>
            </a:solidFill>
            <a:ln w="38100" cap="sq">
              <a:gradFill>
                <a:gsLst>
                  <a:gs pos="0">
                    <a:srgbClr val="013E6A">
                      <a:alpha val="100000"/>
                    </a:srgbClr>
                  </a:gs>
                  <a:gs pos="25000">
                    <a:srgbClr val="43D1FF">
                      <a:alpha val="100000"/>
                    </a:srgbClr>
                  </a:gs>
                  <a:gs pos="50000">
                    <a:srgbClr val="013E6A">
                      <a:alpha val="100000"/>
                    </a:srgbClr>
                  </a:gs>
                  <a:gs pos="75000">
                    <a:srgbClr val="419AD6">
                      <a:alpha val="100000"/>
                    </a:srgbClr>
                  </a:gs>
                  <a:gs pos="100000">
                    <a:srgbClr val="01186A">
                      <a:alpha val="100000"/>
                    </a:srgbClr>
                  </a:gs>
                </a:gsLst>
                <a:lin ang="5400000"/>
              </a:gradFill>
              <a:prstDash val="solid"/>
              <a:miter/>
            </a:ln>
          </p:spPr>
        </p:sp>
        <p:sp>
          <p:nvSpPr>
            <p:cNvPr name="TextBox 6" id="6"/>
            <p:cNvSpPr txBox="true"/>
            <p:nvPr/>
          </p:nvSpPr>
          <p:spPr>
            <a:xfrm>
              <a:off x="0" y="-38100"/>
              <a:ext cx="4320635" cy="2432890"/>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true" flipV="false" rot="6626729">
            <a:off x="-8130685" y="2389405"/>
            <a:ext cx="12221289" cy="8822969"/>
          </a:xfrm>
          <a:custGeom>
            <a:avLst/>
            <a:gdLst/>
            <a:ahLst/>
            <a:cxnLst/>
            <a:rect r="r" b="b" t="t" l="l"/>
            <a:pathLst>
              <a:path h="8822969" w="12221289">
                <a:moveTo>
                  <a:pt x="12221289" y="0"/>
                </a:moveTo>
                <a:lnTo>
                  <a:pt x="0" y="0"/>
                </a:lnTo>
                <a:lnTo>
                  <a:pt x="0" y="8822968"/>
                </a:lnTo>
                <a:lnTo>
                  <a:pt x="12221289" y="8822968"/>
                </a:lnTo>
                <a:lnTo>
                  <a:pt x="12221289" y="0"/>
                </a:lnTo>
                <a:close/>
              </a:path>
            </a:pathLst>
          </a:custGeom>
          <a:blipFill>
            <a:blip r:embed="rId3"/>
            <a:stretch>
              <a:fillRect l="0" t="0" r="0" b="0"/>
            </a:stretch>
          </a:blipFill>
        </p:spPr>
      </p:sp>
      <p:sp>
        <p:nvSpPr>
          <p:cNvPr name="TextBox 8" id="8"/>
          <p:cNvSpPr txBox="true"/>
          <p:nvPr/>
        </p:nvSpPr>
        <p:spPr>
          <a:xfrm rot="0">
            <a:off x="4446177" y="1113463"/>
            <a:ext cx="8700580" cy="831850"/>
          </a:xfrm>
          <a:prstGeom prst="rect">
            <a:avLst/>
          </a:prstGeom>
        </p:spPr>
        <p:txBody>
          <a:bodyPr anchor="t" rtlCol="false" tIns="0" lIns="0" bIns="0" rIns="0">
            <a:spAutoFit/>
          </a:bodyPr>
          <a:lstStyle/>
          <a:p>
            <a:pPr algn="just">
              <a:lnSpc>
                <a:spcPts val="6049"/>
              </a:lnSpc>
            </a:pPr>
            <a:r>
              <a:rPr lang="en-US" b="true" sz="5499">
                <a:solidFill>
                  <a:srgbClr val="FF9F29"/>
                </a:solidFill>
                <a:latin typeface="Poppins Bold"/>
                <a:ea typeface="Poppins Bold"/>
                <a:cs typeface="Poppins Bold"/>
                <a:sym typeface="Poppins Bold"/>
              </a:rPr>
              <a:t>OBJETIVOS ESPECIFICOS</a:t>
            </a:r>
          </a:p>
        </p:txBody>
      </p:sp>
      <p:sp>
        <p:nvSpPr>
          <p:cNvPr name="Freeform 9" id="9"/>
          <p:cNvSpPr/>
          <p:nvPr/>
        </p:nvSpPr>
        <p:spPr>
          <a:xfrm flipH="false" flipV="false" rot="0">
            <a:off x="3310410" y="3031162"/>
            <a:ext cx="365671" cy="368434"/>
          </a:xfrm>
          <a:custGeom>
            <a:avLst/>
            <a:gdLst/>
            <a:ahLst/>
            <a:cxnLst/>
            <a:rect r="r" b="b" t="t" l="l"/>
            <a:pathLst>
              <a:path h="368434" w="365671">
                <a:moveTo>
                  <a:pt x="0" y="0"/>
                </a:moveTo>
                <a:lnTo>
                  <a:pt x="365671" y="0"/>
                </a:lnTo>
                <a:lnTo>
                  <a:pt x="365671" y="368435"/>
                </a:lnTo>
                <a:lnTo>
                  <a:pt x="0" y="368435"/>
                </a:lnTo>
                <a:lnTo>
                  <a:pt x="0" y="0"/>
                </a:lnTo>
                <a:close/>
              </a:path>
            </a:pathLst>
          </a:custGeom>
          <a:blipFill>
            <a:blip r:embed="rId4"/>
            <a:stretch>
              <a:fillRect l="0" t="0" r="0" b="0"/>
            </a:stretch>
          </a:blipFill>
        </p:spPr>
      </p:sp>
      <p:sp>
        <p:nvSpPr>
          <p:cNvPr name="Freeform 10" id="10"/>
          <p:cNvSpPr/>
          <p:nvPr/>
        </p:nvSpPr>
        <p:spPr>
          <a:xfrm flipH="false" flipV="false" rot="0">
            <a:off x="3275679" y="4170532"/>
            <a:ext cx="400402" cy="403428"/>
          </a:xfrm>
          <a:custGeom>
            <a:avLst/>
            <a:gdLst/>
            <a:ahLst/>
            <a:cxnLst/>
            <a:rect r="r" b="b" t="t" l="l"/>
            <a:pathLst>
              <a:path h="403428" w="400402">
                <a:moveTo>
                  <a:pt x="0" y="0"/>
                </a:moveTo>
                <a:lnTo>
                  <a:pt x="400402" y="0"/>
                </a:lnTo>
                <a:lnTo>
                  <a:pt x="400402" y="403427"/>
                </a:lnTo>
                <a:lnTo>
                  <a:pt x="0" y="403427"/>
                </a:lnTo>
                <a:lnTo>
                  <a:pt x="0" y="0"/>
                </a:lnTo>
                <a:close/>
              </a:path>
            </a:pathLst>
          </a:custGeom>
          <a:blipFill>
            <a:blip r:embed="rId4"/>
            <a:stretch>
              <a:fillRect l="0" t="0" r="0" b="0"/>
            </a:stretch>
          </a:blipFill>
        </p:spPr>
      </p:sp>
      <p:sp>
        <p:nvSpPr>
          <p:cNvPr name="Freeform 11" id="11"/>
          <p:cNvSpPr/>
          <p:nvPr/>
        </p:nvSpPr>
        <p:spPr>
          <a:xfrm flipH="false" flipV="false" rot="0">
            <a:off x="3317182" y="7975842"/>
            <a:ext cx="376264" cy="379108"/>
          </a:xfrm>
          <a:custGeom>
            <a:avLst/>
            <a:gdLst/>
            <a:ahLst/>
            <a:cxnLst/>
            <a:rect r="r" b="b" t="t" l="l"/>
            <a:pathLst>
              <a:path h="379108" w="376264">
                <a:moveTo>
                  <a:pt x="0" y="0"/>
                </a:moveTo>
                <a:lnTo>
                  <a:pt x="376265" y="0"/>
                </a:lnTo>
                <a:lnTo>
                  <a:pt x="376265" y="379108"/>
                </a:lnTo>
                <a:lnTo>
                  <a:pt x="0" y="379108"/>
                </a:lnTo>
                <a:lnTo>
                  <a:pt x="0" y="0"/>
                </a:lnTo>
                <a:close/>
              </a:path>
            </a:pathLst>
          </a:custGeom>
          <a:blipFill>
            <a:blip r:embed="rId4"/>
            <a:stretch>
              <a:fillRect l="0" t="0" r="0" b="0"/>
            </a:stretch>
          </a:blipFill>
        </p:spPr>
      </p:sp>
      <p:sp>
        <p:nvSpPr>
          <p:cNvPr name="TextBox 12" id="12"/>
          <p:cNvSpPr txBox="true"/>
          <p:nvPr/>
        </p:nvSpPr>
        <p:spPr>
          <a:xfrm rot="0">
            <a:off x="4076287" y="2983537"/>
            <a:ext cx="12107170" cy="1108822"/>
          </a:xfrm>
          <a:prstGeom prst="rect">
            <a:avLst/>
          </a:prstGeom>
        </p:spPr>
        <p:txBody>
          <a:bodyPr anchor="t" rtlCol="false" tIns="0" lIns="0" bIns="0" rIns="0">
            <a:spAutoFit/>
          </a:bodyPr>
          <a:lstStyle/>
          <a:p>
            <a:pPr algn="l">
              <a:lnSpc>
                <a:spcPts val="2940"/>
              </a:lnSpc>
              <a:spcBef>
                <a:spcPct val="0"/>
              </a:spcBef>
            </a:pPr>
            <a:r>
              <a:rPr lang="en-US" sz="2100">
                <a:solidFill>
                  <a:srgbClr val="B88917"/>
                </a:solidFill>
                <a:latin typeface="Lato"/>
                <a:ea typeface="Lato"/>
                <a:cs typeface="Lato"/>
                <a:sym typeface="Lato"/>
              </a:rPr>
              <a:t>Reducir el tiempo promedio de adopción: Lograr que un animal pase un porcentaje de menos de tiempo en el refugio desde su ingreso hasta su adopción definitiva gracias a la agilidad del emparejamiento digital.</a:t>
            </a:r>
          </a:p>
        </p:txBody>
      </p:sp>
      <p:sp>
        <p:nvSpPr>
          <p:cNvPr name="TextBox 13" id="13"/>
          <p:cNvSpPr txBox="true"/>
          <p:nvPr/>
        </p:nvSpPr>
        <p:spPr>
          <a:xfrm rot="0">
            <a:off x="4076287" y="4122907"/>
            <a:ext cx="12107170" cy="1108822"/>
          </a:xfrm>
          <a:prstGeom prst="rect">
            <a:avLst/>
          </a:prstGeom>
        </p:spPr>
        <p:txBody>
          <a:bodyPr anchor="t" rtlCol="false" tIns="0" lIns="0" bIns="0" rIns="0">
            <a:spAutoFit/>
          </a:bodyPr>
          <a:lstStyle/>
          <a:p>
            <a:pPr algn="l">
              <a:lnSpc>
                <a:spcPts val="2940"/>
              </a:lnSpc>
            </a:pPr>
            <a:r>
              <a:rPr lang="en-US" sz="2100">
                <a:solidFill>
                  <a:srgbClr val="B88917"/>
                </a:solidFill>
                <a:latin typeface="Lato"/>
                <a:ea typeface="Lato"/>
                <a:cs typeface="Lato"/>
                <a:sym typeface="Lato"/>
              </a:rPr>
              <a:t>Acelerar la etapa de pre-selección: Disminuir en un porcentaje las horas hombre dedicadas por el personal de los refugios a las entrevistas iniciales y revisión de perfiles, automatizando el filtrado mediante el algoritmo.</a:t>
            </a:r>
          </a:p>
        </p:txBody>
      </p:sp>
      <p:sp>
        <p:nvSpPr>
          <p:cNvPr name="TextBox 14" id="14"/>
          <p:cNvSpPr txBox="true"/>
          <p:nvPr/>
        </p:nvSpPr>
        <p:spPr>
          <a:xfrm rot="0">
            <a:off x="4076287" y="6753264"/>
            <a:ext cx="12343693" cy="737041"/>
          </a:xfrm>
          <a:prstGeom prst="rect">
            <a:avLst/>
          </a:prstGeom>
        </p:spPr>
        <p:txBody>
          <a:bodyPr anchor="t" rtlCol="false" tIns="0" lIns="0" bIns="0" rIns="0">
            <a:spAutoFit/>
          </a:bodyPr>
          <a:lstStyle/>
          <a:p>
            <a:pPr algn="l">
              <a:lnSpc>
                <a:spcPts val="2954"/>
              </a:lnSpc>
            </a:pPr>
            <a:r>
              <a:rPr lang="en-US" sz="2110">
                <a:solidFill>
                  <a:srgbClr val="B88917"/>
                </a:solidFill>
                <a:latin typeface="Lato"/>
                <a:ea typeface="Lato"/>
                <a:cs typeface="Lato"/>
                <a:sym typeface="Lato"/>
              </a:rPr>
              <a:t>Crear una base de datos analítica: Generar reportes mensuales sobre perfiles de adoptantes y demanda de tipos de mascotas para ayudar a los organismos públicos a tomar decisiones basadas en datos reales.</a:t>
            </a:r>
          </a:p>
        </p:txBody>
      </p:sp>
      <p:sp>
        <p:nvSpPr>
          <p:cNvPr name="TextBox 15" id="15"/>
          <p:cNvSpPr txBox="true"/>
          <p:nvPr/>
        </p:nvSpPr>
        <p:spPr>
          <a:xfrm rot="0">
            <a:off x="4076287" y="5322533"/>
            <a:ext cx="12107170" cy="1108822"/>
          </a:xfrm>
          <a:prstGeom prst="rect">
            <a:avLst/>
          </a:prstGeom>
        </p:spPr>
        <p:txBody>
          <a:bodyPr anchor="t" rtlCol="false" tIns="0" lIns="0" bIns="0" rIns="0">
            <a:spAutoFit/>
          </a:bodyPr>
          <a:lstStyle/>
          <a:p>
            <a:pPr algn="l">
              <a:lnSpc>
                <a:spcPts val="2940"/>
              </a:lnSpc>
              <a:spcBef>
                <a:spcPct val="0"/>
              </a:spcBef>
            </a:pPr>
            <a:r>
              <a:rPr lang="en-US" sz="2100">
                <a:solidFill>
                  <a:srgbClr val="B88917"/>
                </a:solidFill>
                <a:latin typeface="Lato"/>
                <a:ea typeface="Lato"/>
                <a:cs typeface="Lato"/>
                <a:sym typeface="Lato"/>
              </a:rPr>
              <a:t>Generar ahorro operativo: Reducir los costos directos de mantención (alimento, caniles y medicina preventiva) de las instituciones en un porcentaje significativo anual, al acelerar el flujo de salida de los animales hacia hogares permanentes.</a:t>
            </a:r>
          </a:p>
        </p:txBody>
      </p:sp>
      <p:sp>
        <p:nvSpPr>
          <p:cNvPr name="Freeform 16" id="16"/>
          <p:cNvSpPr/>
          <p:nvPr/>
        </p:nvSpPr>
        <p:spPr>
          <a:xfrm flipH="false" flipV="false" rot="0">
            <a:off x="3275679" y="5345484"/>
            <a:ext cx="393630" cy="396605"/>
          </a:xfrm>
          <a:custGeom>
            <a:avLst/>
            <a:gdLst/>
            <a:ahLst/>
            <a:cxnLst/>
            <a:rect r="r" b="b" t="t" l="l"/>
            <a:pathLst>
              <a:path h="396605" w="393630">
                <a:moveTo>
                  <a:pt x="0" y="0"/>
                </a:moveTo>
                <a:lnTo>
                  <a:pt x="393630" y="0"/>
                </a:lnTo>
                <a:lnTo>
                  <a:pt x="393630" y="396605"/>
                </a:lnTo>
                <a:lnTo>
                  <a:pt x="0" y="396605"/>
                </a:lnTo>
                <a:lnTo>
                  <a:pt x="0" y="0"/>
                </a:lnTo>
                <a:close/>
              </a:path>
            </a:pathLst>
          </a:custGeom>
          <a:blipFill>
            <a:blip r:embed="rId4"/>
            <a:stretch>
              <a:fillRect l="0" t="0" r="0" b="0"/>
            </a:stretch>
          </a:blipFill>
        </p:spPr>
      </p:sp>
      <p:sp>
        <p:nvSpPr>
          <p:cNvPr name="Freeform 17" id="17"/>
          <p:cNvSpPr/>
          <p:nvPr/>
        </p:nvSpPr>
        <p:spPr>
          <a:xfrm flipH="false" flipV="false" rot="0">
            <a:off x="3293045" y="6800889"/>
            <a:ext cx="400402" cy="403428"/>
          </a:xfrm>
          <a:custGeom>
            <a:avLst/>
            <a:gdLst/>
            <a:ahLst/>
            <a:cxnLst/>
            <a:rect r="r" b="b" t="t" l="l"/>
            <a:pathLst>
              <a:path h="403428" w="400402">
                <a:moveTo>
                  <a:pt x="0" y="0"/>
                </a:moveTo>
                <a:lnTo>
                  <a:pt x="400402" y="0"/>
                </a:lnTo>
                <a:lnTo>
                  <a:pt x="400402" y="403428"/>
                </a:lnTo>
                <a:lnTo>
                  <a:pt x="0" y="403428"/>
                </a:lnTo>
                <a:lnTo>
                  <a:pt x="0" y="0"/>
                </a:lnTo>
                <a:close/>
              </a:path>
            </a:pathLst>
          </a:custGeom>
          <a:blipFill>
            <a:blip r:embed="rId4"/>
            <a:stretch>
              <a:fillRect l="0" t="0" r="0" b="0"/>
            </a:stretch>
          </a:blipFill>
        </p:spPr>
      </p:sp>
      <p:sp>
        <p:nvSpPr>
          <p:cNvPr name="TextBox 18" id="18"/>
          <p:cNvSpPr txBox="true"/>
          <p:nvPr/>
        </p:nvSpPr>
        <p:spPr>
          <a:xfrm rot="0">
            <a:off x="4076287" y="7843401"/>
            <a:ext cx="12107170" cy="737309"/>
          </a:xfrm>
          <a:prstGeom prst="rect">
            <a:avLst/>
          </a:prstGeom>
        </p:spPr>
        <p:txBody>
          <a:bodyPr anchor="t" rtlCol="false" tIns="0" lIns="0" bIns="0" rIns="0">
            <a:spAutoFit/>
          </a:bodyPr>
          <a:lstStyle/>
          <a:p>
            <a:pPr algn="l">
              <a:lnSpc>
                <a:spcPts val="2940"/>
              </a:lnSpc>
              <a:spcBef>
                <a:spcPct val="0"/>
              </a:spcBef>
            </a:pPr>
            <a:r>
              <a:rPr lang="en-US" sz="2100">
                <a:solidFill>
                  <a:srgbClr val="B88917"/>
                </a:solidFill>
                <a:latin typeface="Lato"/>
                <a:ea typeface="Lato"/>
                <a:cs typeface="Lato"/>
                <a:sym typeface="Lato"/>
              </a:rPr>
              <a:t>Minimizar la tasa de devolución: Mantener el índice de devoluciones por incompatibilidad por debajo del porcentaje  (siendo el estándar actual mucho más alto), asegurando vínculos duraderos.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E7AA51">
                <a:alpha val="100000"/>
              </a:srgbClr>
            </a:gs>
            <a:gs pos="25000">
              <a:srgbClr val="FFE499">
                <a:alpha val="100000"/>
              </a:srgbClr>
            </a:gs>
            <a:gs pos="50000">
              <a:srgbClr val="8D5A1B">
                <a:alpha val="100000"/>
              </a:srgbClr>
            </a:gs>
            <a:gs pos="75000">
              <a:srgbClr val="E7AA51">
                <a:alpha val="100000"/>
              </a:srgbClr>
            </a:gs>
            <a:gs pos="100000">
              <a:srgbClr val="AC7031">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18240375" y="0"/>
            <a:ext cx="47625" cy="10287000"/>
            <a:chOff x="0" y="0"/>
            <a:chExt cx="6554" cy="1415652"/>
          </a:xfrm>
        </p:grpSpPr>
        <p:sp>
          <p:nvSpPr>
            <p:cNvPr name="Freeform 3" id="3"/>
            <p:cNvSpPr/>
            <p:nvPr/>
          </p:nvSpPr>
          <p:spPr>
            <a:xfrm flipH="false" flipV="false" rot="0">
              <a:off x="0" y="0"/>
              <a:ext cx="6554" cy="1415652"/>
            </a:xfrm>
            <a:custGeom>
              <a:avLst/>
              <a:gdLst/>
              <a:ahLst/>
              <a:cxnLst/>
              <a:rect r="r" b="b" t="t" l="l"/>
              <a:pathLst>
                <a:path h="1415652" w="6554">
                  <a:moveTo>
                    <a:pt x="0" y="0"/>
                  </a:moveTo>
                  <a:lnTo>
                    <a:pt x="6554" y="0"/>
                  </a:lnTo>
                  <a:lnTo>
                    <a:pt x="6554" y="1415652"/>
                  </a:lnTo>
                  <a:lnTo>
                    <a:pt x="0" y="1415652"/>
                  </a:lnTo>
                  <a:close/>
                </a:path>
              </a:pathLst>
            </a:custGeom>
            <a:blipFill>
              <a:blip r:embed="rId2"/>
              <a:stretch>
                <a:fillRect l="-9710965" t="0" r="-22012654" b="42584"/>
              </a:stretch>
            </a:blipFill>
            <a:ln cap="sq">
              <a:noFill/>
              <a:prstDash val="solid"/>
              <a:miter/>
            </a:ln>
          </p:spPr>
        </p:sp>
      </p:grpSp>
      <p:grpSp>
        <p:nvGrpSpPr>
          <p:cNvPr name="Group 4" id="4"/>
          <p:cNvGrpSpPr/>
          <p:nvPr/>
        </p:nvGrpSpPr>
        <p:grpSpPr>
          <a:xfrm rot="0">
            <a:off x="1255286" y="702513"/>
            <a:ext cx="16404909" cy="9092717"/>
            <a:chOff x="0" y="0"/>
            <a:chExt cx="4320635" cy="2394790"/>
          </a:xfrm>
        </p:grpSpPr>
        <p:sp>
          <p:nvSpPr>
            <p:cNvPr name="Freeform 5" id="5"/>
            <p:cNvSpPr/>
            <p:nvPr/>
          </p:nvSpPr>
          <p:spPr>
            <a:xfrm flipH="false" flipV="false" rot="0">
              <a:off x="0" y="0"/>
              <a:ext cx="4320635" cy="2394789"/>
            </a:xfrm>
            <a:custGeom>
              <a:avLst/>
              <a:gdLst/>
              <a:ahLst/>
              <a:cxnLst/>
              <a:rect r="r" b="b" t="t" l="l"/>
              <a:pathLst>
                <a:path h="2394789" w="4320635">
                  <a:moveTo>
                    <a:pt x="9439" y="0"/>
                  </a:moveTo>
                  <a:lnTo>
                    <a:pt x="4311196" y="0"/>
                  </a:lnTo>
                  <a:cubicBezTo>
                    <a:pt x="4313699" y="0"/>
                    <a:pt x="4316100" y="994"/>
                    <a:pt x="4317870" y="2764"/>
                  </a:cubicBezTo>
                  <a:cubicBezTo>
                    <a:pt x="4319640" y="4535"/>
                    <a:pt x="4320635" y="6935"/>
                    <a:pt x="4320635" y="9439"/>
                  </a:cubicBezTo>
                  <a:lnTo>
                    <a:pt x="4320635" y="2385351"/>
                  </a:lnTo>
                  <a:cubicBezTo>
                    <a:pt x="4320635" y="2387854"/>
                    <a:pt x="4319640" y="2390255"/>
                    <a:pt x="4317870" y="2392025"/>
                  </a:cubicBezTo>
                  <a:cubicBezTo>
                    <a:pt x="4316100" y="2393795"/>
                    <a:pt x="4313699" y="2394789"/>
                    <a:pt x="4311196" y="2394789"/>
                  </a:cubicBezTo>
                  <a:lnTo>
                    <a:pt x="9439" y="2394789"/>
                  </a:lnTo>
                  <a:cubicBezTo>
                    <a:pt x="6935" y="2394789"/>
                    <a:pt x="4535" y="2393795"/>
                    <a:pt x="2764" y="2392025"/>
                  </a:cubicBezTo>
                  <a:cubicBezTo>
                    <a:pt x="994" y="2390255"/>
                    <a:pt x="0" y="2387854"/>
                    <a:pt x="0" y="2385351"/>
                  </a:cubicBezTo>
                  <a:lnTo>
                    <a:pt x="0" y="9439"/>
                  </a:lnTo>
                  <a:cubicBezTo>
                    <a:pt x="0" y="6935"/>
                    <a:pt x="994" y="4535"/>
                    <a:pt x="2764" y="2764"/>
                  </a:cubicBezTo>
                  <a:cubicBezTo>
                    <a:pt x="4535" y="994"/>
                    <a:pt x="6935" y="0"/>
                    <a:pt x="9439" y="0"/>
                  </a:cubicBezTo>
                  <a:close/>
                </a:path>
              </a:pathLst>
            </a:custGeom>
            <a:solidFill>
              <a:srgbClr val="FBF9F1"/>
            </a:solidFill>
            <a:ln w="38100" cap="sq">
              <a:gradFill>
                <a:gsLst>
                  <a:gs pos="0">
                    <a:srgbClr val="013E6A">
                      <a:alpha val="100000"/>
                    </a:srgbClr>
                  </a:gs>
                  <a:gs pos="25000">
                    <a:srgbClr val="43D1FF">
                      <a:alpha val="100000"/>
                    </a:srgbClr>
                  </a:gs>
                  <a:gs pos="50000">
                    <a:srgbClr val="013E6A">
                      <a:alpha val="100000"/>
                    </a:srgbClr>
                  </a:gs>
                  <a:gs pos="75000">
                    <a:srgbClr val="419AD6">
                      <a:alpha val="100000"/>
                    </a:srgbClr>
                  </a:gs>
                  <a:gs pos="100000">
                    <a:srgbClr val="01186A">
                      <a:alpha val="100000"/>
                    </a:srgbClr>
                  </a:gs>
                </a:gsLst>
                <a:lin ang="5400000"/>
              </a:gradFill>
              <a:prstDash val="solid"/>
              <a:miter/>
            </a:ln>
          </p:spPr>
        </p:sp>
        <p:sp>
          <p:nvSpPr>
            <p:cNvPr name="TextBox 6" id="6"/>
            <p:cNvSpPr txBox="true"/>
            <p:nvPr/>
          </p:nvSpPr>
          <p:spPr>
            <a:xfrm>
              <a:off x="0" y="-38100"/>
              <a:ext cx="4320635" cy="2432890"/>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true" flipV="false" rot="6626729">
            <a:off x="-8130685" y="2389405"/>
            <a:ext cx="12221289" cy="8822969"/>
          </a:xfrm>
          <a:custGeom>
            <a:avLst/>
            <a:gdLst/>
            <a:ahLst/>
            <a:cxnLst/>
            <a:rect r="r" b="b" t="t" l="l"/>
            <a:pathLst>
              <a:path h="8822969" w="12221289">
                <a:moveTo>
                  <a:pt x="12221289" y="0"/>
                </a:moveTo>
                <a:lnTo>
                  <a:pt x="0" y="0"/>
                </a:lnTo>
                <a:lnTo>
                  <a:pt x="0" y="8822968"/>
                </a:lnTo>
                <a:lnTo>
                  <a:pt x="12221289" y="8822968"/>
                </a:lnTo>
                <a:lnTo>
                  <a:pt x="12221289" y="0"/>
                </a:lnTo>
                <a:close/>
              </a:path>
            </a:pathLst>
          </a:custGeom>
          <a:blipFill>
            <a:blip r:embed="rId3"/>
            <a:stretch>
              <a:fillRect l="0" t="0" r="0" b="0"/>
            </a:stretch>
          </a:blipFill>
        </p:spPr>
      </p:sp>
      <p:sp>
        <p:nvSpPr>
          <p:cNvPr name="TextBox 8" id="8"/>
          <p:cNvSpPr txBox="true"/>
          <p:nvPr/>
        </p:nvSpPr>
        <p:spPr>
          <a:xfrm rot="0">
            <a:off x="4532731" y="1137693"/>
            <a:ext cx="8700580" cy="831850"/>
          </a:xfrm>
          <a:prstGeom prst="rect">
            <a:avLst/>
          </a:prstGeom>
        </p:spPr>
        <p:txBody>
          <a:bodyPr anchor="t" rtlCol="false" tIns="0" lIns="0" bIns="0" rIns="0">
            <a:spAutoFit/>
          </a:bodyPr>
          <a:lstStyle/>
          <a:p>
            <a:pPr algn="ctr">
              <a:lnSpc>
                <a:spcPts val="6049"/>
              </a:lnSpc>
            </a:pPr>
            <a:r>
              <a:rPr lang="en-US" b="true" sz="5499">
                <a:solidFill>
                  <a:srgbClr val="FF9F29"/>
                </a:solidFill>
                <a:latin typeface="Poppins Bold"/>
                <a:ea typeface="Poppins Bold"/>
                <a:cs typeface="Poppins Bold"/>
                <a:sym typeface="Poppins Bold"/>
              </a:rPr>
              <a:t>ALCANCE</a:t>
            </a:r>
          </a:p>
        </p:txBody>
      </p:sp>
      <p:sp>
        <p:nvSpPr>
          <p:cNvPr name="Freeform 9" id="9"/>
          <p:cNvSpPr/>
          <p:nvPr/>
        </p:nvSpPr>
        <p:spPr>
          <a:xfrm flipH="false" flipV="false" rot="0">
            <a:off x="3310410" y="2623561"/>
            <a:ext cx="365671" cy="368434"/>
          </a:xfrm>
          <a:custGeom>
            <a:avLst/>
            <a:gdLst/>
            <a:ahLst/>
            <a:cxnLst/>
            <a:rect r="r" b="b" t="t" l="l"/>
            <a:pathLst>
              <a:path h="368434" w="365671">
                <a:moveTo>
                  <a:pt x="0" y="0"/>
                </a:moveTo>
                <a:lnTo>
                  <a:pt x="365671" y="0"/>
                </a:lnTo>
                <a:lnTo>
                  <a:pt x="365671" y="368434"/>
                </a:lnTo>
                <a:lnTo>
                  <a:pt x="0" y="368434"/>
                </a:lnTo>
                <a:lnTo>
                  <a:pt x="0" y="0"/>
                </a:lnTo>
                <a:close/>
              </a:path>
            </a:pathLst>
          </a:custGeom>
          <a:blipFill>
            <a:blip r:embed="rId4"/>
            <a:stretch>
              <a:fillRect l="0" t="0" r="0" b="0"/>
            </a:stretch>
          </a:blipFill>
        </p:spPr>
      </p:sp>
      <p:sp>
        <p:nvSpPr>
          <p:cNvPr name="Freeform 10" id="10"/>
          <p:cNvSpPr/>
          <p:nvPr/>
        </p:nvSpPr>
        <p:spPr>
          <a:xfrm flipH="false" flipV="false" rot="0">
            <a:off x="3305114" y="7382629"/>
            <a:ext cx="376264" cy="379108"/>
          </a:xfrm>
          <a:custGeom>
            <a:avLst/>
            <a:gdLst/>
            <a:ahLst/>
            <a:cxnLst/>
            <a:rect r="r" b="b" t="t" l="l"/>
            <a:pathLst>
              <a:path h="379108" w="376264">
                <a:moveTo>
                  <a:pt x="0" y="0"/>
                </a:moveTo>
                <a:lnTo>
                  <a:pt x="376264" y="0"/>
                </a:lnTo>
                <a:lnTo>
                  <a:pt x="376264" y="379108"/>
                </a:lnTo>
                <a:lnTo>
                  <a:pt x="0" y="379108"/>
                </a:lnTo>
                <a:lnTo>
                  <a:pt x="0" y="0"/>
                </a:lnTo>
                <a:close/>
              </a:path>
            </a:pathLst>
          </a:custGeom>
          <a:blipFill>
            <a:blip r:embed="rId4"/>
            <a:stretch>
              <a:fillRect l="0" t="0" r="0" b="0"/>
            </a:stretch>
          </a:blipFill>
        </p:spPr>
      </p:sp>
      <p:sp>
        <p:nvSpPr>
          <p:cNvPr name="TextBox 11" id="11"/>
          <p:cNvSpPr txBox="true"/>
          <p:nvPr/>
        </p:nvSpPr>
        <p:spPr>
          <a:xfrm rot="0">
            <a:off x="4076287" y="2575936"/>
            <a:ext cx="12107170" cy="1851846"/>
          </a:xfrm>
          <a:prstGeom prst="rect">
            <a:avLst/>
          </a:prstGeom>
        </p:spPr>
        <p:txBody>
          <a:bodyPr anchor="t" rtlCol="false" tIns="0" lIns="0" bIns="0" rIns="0">
            <a:spAutoFit/>
          </a:bodyPr>
          <a:lstStyle/>
          <a:p>
            <a:pPr algn="l">
              <a:lnSpc>
                <a:spcPts val="2940"/>
              </a:lnSpc>
            </a:pPr>
            <a:r>
              <a:rPr lang="en-US" sz="2100">
                <a:solidFill>
                  <a:srgbClr val="B88917"/>
                </a:solidFill>
                <a:latin typeface="Lato"/>
                <a:ea typeface="Lato"/>
                <a:cs typeface="Lato"/>
                <a:sym typeface="Lato"/>
              </a:rPr>
              <a:t>Módulo del Adoptante (App Móvil React):</a:t>
            </a:r>
          </a:p>
          <a:p>
            <a:pPr algn="l" marL="453390" indent="-226695" lvl="1">
              <a:lnSpc>
                <a:spcPts val="2940"/>
              </a:lnSpc>
              <a:buFont typeface="Arial"/>
              <a:buChar char="•"/>
            </a:pPr>
            <a:r>
              <a:rPr lang="en-US" sz="2100">
                <a:solidFill>
                  <a:srgbClr val="B88917"/>
                </a:solidFill>
                <a:latin typeface="Lato"/>
                <a:ea typeface="Lato"/>
                <a:cs typeface="Lato"/>
                <a:sym typeface="Lato"/>
              </a:rPr>
              <a:t>Registro y perfilamiento psicográfico mediante un formulario dinámico.</a:t>
            </a:r>
          </a:p>
          <a:p>
            <a:pPr algn="l" marL="453390" indent="-226695" lvl="1">
              <a:lnSpc>
                <a:spcPts val="2940"/>
              </a:lnSpc>
              <a:spcBef>
                <a:spcPct val="0"/>
              </a:spcBef>
              <a:buFont typeface="Arial"/>
              <a:buChar char="•"/>
            </a:pPr>
            <a:r>
              <a:rPr lang="en-US" sz="2100">
                <a:solidFill>
                  <a:srgbClr val="B88917"/>
                </a:solidFill>
                <a:latin typeface="Lato"/>
                <a:ea typeface="Lato"/>
                <a:cs typeface="Lato"/>
                <a:sym typeface="Lato"/>
              </a:rPr>
              <a:t>Visualización de "Matches" generados por Gemini 3.1 Pro, incluyendo una explicación semántica de la compatibilidad.</a:t>
            </a:r>
          </a:p>
          <a:p>
            <a:pPr algn="l">
              <a:lnSpc>
                <a:spcPts val="2940"/>
              </a:lnSpc>
              <a:spcBef>
                <a:spcPct val="0"/>
              </a:spcBef>
            </a:pPr>
          </a:p>
        </p:txBody>
      </p:sp>
      <p:sp>
        <p:nvSpPr>
          <p:cNvPr name="TextBox 12" id="12"/>
          <p:cNvSpPr txBox="true"/>
          <p:nvPr/>
        </p:nvSpPr>
        <p:spPr>
          <a:xfrm rot="0">
            <a:off x="4076287" y="4504935"/>
            <a:ext cx="12107170" cy="2594870"/>
          </a:xfrm>
          <a:prstGeom prst="rect">
            <a:avLst/>
          </a:prstGeom>
        </p:spPr>
        <p:txBody>
          <a:bodyPr anchor="t" rtlCol="false" tIns="0" lIns="0" bIns="0" rIns="0">
            <a:spAutoFit/>
          </a:bodyPr>
          <a:lstStyle/>
          <a:p>
            <a:pPr algn="l">
              <a:lnSpc>
                <a:spcPts val="2940"/>
              </a:lnSpc>
            </a:pPr>
            <a:r>
              <a:rPr lang="en-US" sz="2100">
                <a:solidFill>
                  <a:srgbClr val="B88917"/>
                </a:solidFill>
                <a:latin typeface="Lato"/>
                <a:ea typeface="Lato"/>
                <a:cs typeface="Lato"/>
                <a:sym typeface="Lato"/>
              </a:rPr>
              <a:t>Módulo del Refugio/Municipio (Plataforma Web React):</a:t>
            </a:r>
          </a:p>
          <a:p>
            <a:pPr algn="l" marL="453390" indent="-226695" lvl="1">
              <a:lnSpc>
                <a:spcPts val="2940"/>
              </a:lnSpc>
              <a:buFont typeface="Arial"/>
              <a:buChar char="•"/>
            </a:pPr>
            <a:r>
              <a:rPr lang="en-US" sz="2100">
                <a:solidFill>
                  <a:srgbClr val="B88917"/>
                </a:solidFill>
                <a:latin typeface="Lato"/>
                <a:ea typeface="Lato"/>
                <a:cs typeface="Lato"/>
                <a:sym typeface="Lato"/>
              </a:rPr>
              <a:t>Gestión de inventario de mascotas (ingreso de fichas, fotos y antecedentes conductuales).</a:t>
            </a:r>
          </a:p>
          <a:p>
            <a:pPr algn="l" marL="453390" indent="-226695" lvl="1">
              <a:lnSpc>
                <a:spcPts val="2940"/>
              </a:lnSpc>
              <a:buFont typeface="Arial"/>
              <a:buChar char="•"/>
            </a:pPr>
            <a:r>
              <a:rPr lang="en-US" sz="2100">
                <a:solidFill>
                  <a:srgbClr val="B88917"/>
                </a:solidFill>
                <a:latin typeface="Lato"/>
                <a:ea typeface="Lato"/>
                <a:cs typeface="Lato"/>
                <a:sym typeface="Lato"/>
              </a:rPr>
              <a:t>Visualización de analítica básica: número de adopciones exitosas y estimación de ahorro de recursos por liberación de cupos.</a:t>
            </a:r>
          </a:p>
          <a:p>
            <a:pPr algn="l" marL="453390" indent="-226695" lvl="1">
              <a:lnSpc>
                <a:spcPts val="2940"/>
              </a:lnSpc>
              <a:spcBef>
                <a:spcPct val="0"/>
              </a:spcBef>
              <a:buFont typeface="Arial"/>
              <a:buChar char="•"/>
            </a:pPr>
            <a:r>
              <a:rPr lang="en-US" sz="2100">
                <a:solidFill>
                  <a:srgbClr val="B88917"/>
                </a:solidFill>
                <a:latin typeface="Lato"/>
                <a:ea typeface="Lato"/>
                <a:cs typeface="Lato"/>
                <a:sym typeface="Lato"/>
              </a:rPr>
              <a:t>Herramienta de "Generación de Perfiles": Uso de GenAI para crear descripciones atractivas de las mascotas a partir de datos técnicos.</a:t>
            </a:r>
          </a:p>
          <a:p>
            <a:pPr algn="l">
              <a:lnSpc>
                <a:spcPts val="2940"/>
              </a:lnSpc>
              <a:spcBef>
                <a:spcPct val="0"/>
              </a:spcBef>
            </a:pPr>
          </a:p>
        </p:txBody>
      </p:sp>
      <p:sp>
        <p:nvSpPr>
          <p:cNvPr name="Freeform 13" id="13"/>
          <p:cNvSpPr/>
          <p:nvPr/>
        </p:nvSpPr>
        <p:spPr>
          <a:xfrm flipH="false" flipV="false" rot="0">
            <a:off x="3282451" y="4552560"/>
            <a:ext cx="393630" cy="396605"/>
          </a:xfrm>
          <a:custGeom>
            <a:avLst/>
            <a:gdLst/>
            <a:ahLst/>
            <a:cxnLst/>
            <a:rect r="r" b="b" t="t" l="l"/>
            <a:pathLst>
              <a:path h="396605" w="393630">
                <a:moveTo>
                  <a:pt x="0" y="0"/>
                </a:moveTo>
                <a:lnTo>
                  <a:pt x="393630" y="0"/>
                </a:lnTo>
                <a:lnTo>
                  <a:pt x="393630" y="396604"/>
                </a:lnTo>
                <a:lnTo>
                  <a:pt x="0" y="396604"/>
                </a:lnTo>
                <a:lnTo>
                  <a:pt x="0" y="0"/>
                </a:lnTo>
                <a:close/>
              </a:path>
            </a:pathLst>
          </a:custGeom>
          <a:blipFill>
            <a:blip r:embed="rId4"/>
            <a:stretch>
              <a:fillRect l="0" t="0" r="0" b="0"/>
            </a:stretch>
          </a:blipFill>
        </p:spPr>
      </p:sp>
      <p:sp>
        <p:nvSpPr>
          <p:cNvPr name="TextBox 14" id="14"/>
          <p:cNvSpPr txBox="true"/>
          <p:nvPr/>
        </p:nvSpPr>
        <p:spPr>
          <a:xfrm rot="0">
            <a:off x="4076287" y="7335004"/>
            <a:ext cx="12107170" cy="2223358"/>
          </a:xfrm>
          <a:prstGeom prst="rect">
            <a:avLst/>
          </a:prstGeom>
        </p:spPr>
        <p:txBody>
          <a:bodyPr anchor="t" rtlCol="false" tIns="0" lIns="0" bIns="0" rIns="0">
            <a:spAutoFit/>
          </a:bodyPr>
          <a:lstStyle/>
          <a:p>
            <a:pPr algn="l">
              <a:lnSpc>
                <a:spcPts val="2940"/>
              </a:lnSpc>
            </a:pPr>
            <a:r>
              <a:rPr lang="en-US" sz="2100">
                <a:solidFill>
                  <a:srgbClr val="B88917"/>
                </a:solidFill>
                <a:latin typeface="Lato"/>
                <a:ea typeface="Lato"/>
                <a:cs typeface="Lato"/>
                <a:sym typeface="Lato"/>
              </a:rPr>
              <a:t>Alcance Técnico (La infraestructura)</a:t>
            </a:r>
          </a:p>
          <a:p>
            <a:pPr algn="l" marL="453390" indent="-226695" lvl="1">
              <a:lnSpc>
                <a:spcPts val="2940"/>
              </a:lnSpc>
              <a:buFont typeface="Arial"/>
              <a:buChar char="•"/>
            </a:pPr>
            <a:r>
              <a:rPr lang="en-US" sz="2100">
                <a:solidFill>
                  <a:srgbClr val="B88917"/>
                </a:solidFill>
                <a:latin typeface="Lato"/>
                <a:ea typeface="Lato"/>
                <a:cs typeface="Lato"/>
                <a:sym typeface="Lato"/>
              </a:rPr>
              <a:t>Despliegue Cloud Full-Stack: Implementación de la solución utilizando Firebase como plataforma única para Backend (Functions), Base de Datos (Firestore), Autenticación y Almacenamiento.</a:t>
            </a:r>
          </a:p>
          <a:p>
            <a:pPr algn="l" marL="453390" indent="-226695" lvl="1">
              <a:lnSpc>
                <a:spcPts val="2940"/>
              </a:lnSpc>
              <a:buFont typeface="Arial"/>
              <a:buChar char="•"/>
            </a:pPr>
            <a:r>
              <a:rPr lang="en-US" sz="2100">
                <a:solidFill>
                  <a:srgbClr val="B88917"/>
                </a:solidFill>
                <a:latin typeface="Lato"/>
                <a:ea typeface="Lato"/>
                <a:cs typeface="Lato"/>
                <a:sym typeface="Lato"/>
              </a:rPr>
              <a:t>Integración de IA Generativa: Conexión mediante la API de Antigravity para orquestar los modelos Gemini. El alcance se limita al procesamiento de texto y razonamiento lógico</a:t>
            </a:r>
          </a:p>
          <a:p>
            <a:pPr algn="l">
              <a:lnSpc>
                <a:spcPts val="2940"/>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E7AA51">
                <a:alpha val="100000"/>
              </a:srgbClr>
            </a:gs>
            <a:gs pos="25000">
              <a:srgbClr val="FFE499">
                <a:alpha val="100000"/>
              </a:srgbClr>
            </a:gs>
            <a:gs pos="50000">
              <a:srgbClr val="8D5A1B">
                <a:alpha val="100000"/>
              </a:srgbClr>
            </a:gs>
            <a:gs pos="75000">
              <a:srgbClr val="E7AA51">
                <a:alpha val="100000"/>
              </a:srgbClr>
            </a:gs>
            <a:gs pos="100000">
              <a:srgbClr val="AC7031">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18240375" y="0"/>
            <a:ext cx="47625" cy="10287000"/>
            <a:chOff x="0" y="0"/>
            <a:chExt cx="6554" cy="1415652"/>
          </a:xfrm>
        </p:grpSpPr>
        <p:sp>
          <p:nvSpPr>
            <p:cNvPr name="Freeform 3" id="3"/>
            <p:cNvSpPr/>
            <p:nvPr/>
          </p:nvSpPr>
          <p:spPr>
            <a:xfrm flipH="false" flipV="false" rot="0">
              <a:off x="0" y="0"/>
              <a:ext cx="6554" cy="1415652"/>
            </a:xfrm>
            <a:custGeom>
              <a:avLst/>
              <a:gdLst/>
              <a:ahLst/>
              <a:cxnLst/>
              <a:rect r="r" b="b" t="t" l="l"/>
              <a:pathLst>
                <a:path h="1415652" w="6554">
                  <a:moveTo>
                    <a:pt x="0" y="0"/>
                  </a:moveTo>
                  <a:lnTo>
                    <a:pt x="6554" y="0"/>
                  </a:lnTo>
                  <a:lnTo>
                    <a:pt x="6554" y="1415652"/>
                  </a:lnTo>
                  <a:lnTo>
                    <a:pt x="0" y="1415652"/>
                  </a:lnTo>
                  <a:close/>
                </a:path>
              </a:pathLst>
            </a:custGeom>
            <a:blipFill>
              <a:blip r:embed="rId2"/>
              <a:stretch>
                <a:fillRect l="-9710965" t="0" r="-22012654" b="42584"/>
              </a:stretch>
            </a:blipFill>
            <a:ln cap="sq">
              <a:noFill/>
              <a:prstDash val="solid"/>
              <a:miter/>
            </a:ln>
          </p:spPr>
        </p:sp>
      </p:grpSp>
      <p:grpSp>
        <p:nvGrpSpPr>
          <p:cNvPr name="Group 4" id="4"/>
          <p:cNvGrpSpPr/>
          <p:nvPr/>
        </p:nvGrpSpPr>
        <p:grpSpPr>
          <a:xfrm rot="0">
            <a:off x="1329103" y="737219"/>
            <a:ext cx="16404909" cy="9334281"/>
            <a:chOff x="0" y="0"/>
            <a:chExt cx="4320635" cy="2458411"/>
          </a:xfrm>
        </p:grpSpPr>
        <p:sp>
          <p:nvSpPr>
            <p:cNvPr name="Freeform 5" id="5"/>
            <p:cNvSpPr/>
            <p:nvPr/>
          </p:nvSpPr>
          <p:spPr>
            <a:xfrm flipH="false" flipV="false" rot="0">
              <a:off x="0" y="0"/>
              <a:ext cx="4320635" cy="2458411"/>
            </a:xfrm>
            <a:custGeom>
              <a:avLst/>
              <a:gdLst/>
              <a:ahLst/>
              <a:cxnLst/>
              <a:rect r="r" b="b" t="t" l="l"/>
              <a:pathLst>
                <a:path h="2458411" w="4320635">
                  <a:moveTo>
                    <a:pt x="9439" y="0"/>
                  </a:moveTo>
                  <a:lnTo>
                    <a:pt x="4311196" y="0"/>
                  </a:lnTo>
                  <a:cubicBezTo>
                    <a:pt x="4313699" y="0"/>
                    <a:pt x="4316100" y="994"/>
                    <a:pt x="4317870" y="2764"/>
                  </a:cubicBezTo>
                  <a:cubicBezTo>
                    <a:pt x="4319640" y="4535"/>
                    <a:pt x="4320635" y="6935"/>
                    <a:pt x="4320635" y="9439"/>
                  </a:cubicBezTo>
                  <a:lnTo>
                    <a:pt x="4320635" y="2448973"/>
                  </a:lnTo>
                  <a:cubicBezTo>
                    <a:pt x="4320635" y="2451476"/>
                    <a:pt x="4319640" y="2453877"/>
                    <a:pt x="4317870" y="2455647"/>
                  </a:cubicBezTo>
                  <a:cubicBezTo>
                    <a:pt x="4316100" y="2457417"/>
                    <a:pt x="4313699" y="2458411"/>
                    <a:pt x="4311196" y="2458411"/>
                  </a:cubicBezTo>
                  <a:lnTo>
                    <a:pt x="9439" y="2458411"/>
                  </a:lnTo>
                  <a:cubicBezTo>
                    <a:pt x="6935" y="2458411"/>
                    <a:pt x="4535" y="2457417"/>
                    <a:pt x="2764" y="2455647"/>
                  </a:cubicBezTo>
                  <a:cubicBezTo>
                    <a:pt x="994" y="2453877"/>
                    <a:pt x="0" y="2451476"/>
                    <a:pt x="0" y="2448973"/>
                  </a:cubicBezTo>
                  <a:lnTo>
                    <a:pt x="0" y="9439"/>
                  </a:lnTo>
                  <a:cubicBezTo>
                    <a:pt x="0" y="6935"/>
                    <a:pt x="994" y="4535"/>
                    <a:pt x="2764" y="2764"/>
                  </a:cubicBezTo>
                  <a:cubicBezTo>
                    <a:pt x="4535" y="994"/>
                    <a:pt x="6935" y="0"/>
                    <a:pt x="9439" y="0"/>
                  </a:cubicBezTo>
                  <a:close/>
                </a:path>
              </a:pathLst>
            </a:custGeom>
            <a:solidFill>
              <a:srgbClr val="FBF9F1"/>
            </a:solidFill>
            <a:ln w="38100" cap="sq">
              <a:gradFill>
                <a:gsLst>
                  <a:gs pos="0">
                    <a:srgbClr val="013E6A">
                      <a:alpha val="100000"/>
                    </a:srgbClr>
                  </a:gs>
                  <a:gs pos="25000">
                    <a:srgbClr val="43D1FF">
                      <a:alpha val="100000"/>
                    </a:srgbClr>
                  </a:gs>
                  <a:gs pos="50000">
                    <a:srgbClr val="013E6A">
                      <a:alpha val="100000"/>
                    </a:srgbClr>
                  </a:gs>
                  <a:gs pos="75000">
                    <a:srgbClr val="419AD6">
                      <a:alpha val="100000"/>
                    </a:srgbClr>
                  </a:gs>
                  <a:gs pos="100000">
                    <a:srgbClr val="01186A">
                      <a:alpha val="100000"/>
                    </a:srgbClr>
                  </a:gs>
                </a:gsLst>
                <a:lin ang="5400000"/>
              </a:gradFill>
              <a:prstDash val="solid"/>
              <a:miter/>
            </a:ln>
          </p:spPr>
        </p:sp>
        <p:sp>
          <p:nvSpPr>
            <p:cNvPr name="TextBox 6" id="6"/>
            <p:cNvSpPr txBox="true"/>
            <p:nvPr/>
          </p:nvSpPr>
          <p:spPr>
            <a:xfrm>
              <a:off x="0" y="-38100"/>
              <a:ext cx="4320635" cy="2496511"/>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true" flipV="false" rot="6626729">
            <a:off x="-8130685" y="2389405"/>
            <a:ext cx="12221289" cy="8822969"/>
          </a:xfrm>
          <a:custGeom>
            <a:avLst/>
            <a:gdLst/>
            <a:ahLst/>
            <a:cxnLst/>
            <a:rect r="r" b="b" t="t" l="l"/>
            <a:pathLst>
              <a:path h="8822969" w="12221289">
                <a:moveTo>
                  <a:pt x="12221289" y="0"/>
                </a:moveTo>
                <a:lnTo>
                  <a:pt x="0" y="0"/>
                </a:lnTo>
                <a:lnTo>
                  <a:pt x="0" y="8822968"/>
                </a:lnTo>
                <a:lnTo>
                  <a:pt x="12221289" y="8822968"/>
                </a:lnTo>
                <a:lnTo>
                  <a:pt x="12221289" y="0"/>
                </a:lnTo>
                <a:close/>
              </a:path>
            </a:pathLst>
          </a:custGeom>
          <a:blipFill>
            <a:blip r:embed="rId3"/>
            <a:stretch>
              <a:fillRect l="0" t="0" r="0" b="0"/>
            </a:stretch>
          </a:blipFill>
        </p:spPr>
      </p:sp>
      <p:sp>
        <p:nvSpPr>
          <p:cNvPr name="TextBox 8" id="8"/>
          <p:cNvSpPr txBox="true"/>
          <p:nvPr/>
        </p:nvSpPr>
        <p:spPr>
          <a:xfrm rot="0">
            <a:off x="4793710" y="1028700"/>
            <a:ext cx="8700580" cy="831850"/>
          </a:xfrm>
          <a:prstGeom prst="rect">
            <a:avLst/>
          </a:prstGeom>
        </p:spPr>
        <p:txBody>
          <a:bodyPr anchor="t" rtlCol="false" tIns="0" lIns="0" bIns="0" rIns="0">
            <a:spAutoFit/>
          </a:bodyPr>
          <a:lstStyle/>
          <a:p>
            <a:pPr algn="ctr">
              <a:lnSpc>
                <a:spcPts val="6049"/>
              </a:lnSpc>
            </a:pPr>
            <a:r>
              <a:rPr lang="en-US" b="true" sz="5499">
                <a:solidFill>
                  <a:srgbClr val="FF9F29"/>
                </a:solidFill>
                <a:latin typeface="Poppins Bold"/>
                <a:ea typeface="Poppins Bold"/>
                <a:cs typeface="Poppins Bold"/>
                <a:sym typeface="Poppins Bold"/>
              </a:rPr>
              <a:t>ARQUITECTURA</a:t>
            </a:r>
          </a:p>
        </p:txBody>
      </p:sp>
      <p:sp>
        <p:nvSpPr>
          <p:cNvPr name="Freeform 9" id="9"/>
          <p:cNvSpPr/>
          <p:nvPr/>
        </p:nvSpPr>
        <p:spPr>
          <a:xfrm flipH="false" flipV="false" rot="0">
            <a:off x="3310410" y="3409818"/>
            <a:ext cx="400402" cy="403428"/>
          </a:xfrm>
          <a:custGeom>
            <a:avLst/>
            <a:gdLst/>
            <a:ahLst/>
            <a:cxnLst/>
            <a:rect r="r" b="b" t="t" l="l"/>
            <a:pathLst>
              <a:path h="403428" w="400402">
                <a:moveTo>
                  <a:pt x="0" y="0"/>
                </a:moveTo>
                <a:lnTo>
                  <a:pt x="400402" y="0"/>
                </a:lnTo>
                <a:lnTo>
                  <a:pt x="400402" y="403428"/>
                </a:lnTo>
                <a:lnTo>
                  <a:pt x="0" y="403428"/>
                </a:lnTo>
                <a:lnTo>
                  <a:pt x="0" y="0"/>
                </a:lnTo>
                <a:close/>
              </a:path>
            </a:pathLst>
          </a:custGeom>
          <a:blipFill>
            <a:blip r:embed="rId4"/>
            <a:stretch>
              <a:fillRect l="0" t="0" r="0" b="0"/>
            </a:stretch>
          </a:blipFill>
        </p:spPr>
      </p:sp>
      <p:sp>
        <p:nvSpPr>
          <p:cNvPr name="Freeform 10" id="10"/>
          <p:cNvSpPr/>
          <p:nvPr/>
        </p:nvSpPr>
        <p:spPr>
          <a:xfrm flipH="false" flipV="false" rot="0">
            <a:off x="3122278" y="7071600"/>
            <a:ext cx="376264" cy="379108"/>
          </a:xfrm>
          <a:custGeom>
            <a:avLst/>
            <a:gdLst/>
            <a:ahLst/>
            <a:cxnLst/>
            <a:rect r="r" b="b" t="t" l="l"/>
            <a:pathLst>
              <a:path h="379108" w="376264">
                <a:moveTo>
                  <a:pt x="0" y="0"/>
                </a:moveTo>
                <a:lnTo>
                  <a:pt x="376264" y="0"/>
                </a:lnTo>
                <a:lnTo>
                  <a:pt x="376264" y="379108"/>
                </a:lnTo>
                <a:lnTo>
                  <a:pt x="0" y="379108"/>
                </a:lnTo>
                <a:lnTo>
                  <a:pt x="0" y="0"/>
                </a:lnTo>
                <a:close/>
              </a:path>
            </a:pathLst>
          </a:custGeom>
          <a:blipFill>
            <a:blip r:embed="rId4"/>
            <a:stretch>
              <a:fillRect l="0" t="0" r="0" b="0"/>
            </a:stretch>
          </a:blipFill>
        </p:spPr>
      </p:sp>
      <p:sp>
        <p:nvSpPr>
          <p:cNvPr name="TextBox 11" id="11"/>
          <p:cNvSpPr txBox="true"/>
          <p:nvPr/>
        </p:nvSpPr>
        <p:spPr>
          <a:xfrm rot="0">
            <a:off x="4248089" y="2574444"/>
            <a:ext cx="12107170" cy="422238"/>
          </a:xfrm>
          <a:prstGeom prst="rect">
            <a:avLst/>
          </a:prstGeom>
        </p:spPr>
        <p:txBody>
          <a:bodyPr anchor="t" rtlCol="false" tIns="0" lIns="0" bIns="0" rIns="0">
            <a:spAutoFit/>
          </a:bodyPr>
          <a:lstStyle/>
          <a:p>
            <a:pPr algn="l">
              <a:lnSpc>
                <a:spcPts val="3499"/>
              </a:lnSpc>
              <a:spcBef>
                <a:spcPct val="0"/>
              </a:spcBef>
            </a:pPr>
            <a:r>
              <a:rPr lang="en-US" b="true" sz="2499">
                <a:solidFill>
                  <a:srgbClr val="B88917"/>
                </a:solidFill>
                <a:latin typeface="Lato Bold"/>
                <a:ea typeface="Lato Bold"/>
                <a:cs typeface="Lato Bold"/>
                <a:sym typeface="Lato Bold"/>
              </a:rPr>
              <a:t>Full-Stack Cloud GenAI</a:t>
            </a:r>
          </a:p>
        </p:txBody>
      </p:sp>
      <p:sp>
        <p:nvSpPr>
          <p:cNvPr name="TextBox 12" id="12"/>
          <p:cNvSpPr txBox="true"/>
          <p:nvPr/>
        </p:nvSpPr>
        <p:spPr>
          <a:xfrm rot="0">
            <a:off x="4030658" y="3362193"/>
            <a:ext cx="12271060" cy="3709407"/>
          </a:xfrm>
          <a:prstGeom prst="rect">
            <a:avLst/>
          </a:prstGeom>
        </p:spPr>
        <p:txBody>
          <a:bodyPr anchor="t" rtlCol="false" tIns="0" lIns="0" bIns="0" rIns="0">
            <a:spAutoFit/>
          </a:bodyPr>
          <a:lstStyle/>
          <a:p>
            <a:pPr algn="l">
              <a:lnSpc>
                <a:spcPts val="2940"/>
              </a:lnSpc>
            </a:pPr>
            <a:r>
              <a:rPr lang="en-US" sz="2100">
                <a:solidFill>
                  <a:srgbClr val="B88917"/>
                </a:solidFill>
                <a:latin typeface="Lato"/>
                <a:ea typeface="Lato"/>
                <a:cs typeface="Lato"/>
                <a:sym typeface="Lato"/>
              </a:rPr>
              <a:t>Capa de Presentación (Frontend):</a:t>
            </a:r>
          </a:p>
          <a:p>
            <a:pPr algn="l">
              <a:lnSpc>
                <a:spcPts val="2940"/>
              </a:lnSpc>
            </a:pPr>
            <a:r>
              <a:rPr lang="en-US" sz="2100">
                <a:solidFill>
                  <a:srgbClr val="B88917"/>
                </a:solidFill>
                <a:latin typeface="Lato"/>
                <a:ea typeface="Lato"/>
                <a:cs typeface="Lato"/>
                <a:sym typeface="Lato"/>
              </a:rPr>
              <a:t>Desarrollada con React para garantizar una interfaz reactiva, modular y de alto rendimiento.</a:t>
            </a:r>
          </a:p>
          <a:p>
            <a:pPr algn="l">
              <a:lnSpc>
                <a:spcPts val="2940"/>
              </a:lnSpc>
            </a:pPr>
          </a:p>
          <a:p>
            <a:pPr algn="l" marL="453390" indent="-226695" lvl="1">
              <a:lnSpc>
                <a:spcPts val="2940"/>
              </a:lnSpc>
              <a:buFont typeface="Arial"/>
              <a:buChar char="•"/>
            </a:pPr>
            <a:r>
              <a:rPr lang="en-US" sz="2100">
                <a:solidFill>
                  <a:srgbClr val="B88917"/>
                </a:solidFill>
                <a:latin typeface="Lato"/>
                <a:ea typeface="Lato"/>
                <a:cs typeface="Lato"/>
                <a:sym typeface="Lato"/>
              </a:rPr>
              <a:t>Aplicación Móvil (Adoptantes): Desarrollada en React Native o PWA (Progressive Web App) para permitir el acceso desde dispositivos móviles, facilitando el test de compatibilidad en cualquier lugar.</a:t>
            </a:r>
          </a:p>
          <a:p>
            <a:pPr algn="l">
              <a:lnSpc>
                <a:spcPts val="2940"/>
              </a:lnSpc>
            </a:pPr>
          </a:p>
          <a:p>
            <a:pPr algn="l" marL="453390" indent="-226695" lvl="1">
              <a:lnSpc>
                <a:spcPts val="2940"/>
              </a:lnSpc>
              <a:buFont typeface="Arial"/>
              <a:buChar char="•"/>
            </a:pPr>
            <a:r>
              <a:rPr lang="en-US" sz="2100">
                <a:solidFill>
                  <a:srgbClr val="B88917"/>
                </a:solidFill>
                <a:latin typeface="Lato"/>
                <a:ea typeface="Lato"/>
                <a:cs typeface="Lato"/>
                <a:sym typeface="Lato"/>
              </a:rPr>
              <a:t>Plataforma Web (Refugios): Interfaz de escritorio en React diseñada para la gestión masiva de datos, visualización de métricas y administración del inventario de mascotas.</a:t>
            </a:r>
          </a:p>
          <a:p>
            <a:pPr algn="l">
              <a:lnSpc>
                <a:spcPts val="2940"/>
              </a:lnSpc>
            </a:pPr>
          </a:p>
          <a:p>
            <a:pPr algn="l">
              <a:lnSpc>
                <a:spcPts val="2940"/>
              </a:lnSpc>
            </a:pPr>
          </a:p>
        </p:txBody>
      </p:sp>
      <p:sp>
        <p:nvSpPr>
          <p:cNvPr name="Freeform 13" id="13"/>
          <p:cNvSpPr/>
          <p:nvPr/>
        </p:nvSpPr>
        <p:spPr>
          <a:xfrm flipH="false" flipV="false" rot="0">
            <a:off x="3299817" y="4886657"/>
            <a:ext cx="393630" cy="396605"/>
          </a:xfrm>
          <a:custGeom>
            <a:avLst/>
            <a:gdLst/>
            <a:ahLst/>
            <a:cxnLst/>
            <a:rect r="r" b="b" t="t" l="l"/>
            <a:pathLst>
              <a:path h="396605" w="393630">
                <a:moveTo>
                  <a:pt x="0" y="0"/>
                </a:moveTo>
                <a:lnTo>
                  <a:pt x="393630" y="0"/>
                </a:lnTo>
                <a:lnTo>
                  <a:pt x="393630" y="396604"/>
                </a:lnTo>
                <a:lnTo>
                  <a:pt x="0" y="396604"/>
                </a:lnTo>
                <a:lnTo>
                  <a:pt x="0" y="0"/>
                </a:lnTo>
                <a:close/>
              </a:path>
            </a:pathLst>
          </a:custGeom>
          <a:blipFill>
            <a:blip r:embed="rId4"/>
            <a:stretch>
              <a:fillRect l="0" t="0" r="0" b="0"/>
            </a:stretch>
          </a:blipFill>
        </p:spPr>
      </p:sp>
      <p:sp>
        <p:nvSpPr>
          <p:cNvPr name="TextBox 14" id="14"/>
          <p:cNvSpPr txBox="true"/>
          <p:nvPr/>
        </p:nvSpPr>
        <p:spPr>
          <a:xfrm rot="0">
            <a:off x="4030658" y="6906056"/>
            <a:ext cx="12107170" cy="2966383"/>
          </a:xfrm>
          <a:prstGeom prst="rect">
            <a:avLst/>
          </a:prstGeom>
        </p:spPr>
        <p:txBody>
          <a:bodyPr anchor="t" rtlCol="false" tIns="0" lIns="0" bIns="0" rIns="0">
            <a:spAutoFit/>
          </a:bodyPr>
          <a:lstStyle/>
          <a:p>
            <a:pPr algn="l">
              <a:lnSpc>
                <a:spcPts val="2940"/>
              </a:lnSpc>
            </a:pPr>
            <a:r>
              <a:rPr lang="en-US" sz="2100" b="true">
                <a:solidFill>
                  <a:srgbClr val="B88917"/>
                </a:solidFill>
                <a:latin typeface="Lato Bold"/>
                <a:ea typeface="Lato Bold"/>
                <a:cs typeface="Lato Bold"/>
                <a:sym typeface="Lato Bold"/>
              </a:rPr>
              <a:t>Capa de Lógica y Servicios (Backend &amp; Serverless):</a:t>
            </a:r>
          </a:p>
          <a:p>
            <a:pPr algn="l" marL="453390" indent="-226695" lvl="1">
              <a:lnSpc>
                <a:spcPts val="2940"/>
              </a:lnSpc>
              <a:buFont typeface="Arial"/>
              <a:buChar char="•"/>
            </a:pPr>
            <a:r>
              <a:rPr lang="en-US" sz="2100">
                <a:solidFill>
                  <a:srgbClr val="B88917"/>
                </a:solidFill>
                <a:latin typeface="Lato"/>
                <a:ea typeface="Lato"/>
                <a:cs typeface="Lato"/>
                <a:sym typeface="Lato"/>
              </a:rPr>
              <a:t>Firebase Functions (Logic): Microservicios en Node.js que actúan como puente entre el Frontend y el motor de IA. Gestionan las reglas de negocio y las llamadas a la API.</a:t>
            </a:r>
          </a:p>
          <a:p>
            <a:pPr algn="l" marL="453390" indent="-226695" lvl="1">
              <a:lnSpc>
                <a:spcPts val="2940"/>
              </a:lnSpc>
              <a:buFont typeface="Arial"/>
              <a:buChar char="•"/>
            </a:pPr>
            <a:r>
              <a:rPr lang="en-US" sz="2100">
                <a:solidFill>
                  <a:srgbClr val="B88917"/>
                </a:solidFill>
                <a:latin typeface="Lato"/>
                <a:ea typeface="Lato"/>
                <a:cs typeface="Lato"/>
                <a:sym typeface="Lato"/>
              </a:rPr>
              <a:t>Firebase Auth: Sistema de autenticación robusto para gestionar el acceso seguro de adoptantes y administradores de refugios (RUT y credenciales).</a:t>
            </a:r>
          </a:p>
          <a:p>
            <a:pPr algn="l" marL="453390" indent="-226695" lvl="1">
              <a:lnSpc>
                <a:spcPts val="2940"/>
              </a:lnSpc>
              <a:spcBef>
                <a:spcPct val="0"/>
              </a:spcBef>
              <a:buFont typeface="Arial"/>
              <a:buChar char="•"/>
            </a:pPr>
            <a:r>
              <a:rPr lang="en-US" sz="2100">
                <a:solidFill>
                  <a:srgbClr val="B88917"/>
                </a:solidFill>
                <a:latin typeface="Lato"/>
                <a:ea typeface="Lato"/>
                <a:cs typeface="Lato"/>
                <a:sym typeface="Lato"/>
              </a:rPr>
              <a:t>Framework Antigravity: Actúa como el orquestador de los LLMs, permitiendo la gestión de "prompts" complejos y el encadenamiento de tareas de razonamiento.</a:t>
            </a:r>
          </a:p>
          <a:p>
            <a:pPr algn="l">
              <a:lnSpc>
                <a:spcPts val="2940"/>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B88917"/>
        </a:solidFill>
      </p:bgPr>
    </p:bg>
    <p:spTree>
      <p:nvGrpSpPr>
        <p:cNvPr id="1" name=""/>
        <p:cNvGrpSpPr/>
        <p:nvPr/>
      </p:nvGrpSpPr>
      <p:grpSpPr>
        <a:xfrm>
          <a:off x="0" y="0"/>
          <a:ext cx="0" cy="0"/>
          <a:chOff x="0" y="0"/>
          <a:chExt cx="0" cy="0"/>
        </a:xfrm>
      </p:grpSpPr>
      <p:grpSp>
        <p:nvGrpSpPr>
          <p:cNvPr name="Group 2" id="2"/>
          <p:cNvGrpSpPr/>
          <p:nvPr/>
        </p:nvGrpSpPr>
        <p:grpSpPr>
          <a:xfrm rot="0">
            <a:off x="18240375" y="0"/>
            <a:ext cx="47625" cy="10287000"/>
            <a:chOff x="0" y="0"/>
            <a:chExt cx="6554" cy="1415652"/>
          </a:xfrm>
        </p:grpSpPr>
        <p:sp>
          <p:nvSpPr>
            <p:cNvPr name="Freeform 3" id="3"/>
            <p:cNvSpPr/>
            <p:nvPr/>
          </p:nvSpPr>
          <p:spPr>
            <a:xfrm flipH="false" flipV="false" rot="0">
              <a:off x="0" y="0"/>
              <a:ext cx="6554" cy="1415652"/>
            </a:xfrm>
            <a:custGeom>
              <a:avLst/>
              <a:gdLst/>
              <a:ahLst/>
              <a:cxnLst/>
              <a:rect r="r" b="b" t="t" l="l"/>
              <a:pathLst>
                <a:path h="1415652" w="6554">
                  <a:moveTo>
                    <a:pt x="0" y="0"/>
                  </a:moveTo>
                  <a:lnTo>
                    <a:pt x="6554" y="0"/>
                  </a:lnTo>
                  <a:lnTo>
                    <a:pt x="6554" y="1415652"/>
                  </a:lnTo>
                  <a:lnTo>
                    <a:pt x="0" y="1415652"/>
                  </a:lnTo>
                  <a:close/>
                </a:path>
              </a:pathLst>
            </a:custGeom>
            <a:blipFill>
              <a:blip r:embed="rId2"/>
              <a:stretch>
                <a:fillRect l="-9710965" t="0" r="-22012654" b="42584"/>
              </a:stretch>
            </a:blipFill>
            <a:ln cap="sq">
              <a:noFill/>
              <a:prstDash val="solid"/>
              <a:miter/>
            </a:ln>
          </p:spPr>
        </p:sp>
      </p:grpSp>
      <p:sp>
        <p:nvSpPr>
          <p:cNvPr name="Freeform 4" id="4"/>
          <p:cNvSpPr/>
          <p:nvPr/>
        </p:nvSpPr>
        <p:spPr>
          <a:xfrm flipH="true" flipV="false" rot="6626729">
            <a:off x="-8344185" y="1455172"/>
            <a:ext cx="12221289" cy="8822969"/>
          </a:xfrm>
          <a:custGeom>
            <a:avLst/>
            <a:gdLst/>
            <a:ahLst/>
            <a:cxnLst/>
            <a:rect r="r" b="b" t="t" l="l"/>
            <a:pathLst>
              <a:path h="8822969" w="12221289">
                <a:moveTo>
                  <a:pt x="12221289" y="0"/>
                </a:moveTo>
                <a:lnTo>
                  <a:pt x="0" y="0"/>
                </a:lnTo>
                <a:lnTo>
                  <a:pt x="0" y="8822969"/>
                </a:lnTo>
                <a:lnTo>
                  <a:pt x="12221289" y="8822969"/>
                </a:lnTo>
                <a:lnTo>
                  <a:pt x="12221289" y="0"/>
                </a:lnTo>
                <a:close/>
              </a:path>
            </a:pathLst>
          </a:custGeom>
          <a:blipFill>
            <a:blip r:embed="rId3"/>
            <a:stretch>
              <a:fillRect l="0" t="0" r="0" b="0"/>
            </a:stretch>
          </a:blipFill>
        </p:spPr>
      </p:sp>
      <p:sp>
        <p:nvSpPr>
          <p:cNvPr name="Freeform 5" id="5"/>
          <p:cNvSpPr/>
          <p:nvPr/>
        </p:nvSpPr>
        <p:spPr>
          <a:xfrm flipH="false" flipV="false" rot="0">
            <a:off x="2230978" y="2728891"/>
            <a:ext cx="14085728" cy="3274932"/>
          </a:xfrm>
          <a:custGeom>
            <a:avLst/>
            <a:gdLst/>
            <a:ahLst/>
            <a:cxnLst/>
            <a:rect r="r" b="b" t="t" l="l"/>
            <a:pathLst>
              <a:path h="3274932" w="14085728">
                <a:moveTo>
                  <a:pt x="0" y="0"/>
                </a:moveTo>
                <a:lnTo>
                  <a:pt x="14085728" y="0"/>
                </a:lnTo>
                <a:lnTo>
                  <a:pt x="14085728" y="3274932"/>
                </a:lnTo>
                <a:lnTo>
                  <a:pt x="0" y="3274932"/>
                </a:lnTo>
                <a:lnTo>
                  <a:pt x="0" y="0"/>
                </a:lnTo>
                <a:close/>
              </a:path>
            </a:pathLst>
          </a:custGeom>
          <a:blipFill>
            <a:blip r:embed="rId4"/>
            <a:stretch>
              <a:fillRect l="0" t="0" r="0" b="0"/>
            </a:stretch>
          </a:blipFill>
        </p:spPr>
      </p:sp>
      <p:sp>
        <p:nvSpPr>
          <p:cNvPr name="TextBox 6" id="6"/>
          <p:cNvSpPr txBox="true"/>
          <p:nvPr/>
        </p:nvSpPr>
        <p:spPr>
          <a:xfrm rot="0">
            <a:off x="4454285" y="810306"/>
            <a:ext cx="8700580" cy="831850"/>
          </a:xfrm>
          <a:prstGeom prst="rect">
            <a:avLst/>
          </a:prstGeom>
        </p:spPr>
        <p:txBody>
          <a:bodyPr anchor="t" rtlCol="false" tIns="0" lIns="0" bIns="0" rIns="0">
            <a:spAutoFit/>
          </a:bodyPr>
          <a:lstStyle/>
          <a:p>
            <a:pPr algn="ctr">
              <a:lnSpc>
                <a:spcPts val="6049"/>
              </a:lnSpc>
            </a:pPr>
            <a:r>
              <a:rPr lang="en-US" b="true" sz="5499">
                <a:solidFill>
                  <a:srgbClr val="FFFFFF"/>
                </a:solidFill>
                <a:latin typeface="Poppins Bold"/>
                <a:ea typeface="Poppins Bold"/>
                <a:cs typeface="Poppins Bold"/>
                <a:sym typeface="Poppins Bold"/>
              </a:rPr>
              <a:t>ARQUITECTURA</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E7AA51">
                <a:alpha val="100000"/>
              </a:srgbClr>
            </a:gs>
            <a:gs pos="25000">
              <a:srgbClr val="FFE499">
                <a:alpha val="100000"/>
              </a:srgbClr>
            </a:gs>
            <a:gs pos="50000">
              <a:srgbClr val="8D5A1B">
                <a:alpha val="100000"/>
              </a:srgbClr>
            </a:gs>
            <a:gs pos="75000">
              <a:srgbClr val="E7AA51">
                <a:alpha val="100000"/>
              </a:srgbClr>
            </a:gs>
            <a:gs pos="100000">
              <a:srgbClr val="AC7031">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1677978" y="1028700"/>
            <a:ext cx="16099765" cy="8677151"/>
            <a:chOff x="0" y="0"/>
            <a:chExt cx="4240267" cy="2285340"/>
          </a:xfrm>
        </p:grpSpPr>
        <p:sp>
          <p:nvSpPr>
            <p:cNvPr name="Freeform 3" id="3"/>
            <p:cNvSpPr/>
            <p:nvPr/>
          </p:nvSpPr>
          <p:spPr>
            <a:xfrm flipH="false" flipV="false" rot="0">
              <a:off x="0" y="0"/>
              <a:ext cx="4240268" cy="2285340"/>
            </a:xfrm>
            <a:custGeom>
              <a:avLst/>
              <a:gdLst/>
              <a:ahLst/>
              <a:cxnLst/>
              <a:rect r="r" b="b" t="t" l="l"/>
              <a:pathLst>
                <a:path h="2285340" w="4240268">
                  <a:moveTo>
                    <a:pt x="9617" y="0"/>
                  </a:moveTo>
                  <a:lnTo>
                    <a:pt x="4230650" y="0"/>
                  </a:lnTo>
                  <a:cubicBezTo>
                    <a:pt x="4233201" y="0"/>
                    <a:pt x="4235647" y="1013"/>
                    <a:pt x="4237451" y="2817"/>
                  </a:cubicBezTo>
                  <a:cubicBezTo>
                    <a:pt x="4239254" y="4620"/>
                    <a:pt x="4240268" y="7067"/>
                    <a:pt x="4240268" y="9617"/>
                  </a:cubicBezTo>
                  <a:lnTo>
                    <a:pt x="4240268" y="2275723"/>
                  </a:lnTo>
                  <a:cubicBezTo>
                    <a:pt x="4240268" y="2281034"/>
                    <a:pt x="4235962" y="2285340"/>
                    <a:pt x="4230650" y="2285340"/>
                  </a:cubicBezTo>
                  <a:lnTo>
                    <a:pt x="9617" y="2285340"/>
                  </a:lnTo>
                  <a:cubicBezTo>
                    <a:pt x="4306" y="2285340"/>
                    <a:pt x="0" y="2281034"/>
                    <a:pt x="0" y="2275723"/>
                  </a:cubicBezTo>
                  <a:lnTo>
                    <a:pt x="0" y="9617"/>
                  </a:lnTo>
                  <a:cubicBezTo>
                    <a:pt x="0" y="4306"/>
                    <a:pt x="4306" y="0"/>
                    <a:pt x="9617" y="0"/>
                  </a:cubicBezTo>
                  <a:close/>
                </a:path>
              </a:pathLst>
            </a:custGeom>
            <a:solidFill>
              <a:srgbClr val="B88917"/>
            </a:solidFill>
            <a:ln w="38100" cap="sq">
              <a:gradFill>
                <a:gsLst>
                  <a:gs pos="0">
                    <a:srgbClr val="013E6A">
                      <a:alpha val="100000"/>
                    </a:srgbClr>
                  </a:gs>
                  <a:gs pos="25000">
                    <a:srgbClr val="43D1FF">
                      <a:alpha val="100000"/>
                    </a:srgbClr>
                  </a:gs>
                  <a:gs pos="50000">
                    <a:srgbClr val="013E6A">
                      <a:alpha val="100000"/>
                    </a:srgbClr>
                  </a:gs>
                  <a:gs pos="75000">
                    <a:srgbClr val="419AD6">
                      <a:alpha val="100000"/>
                    </a:srgbClr>
                  </a:gs>
                  <a:gs pos="100000">
                    <a:srgbClr val="01186A">
                      <a:alpha val="100000"/>
                    </a:srgbClr>
                  </a:gs>
                </a:gsLst>
                <a:lin ang="5400000"/>
              </a:gradFill>
              <a:prstDash val="solid"/>
              <a:miter/>
            </a:ln>
          </p:spPr>
        </p:sp>
        <p:sp>
          <p:nvSpPr>
            <p:cNvPr name="TextBox 4" id="4"/>
            <p:cNvSpPr txBox="true"/>
            <p:nvPr/>
          </p:nvSpPr>
          <p:spPr>
            <a:xfrm>
              <a:off x="0" y="-38100"/>
              <a:ext cx="4240267" cy="2323440"/>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4470920" y="1338020"/>
            <a:ext cx="10218709" cy="852095"/>
          </a:xfrm>
          <a:prstGeom prst="rect">
            <a:avLst/>
          </a:prstGeom>
        </p:spPr>
        <p:txBody>
          <a:bodyPr anchor="t" rtlCol="false" tIns="0" lIns="0" bIns="0" rIns="0">
            <a:spAutoFit/>
          </a:bodyPr>
          <a:lstStyle/>
          <a:p>
            <a:pPr algn="ctr">
              <a:lnSpc>
                <a:spcPts val="6159"/>
              </a:lnSpc>
            </a:pPr>
            <a:r>
              <a:rPr lang="en-US" b="true" sz="5599">
                <a:solidFill>
                  <a:srgbClr val="FFFFFF"/>
                </a:solidFill>
                <a:latin typeface="Poppins Bold"/>
                <a:ea typeface="Poppins Bold"/>
                <a:cs typeface="Poppins Bold"/>
                <a:sym typeface="Poppins Bold"/>
              </a:rPr>
              <a:t>METODOLOGÍA CASCADA </a:t>
            </a:r>
          </a:p>
        </p:txBody>
      </p:sp>
      <p:sp>
        <p:nvSpPr>
          <p:cNvPr name="Freeform 6" id="6"/>
          <p:cNvSpPr/>
          <p:nvPr/>
        </p:nvSpPr>
        <p:spPr>
          <a:xfrm flipH="false" flipV="false" rot="0">
            <a:off x="8143153" y="2852061"/>
            <a:ext cx="299146" cy="301407"/>
          </a:xfrm>
          <a:custGeom>
            <a:avLst/>
            <a:gdLst/>
            <a:ahLst/>
            <a:cxnLst/>
            <a:rect r="r" b="b" t="t" l="l"/>
            <a:pathLst>
              <a:path h="301407" w="299146">
                <a:moveTo>
                  <a:pt x="0" y="0"/>
                </a:moveTo>
                <a:lnTo>
                  <a:pt x="299146" y="0"/>
                </a:lnTo>
                <a:lnTo>
                  <a:pt x="299146" y="301407"/>
                </a:lnTo>
                <a:lnTo>
                  <a:pt x="0" y="301407"/>
                </a:lnTo>
                <a:lnTo>
                  <a:pt x="0" y="0"/>
                </a:lnTo>
                <a:close/>
              </a:path>
            </a:pathLst>
          </a:custGeom>
          <a:blipFill>
            <a:blip r:embed="rId2"/>
            <a:stretch>
              <a:fillRect l="0" t="0" r="0" b="0"/>
            </a:stretch>
          </a:blipFill>
        </p:spPr>
      </p:sp>
      <p:sp>
        <p:nvSpPr>
          <p:cNvPr name="Freeform 7" id="7"/>
          <p:cNvSpPr/>
          <p:nvPr/>
        </p:nvSpPr>
        <p:spPr>
          <a:xfrm flipH="false" flipV="false" rot="0">
            <a:off x="8143153" y="4016799"/>
            <a:ext cx="299146" cy="301407"/>
          </a:xfrm>
          <a:custGeom>
            <a:avLst/>
            <a:gdLst/>
            <a:ahLst/>
            <a:cxnLst/>
            <a:rect r="r" b="b" t="t" l="l"/>
            <a:pathLst>
              <a:path h="301407" w="299146">
                <a:moveTo>
                  <a:pt x="0" y="0"/>
                </a:moveTo>
                <a:lnTo>
                  <a:pt x="299146" y="0"/>
                </a:lnTo>
                <a:lnTo>
                  <a:pt x="299146" y="301407"/>
                </a:lnTo>
                <a:lnTo>
                  <a:pt x="0" y="301407"/>
                </a:lnTo>
                <a:lnTo>
                  <a:pt x="0" y="0"/>
                </a:lnTo>
                <a:close/>
              </a:path>
            </a:pathLst>
          </a:custGeom>
          <a:blipFill>
            <a:blip r:embed="rId2"/>
            <a:stretch>
              <a:fillRect l="0" t="0" r="0" b="0"/>
            </a:stretch>
          </a:blipFill>
        </p:spPr>
      </p:sp>
      <p:sp>
        <p:nvSpPr>
          <p:cNvPr name="Freeform 8" id="8"/>
          <p:cNvSpPr/>
          <p:nvPr/>
        </p:nvSpPr>
        <p:spPr>
          <a:xfrm flipH="false" flipV="false" rot="0">
            <a:off x="8143153" y="5547564"/>
            <a:ext cx="299146" cy="301407"/>
          </a:xfrm>
          <a:custGeom>
            <a:avLst/>
            <a:gdLst/>
            <a:ahLst/>
            <a:cxnLst/>
            <a:rect r="r" b="b" t="t" l="l"/>
            <a:pathLst>
              <a:path h="301407" w="299146">
                <a:moveTo>
                  <a:pt x="0" y="0"/>
                </a:moveTo>
                <a:lnTo>
                  <a:pt x="299146" y="0"/>
                </a:lnTo>
                <a:lnTo>
                  <a:pt x="299146" y="301407"/>
                </a:lnTo>
                <a:lnTo>
                  <a:pt x="0" y="301407"/>
                </a:lnTo>
                <a:lnTo>
                  <a:pt x="0" y="0"/>
                </a:lnTo>
                <a:close/>
              </a:path>
            </a:pathLst>
          </a:custGeom>
          <a:blipFill>
            <a:blip r:embed="rId2"/>
            <a:stretch>
              <a:fillRect l="0" t="0" r="0" b="0"/>
            </a:stretch>
          </a:blipFill>
        </p:spPr>
      </p:sp>
      <p:sp>
        <p:nvSpPr>
          <p:cNvPr name="Freeform 9" id="9"/>
          <p:cNvSpPr/>
          <p:nvPr/>
        </p:nvSpPr>
        <p:spPr>
          <a:xfrm flipH="false" flipV="false" rot="10435729">
            <a:off x="-1732956" y="-4114800"/>
            <a:ext cx="7674102" cy="8229600"/>
          </a:xfrm>
          <a:custGeom>
            <a:avLst/>
            <a:gdLst/>
            <a:ahLst/>
            <a:cxnLst/>
            <a:rect r="r" b="b" t="t" l="l"/>
            <a:pathLst>
              <a:path h="8229600" w="7674102">
                <a:moveTo>
                  <a:pt x="0" y="0"/>
                </a:moveTo>
                <a:lnTo>
                  <a:pt x="7674102" y="0"/>
                </a:lnTo>
                <a:lnTo>
                  <a:pt x="7674102" y="8229600"/>
                </a:lnTo>
                <a:lnTo>
                  <a:pt x="0" y="8229600"/>
                </a:lnTo>
                <a:lnTo>
                  <a:pt x="0" y="0"/>
                </a:lnTo>
                <a:close/>
              </a:path>
            </a:pathLst>
          </a:custGeom>
          <a:blipFill>
            <a:blip r:embed="rId3"/>
            <a:stretch>
              <a:fillRect l="0" t="0" r="0" b="0"/>
            </a:stretch>
          </a:blipFill>
        </p:spPr>
      </p:sp>
      <p:sp>
        <p:nvSpPr>
          <p:cNvPr name="Freeform 10" id="10"/>
          <p:cNvSpPr/>
          <p:nvPr/>
        </p:nvSpPr>
        <p:spPr>
          <a:xfrm flipH="false" flipV="false" rot="0">
            <a:off x="8143153" y="7420608"/>
            <a:ext cx="299146" cy="301407"/>
          </a:xfrm>
          <a:custGeom>
            <a:avLst/>
            <a:gdLst/>
            <a:ahLst/>
            <a:cxnLst/>
            <a:rect r="r" b="b" t="t" l="l"/>
            <a:pathLst>
              <a:path h="301407" w="299146">
                <a:moveTo>
                  <a:pt x="0" y="0"/>
                </a:moveTo>
                <a:lnTo>
                  <a:pt x="299146" y="0"/>
                </a:lnTo>
                <a:lnTo>
                  <a:pt x="299146" y="301407"/>
                </a:lnTo>
                <a:lnTo>
                  <a:pt x="0" y="301407"/>
                </a:lnTo>
                <a:lnTo>
                  <a:pt x="0" y="0"/>
                </a:lnTo>
                <a:close/>
              </a:path>
            </a:pathLst>
          </a:custGeom>
          <a:blipFill>
            <a:blip r:embed="rId2"/>
            <a:stretch>
              <a:fillRect l="0" t="0" r="0" b="0"/>
            </a:stretch>
          </a:blipFill>
        </p:spPr>
      </p:sp>
      <p:sp>
        <p:nvSpPr>
          <p:cNvPr name="Freeform 11" id="11"/>
          <p:cNvSpPr/>
          <p:nvPr/>
        </p:nvSpPr>
        <p:spPr>
          <a:xfrm flipH="false" flipV="false" rot="0">
            <a:off x="2104095" y="4318206"/>
            <a:ext cx="5557732" cy="3102402"/>
          </a:xfrm>
          <a:custGeom>
            <a:avLst/>
            <a:gdLst/>
            <a:ahLst/>
            <a:cxnLst/>
            <a:rect r="r" b="b" t="t" l="l"/>
            <a:pathLst>
              <a:path h="3102402" w="5557732">
                <a:moveTo>
                  <a:pt x="0" y="0"/>
                </a:moveTo>
                <a:lnTo>
                  <a:pt x="5557731" y="0"/>
                </a:lnTo>
                <a:lnTo>
                  <a:pt x="5557731" y="3102402"/>
                </a:lnTo>
                <a:lnTo>
                  <a:pt x="0" y="3102402"/>
                </a:lnTo>
                <a:lnTo>
                  <a:pt x="0" y="0"/>
                </a:lnTo>
                <a:close/>
              </a:path>
            </a:pathLst>
          </a:custGeom>
          <a:blipFill>
            <a:blip r:embed="rId4"/>
            <a:stretch>
              <a:fillRect l="0" t="0" r="0" b="0"/>
            </a:stretch>
          </a:blipFill>
        </p:spPr>
      </p:sp>
      <p:sp>
        <p:nvSpPr>
          <p:cNvPr name="TextBox 12" id="12"/>
          <p:cNvSpPr txBox="true"/>
          <p:nvPr/>
        </p:nvSpPr>
        <p:spPr>
          <a:xfrm rot="0">
            <a:off x="8707263" y="2686708"/>
            <a:ext cx="8469503" cy="5975494"/>
          </a:xfrm>
          <a:prstGeom prst="rect">
            <a:avLst/>
          </a:prstGeom>
        </p:spPr>
        <p:txBody>
          <a:bodyPr anchor="t" rtlCol="false" tIns="0" lIns="0" bIns="0" rIns="0">
            <a:spAutoFit/>
          </a:bodyPr>
          <a:lstStyle/>
          <a:p>
            <a:pPr algn="l">
              <a:lnSpc>
                <a:spcPts val="2520"/>
              </a:lnSpc>
            </a:pPr>
            <a:r>
              <a:rPr lang="en-US" sz="1800">
                <a:solidFill>
                  <a:srgbClr val="FFFFFF"/>
                </a:solidFill>
                <a:latin typeface="Lato"/>
                <a:ea typeface="Lato"/>
                <a:cs typeface="Lato"/>
                <a:sym typeface="Lato"/>
              </a:rPr>
              <a:t>Disciplina y Control de Etapas: Al ser la única responsable del proyecto, la estructura secuencial esta metodología  facilita el seguimiento del progreso sin las complejidades de gestionar múltiples iteraciones simultáneas. </a:t>
            </a:r>
          </a:p>
          <a:p>
            <a:pPr algn="l">
              <a:lnSpc>
                <a:spcPts val="2520"/>
              </a:lnSpc>
            </a:pPr>
          </a:p>
          <a:p>
            <a:pPr algn="l">
              <a:lnSpc>
                <a:spcPts val="2520"/>
              </a:lnSpc>
            </a:pPr>
            <a:r>
              <a:rPr lang="en-US" sz="1800">
                <a:solidFill>
                  <a:srgbClr val="FFFFFF"/>
                </a:solidFill>
                <a:latin typeface="Lato"/>
                <a:ea typeface="Lato"/>
                <a:cs typeface="Lato"/>
                <a:sym typeface="Lato"/>
              </a:rPr>
              <a:t>Claridad en los Entregables: Cada fase genera una evidencia documental clara y finalizada (como el documento de arquitectura o el modelo de datos en Firebase), lo cual es fundamental para cumplir con los hitos evaluativos de la asignatura Capstone de manera ordenada. </a:t>
            </a:r>
          </a:p>
          <a:p>
            <a:pPr algn="l">
              <a:lnSpc>
                <a:spcPts val="2520"/>
              </a:lnSpc>
            </a:pPr>
          </a:p>
          <a:p>
            <a:pPr algn="l">
              <a:lnSpc>
                <a:spcPts val="2520"/>
              </a:lnSpc>
            </a:pPr>
            <a:r>
              <a:rPr lang="en-US" sz="1800">
                <a:solidFill>
                  <a:srgbClr val="FFFFFF"/>
                </a:solidFill>
                <a:latin typeface="Lato"/>
                <a:ea typeface="Lato"/>
                <a:cs typeface="Lato"/>
                <a:sym typeface="Lato"/>
              </a:rPr>
              <a:t>Gestión de Recursos y Tiempo: Dado que el tiempo es un factor limitado (duración del semestre), la cascada permite congelar los requisitos en la Fase 1, evitando el "scope creep" (crecimiento descontrolado del alcance) y asegurando que la fase de codificación en React y Firebase comience sobre una base de diseño sólida y sin ambigüedades. </a:t>
            </a:r>
          </a:p>
          <a:p>
            <a:pPr algn="l">
              <a:lnSpc>
                <a:spcPts val="2520"/>
              </a:lnSpc>
            </a:pPr>
          </a:p>
          <a:p>
            <a:pPr algn="l">
              <a:lnSpc>
                <a:spcPts val="2520"/>
              </a:lnSpc>
              <a:spcBef>
                <a:spcPct val="0"/>
              </a:spcBef>
            </a:pPr>
            <a:r>
              <a:rPr lang="en-US" sz="1800">
                <a:solidFill>
                  <a:srgbClr val="FFFFFF"/>
                </a:solidFill>
                <a:latin typeface="Lato"/>
                <a:ea typeface="Lato"/>
                <a:cs typeface="Lato"/>
                <a:sym typeface="Lato"/>
              </a:rPr>
              <a:t>Simplicidad Operativa: Al no requerir la coordinación constante de un equipo (propia de metodologías ágiles como Scrum), la cascada permite que la planificación de la Carta Gantt sea más precisa, vinculando directamente las competencias del perfil de egreso con actividades específicas y sucesivas.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E7AA51">
                <a:alpha val="100000"/>
              </a:srgbClr>
            </a:gs>
            <a:gs pos="25000">
              <a:srgbClr val="FFE499">
                <a:alpha val="100000"/>
              </a:srgbClr>
            </a:gs>
            <a:gs pos="50000">
              <a:srgbClr val="8D5A1B">
                <a:alpha val="100000"/>
              </a:srgbClr>
            </a:gs>
            <a:gs pos="75000">
              <a:srgbClr val="E7AA51">
                <a:alpha val="100000"/>
              </a:srgbClr>
            </a:gs>
            <a:gs pos="100000">
              <a:srgbClr val="AC7031">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18240375" y="0"/>
            <a:ext cx="47625" cy="10287000"/>
            <a:chOff x="0" y="0"/>
            <a:chExt cx="6554" cy="1415652"/>
          </a:xfrm>
        </p:grpSpPr>
        <p:sp>
          <p:nvSpPr>
            <p:cNvPr name="Freeform 3" id="3"/>
            <p:cNvSpPr/>
            <p:nvPr/>
          </p:nvSpPr>
          <p:spPr>
            <a:xfrm flipH="false" flipV="false" rot="0">
              <a:off x="0" y="0"/>
              <a:ext cx="6554" cy="1415652"/>
            </a:xfrm>
            <a:custGeom>
              <a:avLst/>
              <a:gdLst/>
              <a:ahLst/>
              <a:cxnLst/>
              <a:rect r="r" b="b" t="t" l="l"/>
              <a:pathLst>
                <a:path h="1415652" w="6554">
                  <a:moveTo>
                    <a:pt x="0" y="0"/>
                  </a:moveTo>
                  <a:lnTo>
                    <a:pt x="6554" y="0"/>
                  </a:lnTo>
                  <a:lnTo>
                    <a:pt x="6554" y="1415652"/>
                  </a:lnTo>
                  <a:lnTo>
                    <a:pt x="0" y="1415652"/>
                  </a:lnTo>
                  <a:close/>
                </a:path>
              </a:pathLst>
            </a:custGeom>
            <a:blipFill>
              <a:blip r:embed="rId2"/>
              <a:stretch>
                <a:fillRect l="-9710965" t="0" r="-22012654" b="42584"/>
              </a:stretch>
            </a:blipFill>
            <a:ln cap="sq">
              <a:noFill/>
              <a:prstDash val="solid"/>
              <a:miter/>
            </a:ln>
          </p:spPr>
        </p:sp>
      </p:grpSp>
      <p:sp>
        <p:nvSpPr>
          <p:cNvPr name="Freeform 4" id="4"/>
          <p:cNvSpPr/>
          <p:nvPr/>
        </p:nvSpPr>
        <p:spPr>
          <a:xfrm flipH="true" flipV="false" rot="6626729">
            <a:off x="-8386328" y="2124287"/>
            <a:ext cx="12221289" cy="8822969"/>
          </a:xfrm>
          <a:custGeom>
            <a:avLst/>
            <a:gdLst/>
            <a:ahLst/>
            <a:cxnLst/>
            <a:rect r="r" b="b" t="t" l="l"/>
            <a:pathLst>
              <a:path h="8822969" w="12221289">
                <a:moveTo>
                  <a:pt x="12221289" y="0"/>
                </a:moveTo>
                <a:lnTo>
                  <a:pt x="0" y="0"/>
                </a:lnTo>
                <a:lnTo>
                  <a:pt x="0" y="8822969"/>
                </a:lnTo>
                <a:lnTo>
                  <a:pt x="12221289" y="8822969"/>
                </a:lnTo>
                <a:lnTo>
                  <a:pt x="12221289" y="0"/>
                </a:lnTo>
                <a:close/>
              </a:path>
            </a:pathLst>
          </a:custGeom>
          <a:blipFill>
            <a:blip r:embed="rId3"/>
            <a:stretch>
              <a:fillRect l="0" t="0" r="0" b="0"/>
            </a:stretch>
          </a:blipFill>
        </p:spPr>
      </p:sp>
      <p:sp>
        <p:nvSpPr>
          <p:cNvPr name="Freeform 5" id="5"/>
          <p:cNvSpPr/>
          <p:nvPr/>
        </p:nvSpPr>
        <p:spPr>
          <a:xfrm flipH="false" flipV="false" rot="0">
            <a:off x="2405359" y="2888379"/>
            <a:ext cx="1712905" cy="1712905"/>
          </a:xfrm>
          <a:custGeom>
            <a:avLst/>
            <a:gdLst/>
            <a:ahLst/>
            <a:cxnLst/>
            <a:rect r="r" b="b" t="t" l="l"/>
            <a:pathLst>
              <a:path h="1712905" w="1712905">
                <a:moveTo>
                  <a:pt x="0" y="0"/>
                </a:moveTo>
                <a:lnTo>
                  <a:pt x="1712906" y="0"/>
                </a:lnTo>
                <a:lnTo>
                  <a:pt x="1712906" y="1712906"/>
                </a:lnTo>
                <a:lnTo>
                  <a:pt x="0" y="1712906"/>
                </a:lnTo>
                <a:lnTo>
                  <a:pt x="0" y="0"/>
                </a:lnTo>
                <a:close/>
              </a:path>
            </a:pathLst>
          </a:custGeom>
          <a:blipFill>
            <a:blip r:embed="rId4"/>
            <a:stretch>
              <a:fillRect l="0" t="0" r="0" b="0"/>
            </a:stretch>
          </a:blipFill>
        </p:spPr>
      </p:sp>
      <p:sp>
        <p:nvSpPr>
          <p:cNvPr name="Freeform 6" id="6"/>
          <p:cNvSpPr/>
          <p:nvPr/>
        </p:nvSpPr>
        <p:spPr>
          <a:xfrm flipH="false" flipV="false" rot="0">
            <a:off x="5102471" y="2976711"/>
            <a:ext cx="3086577" cy="1245461"/>
          </a:xfrm>
          <a:custGeom>
            <a:avLst/>
            <a:gdLst/>
            <a:ahLst/>
            <a:cxnLst/>
            <a:rect r="r" b="b" t="t" l="l"/>
            <a:pathLst>
              <a:path h="1245461" w="3086577">
                <a:moveTo>
                  <a:pt x="0" y="0"/>
                </a:moveTo>
                <a:lnTo>
                  <a:pt x="3086577" y="0"/>
                </a:lnTo>
                <a:lnTo>
                  <a:pt x="3086577" y="1245461"/>
                </a:lnTo>
                <a:lnTo>
                  <a:pt x="0" y="1245461"/>
                </a:lnTo>
                <a:lnTo>
                  <a:pt x="0" y="0"/>
                </a:lnTo>
                <a:close/>
              </a:path>
            </a:pathLst>
          </a:custGeom>
          <a:blipFill>
            <a:blip r:embed="rId5"/>
            <a:stretch>
              <a:fillRect l="0" t="0" r="0" b="0"/>
            </a:stretch>
          </a:blipFill>
        </p:spPr>
      </p:sp>
      <p:sp>
        <p:nvSpPr>
          <p:cNvPr name="Freeform 7" id="7"/>
          <p:cNvSpPr/>
          <p:nvPr/>
        </p:nvSpPr>
        <p:spPr>
          <a:xfrm flipH="false" flipV="false" rot="0">
            <a:off x="10134845" y="2976711"/>
            <a:ext cx="3716477" cy="1337932"/>
          </a:xfrm>
          <a:custGeom>
            <a:avLst/>
            <a:gdLst/>
            <a:ahLst/>
            <a:cxnLst/>
            <a:rect r="r" b="b" t="t" l="l"/>
            <a:pathLst>
              <a:path h="1337932" w="3716477">
                <a:moveTo>
                  <a:pt x="0" y="0"/>
                </a:moveTo>
                <a:lnTo>
                  <a:pt x="3716477" y="0"/>
                </a:lnTo>
                <a:lnTo>
                  <a:pt x="3716477" y="1337931"/>
                </a:lnTo>
                <a:lnTo>
                  <a:pt x="0" y="1337931"/>
                </a:lnTo>
                <a:lnTo>
                  <a:pt x="0" y="0"/>
                </a:lnTo>
                <a:close/>
              </a:path>
            </a:pathLst>
          </a:custGeom>
          <a:blipFill>
            <a:blip r:embed="rId6"/>
            <a:stretch>
              <a:fillRect l="0" t="0" r="0" b="0"/>
            </a:stretch>
          </a:blipFill>
        </p:spPr>
      </p:sp>
      <p:sp>
        <p:nvSpPr>
          <p:cNvPr name="Freeform 8" id="8"/>
          <p:cNvSpPr/>
          <p:nvPr/>
        </p:nvSpPr>
        <p:spPr>
          <a:xfrm flipH="false" flipV="false" rot="0">
            <a:off x="14739207" y="6211771"/>
            <a:ext cx="2031434" cy="2031434"/>
          </a:xfrm>
          <a:custGeom>
            <a:avLst/>
            <a:gdLst/>
            <a:ahLst/>
            <a:cxnLst/>
            <a:rect r="r" b="b" t="t" l="l"/>
            <a:pathLst>
              <a:path h="2031434" w="2031434">
                <a:moveTo>
                  <a:pt x="0" y="0"/>
                </a:moveTo>
                <a:lnTo>
                  <a:pt x="2031435" y="0"/>
                </a:lnTo>
                <a:lnTo>
                  <a:pt x="2031435" y="2031434"/>
                </a:lnTo>
                <a:lnTo>
                  <a:pt x="0" y="2031434"/>
                </a:lnTo>
                <a:lnTo>
                  <a:pt x="0" y="0"/>
                </a:lnTo>
                <a:close/>
              </a:path>
            </a:pathLst>
          </a:custGeom>
          <a:blipFill>
            <a:blip r:embed="rId7"/>
            <a:stretch>
              <a:fillRect l="0" t="0" r="0" b="0"/>
            </a:stretch>
          </a:blipFill>
        </p:spPr>
      </p:sp>
      <p:sp>
        <p:nvSpPr>
          <p:cNvPr name="Freeform 9" id="9"/>
          <p:cNvSpPr/>
          <p:nvPr/>
        </p:nvSpPr>
        <p:spPr>
          <a:xfrm flipH="false" flipV="false" rot="0">
            <a:off x="15183314" y="2783142"/>
            <a:ext cx="1725069" cy="1725069"/>
          </a:xfrm>
          <a:custGeom>
            <a:avLst/>
            <a:gdLst/>
            <a:ahLst/>
            <a:cxnLst/>
            <a:rect r="r" b="b" t="t" l="l"/>
            <a:pathLst>
              <a:path h="1725069" w="1725069">
                <a:moveTo>
                  <a:pt x="0" y="0"/>
                </a:moveTo>
                <a:lnTo>
                  <a:pt x="1725069" y="0"/>
                </a:lnTo>
                <a:lnTo>
                  <a:pt x="1725069" y="1725069"/>
                </a:lnTo>
                <a:lnTo>
                  <a:pt x="0" y="1725069"/>
                </a:lnTo>
                <a:lnTo>
                  <a:pt x="0" y="0"/>
                </a:lnTo>
                <a:close/>
              </a:path>
            </a:pathLst>
          </a:custGeom>
          <a:blipFill>
            <a:blip r:embed="rId8"/>
            <a:stretch>
              <a:fillRect l="0" t="0" r="0" b="0"/>
            </a:stretch>
          </a:blipFill>
        </p:spPr>
      </p:sp>
      <p:sp>
        <p:nvSpPr>
          <p:cNvPr name="Freeform 10" id="10"/>
          <p:cNvSpPr/>
          <p:nvPr/>
        </p:nvSpPr>
        <p:spPr>
          <a:xfrm flipH="false" flipV="false" rot="0">
            <a:off x="2938386" y="6278871"/>
            <a:ext cx="2108118" cy="2108118"/>
          </a:xfrm>
          <a:custGeom>
            <a:avLst/>
            <a:gdLst/>
            <a:ahLst/>
            <a:cxnLst/>
            <a:rect r="r" b="b" t="t" l="l"/>
            <a:pathLst>
              <a:path h="2108118" w="2108118">
                <a:moveTo>
                  <a:pt x="0" y="0"/>
                </a:moveTo>
                <a:lnTo>
                  <a:pt x="2108118" y="0"/>
                </a:lnTo>
                <a:lnTo>
                  <a:pt x="2108118" y="2108118"/>
                </a:lnTo>
                <a:lnTo>
                  <a:pt x="0" y="2108118"/>
                </a:lnTo>
                <a:lnTo>
                  <a:pt x="0" y="0"/>
                </a:lnTo>
                <a:close/>
              </a:path>
            </a:pathLst>
          </a:custGeom>
          <a:blipFill>
            <a:blip r:embed="rId9"/>
            <a:stretch>
              <a:fillRect l="0" t="0" r="0" b="0"/>
            </a:stretch>
          </a:blipFill>
        </p:spPr>
      </p:sp>
      <p:sp>
        <p:nvSpPr>
          <p:cNvPr name="Freeform 11" id="11"/>
          <p:cNvSpPr/>
          <p:nvPr/>
        </p:nvSpPr>
        <p:spPr>
          <a:xfrm flipH="false" flipV="false" rot="0">
            <a:off x="6645760" y="6278871"/>
            <a:ext cx="2498240" cy="2166524"/>
          </a:xfrm>
          <a:custGeom>
            <a:avLst/>
            <a:gdLst/>
            <a:ahLst/>
            <a:cxnLst/>
            <a:rect r="r" b="b" t="t" l="l"/>
            <a:pathLst>
              <a:path h="2166524" w="2498240">
                <a:moveTo>
                  <a:pt x="0" y="0"/>
                </a:moveTo>
                <a:lnTo>
                  <a:pt x="2498240" y="0"/>
                </a:lnTo>
                <a:lnTo>
                  <a:pt x="2498240" y="2166523"/>
                </a:lnTo>
                <a:lnTo>
                  <a:pt x="0" y="2166523"/>
                </a:lnTo>
                <a:lnTo>
                  <a:pt x="0" y="0"/>
                </a:lnTo>
                <a:close/>
              </a:path>
            </a:pathLst>
          </a:custGeom>
          <a:blipFill>
            <a:blip r:embed="rId10"/>
            <a:stretch>
              <a:fillRect l="0" t="0" r="0" b="0"/>
            </a:stretch>
          </a:blipFill>
        </p:spPr>
      </p:sp>
      <p:sp>
        <p:nvSpPr>
          <p:cNvPr name="Freeform 12" id="12"/>
          <p:cNvSpPr/>
          <p:nvPr/>
        </p:nvSpPr>
        <p:spPr>
          <a:xfrm flipH="false" flipV="false" rot="0">
            <a:off x="10563540" y="6211771"/>
            <a:ext cx="2424557" cy="2233623"/>
          </a:xfrm>
          <a:custGeom>
            <a:avLst/>
            <a:gdLst/>
            <a:ahLst/>
            <a:cxnLst/>
            <a:rect r="r" b="b" t="t" l="l"/>
            <a:pathLst>
              <a:path h="2233623" w="2424557">
                <a:moveTo>
                  <a:pt x="0" y="0"/>
                </a:moveTo>
                <a:lnTo>
                  <a:pt x="2424557" y="0"/>
                </a:lnTo>
                <a:lnTo>
                  <a:pt x="2424557" y="2233623"/>
                </a:lnTo>
                <a:lnTo>
                  <a:pt x="0" y="2233623"/>
                </a:lnTo>
                <a:lnTo>
                  <a:pt x="0" y="0"/>
                </a:lnTo>
                <a:close/>
              </a:path>
            </a:pathLst>
          </a:custGeom>
          <a:blipFill>
            <a:blip r:embed="rId11"/>
            <a:stretch>
              <a:fillRect l="0" t="0" r="0" b="0"/>
            </a:stretch>
          </a:blipFill>
        </p:spPr>
      </p:sp>
      <p:sp>
        <p:nvSpPr>
          <p:cNvPr name="TextBox 13" id="13"/>
          <p:cNvSpPr txBox="true"/>
          <p:nvPr/>
        </p:nvSpPr>
        <p:spPr>
          <a:xfrm rot="0">
            <a:off x="3111306" y="1028700"/>
            <a:ext cx="12065388" cy="831850"/>
          </a:xfrm>
          <a:prstGeom prst="rect">
            <a:avLst/>
          </a:prstGeom>
        </p:spPr>
        <p:txBody>
          <a:bodyPr anchor="t" rtlCol="false" tIns="0" lIns="0" bIns="0" rIns="0">
            <a:spAutoFit/>
          </a:bodyPr>
          <a:lstStyle/>
          <a:p>
            <a:pPr algn="ctr">
              <a:lnSpc>
                <a:spcPts val="6049"/>
              </a:lnSpc>
            </a:pPr>
            <a:r>
              <a:rPr lang="en-US" b="true" sz="5499">
                <a:solidFill>
                  <a:srgbClr val="000000"/>
                </a:solidFill>
                <a:latin typeface="Poppins Bold"/>
                <a:ea typeface="Poppins Bold"/>
                <a:cs typeface="Poppins Bold"/>
                <a:sym typeface="Poppins Bold"/>
              </a:rPr>
              <a:t>TECNOLOGÍAS Y HERRAMIENTAS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B88917"/>
        </a:solidFill>
      </p:bgPr>
    </p:bg>
    <p:spTree>
      <p:nvGrpSpPr>
        <p:cNvPr id="1" name=""/>
        <p:cNvGrpSpPr/>
        <p:nvPr/>
      </p:nvGrpSpPr>
      <p:grpSpPr>
        <a:xfrm>
          <a:off x="0" y="0"/>
          <a:ext cx="0" cy="0"/>
          <a:chOff x="0" y="0"/>
          <a:chExt cx="0" cy="0"/>
        </a:xfrm>
      </p:grpSpPr>
      <p:grpSp>
        <p:nvGrpSpPr>
          <p:cNvPr name="Group 2" id="2"/>
          <p:cNvGrpSpPr/>
          <p:nvPr/>
        </p:nvGrpSpPr>
        <p:grpSpPr>
          <a:xfrm rot="0">
            <a:off x="18240375" y="0"/>
            <a:ext cx="47625" cy="10287000"/>
            <a:chOff x="0" y="0"/>
            <a:chExt cx="6554" cy="1415652"/>
          </a:xfrm>
        </p:grpSpPr>
        <p:sp>
          <p:nvSpPr>
            <p:cNvPr name="Freeform 3" id="3"/>
            <p:cNvSpPr/>
            <p:nvPr/>
          </p:nvSpPr>
          <p:spPr>
            <a:xfrm flipH="false" flipV="false" rot="0">
              <a:off x="0" y="0"/>
              <a:ext cx="6554" cy="1415652"/>
            </a:xfrm>
            <a:custGeom>
              <a:avLst/>
              <a:gdLst/>
              <a:ahLst/>
              <a:cxnLst/>
              <a:rect r="r" b="b" t="t" l="l"/>
              <a:pathLst>
                <a:path h="1415652" w="6554">
                  <a:moveTo>
                    <a:pt x="0" y="0"/>
                  </a:moveTo>
                  <a:lnTo>
                    <a:pt x="6554" y="0"/>
                  </a:lnTo>
                  <a:lnTo>
                    <a:pt x="6554" y="1415652"/>
                  </a:lnTo>
                  <a:lnTo>
                    <a:pt x="0" y="1415652"/>
                  </a:lnTo>
                  <a:close/>
                </a:path>
              </a:pathLst>
            </a:custGeom>
            <a:blipFill>
              <a:blip r:embed="rId2"/>
              <a:stretch>
                <a:fillRect l="-9710965" t="0" r="-22012654" b="42584"/>
              </a:stretch>
            </a:blipFill>
            <a:ln cap="sq">
              <a:noFill/>
              <a:prstDash val="solid"/>
              <a:miter/>
            </a:ln>
          </p:spPr>
        </p:sp>
      </p:grpSp>
      <p:sp>
        <p:nvSpPr>
          <p:cNvPr name="Freeform 4" id="4"/>
          <p:cNvSpPr/>
          <p:nvPr/>
        </p:nvSpPr>
        <p:spPr>
          <a:xfrm flipH="true" flipV="false" rot="6626729">
            <a:off x="-8130685" y="1817905"/>
            <a:ext cx="12221289" cy="8822969"/>
          </a:xfrm>
          <a:custGeom>
            <a:avLst/>
            <a:gdLst/>
            <a:ahLst/>
            <a:cxnLst/>
            <a:rect r="r" b="b" t="t" l="l"/>
            <a:pathLst>
              <a:path h="8822969" w="12221289">
                <a:moveTo>
                  <a:pt x="12221289" y="0"/>
                </a:moveTo>
                <a:lnTo>
                  <a:pt x="0" y="0"/>
                </a:lnTo>
                <a:lnTo>
                  <a:pt x="0" y="8822968"/>
                </a:lnTo>
                <a:lnTo>
                  <a:pt x="12221289" y="8822968"/>
                </a:lnTo>
                <a:lnTo>
                  <a:pt x="12221289" y="0"/>
                </a:lnTo>
                <a:close/>
              </a:path>
            </a:pathLst>
          </a:custGeom>
          <a:blipFill>
            <a:blip r:embed="rId3"/>
            <a:stretch>
              <a:fillRect l="0" t="0" r="0" b="0"/>
            </a:stretch>
          </a:blipFill>
        </p:spPr>
      </p:sp>
      <p:sp>
        <p:nvSpPr>
          <p:cNvPr name="Freeform 5" id="5"/>
          <p:cNvSpPr/>
          <p:nvPr/>
        </p:nvSpPr>
        <p:spPr>
          <a:xfrm flipH="false" flipV="false" rot="0">
            <a:off x="2504195" y="2049653"/>
            <a:ext cx="12672499" cy="7793587"/>
          </a:xfrm>
          <a:custGeom>
            <a:avLst/>
            <a:gdLst/>
            <a:ahLst/>
            <a:cxnLst/>
            <a:rect r="r" b="b" t="t" l="l"/>
            <a:pathLst>
              <a:path h="7793587" w="12672499">
                <a:moveTo>
                  <a:pt x="0" y="0"/>
                </a:moveTo>
                <a:lnTo>
                  <a:pt x="12672499" y="0"/>
                </a:lnTo>
                <a:lnTo>
                  <a:pt x="12672499" y="7793586"/>
                </a:lnTo>
                <a:lnTo>
                  <a:pt x="0" y="7793586"/>
                </a:lnTo>
                <a:lnTo>
                  <a:pt x="0" y="0"/>
                </a:lnTo>
                <a:close/>
              </a:path>
            </a:pathLst>
          </a:custGeom>
          <a:blipFill>
            <a:blip r:embed="rId4"/>
            <a:stretch>
              <a:fillRect l="0" t="0" r="0" b="0"/>
            </a:stretch>
          </a:blipFill>
        </p:spPr>
      </p:sp>
      <p:sp>
        <p:nvSpPr>
          <p:cNvPr name="TextBox 6" id="6"/>
          <p:cNvSpPr txBox="true"/>
          <p:nvPr/>
        </p:nvSpPr>
        <p:spPr>
          <a:xfrm rot="0">
            <a:off x="3111306" y="1028700"/>
            <a:ext cx="12065388" cy="831850"/>
          </a:xfrm>
          <a:prstGeom prst="rect">
            <a:avLst/>
          </a:prstGeom>
        </p:spPr>
        <p:txBody>
          <a:bodyPr anchor="t" rtlCol="false" tIns="0" lIns="0" bIns="0" rIns="0">
            <a:spAutoFit/>
          </a:bodyPr>
          <a:lstStyle/>
          <a:p>
            <a:pPr algn="ctr">
              <a:lnSpc>
                <a:spcPts val="6049"/>
              </a:lnSpc>
            </a:pPr>
            <a:r>
              <a:rPr lang="en-US" b="true" sz="5499">
                <a:solidFill>
                  <a:srgbClr val="FBF9F1"/>
                </a:solidFill>
                <a:latin typeface="Poppins Bold"/>
                <a:ea typeface="Poppins Bold"/>
                <a:cs typeface="Poppins Bold"/>
                <a:sym typeface="Poppins Bold"/>
              </a:rPr>
              <a:t>CRONOLOGIA</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B88917"/>
        </a:solidFill>
      </p:bgPr>
    </p:bg>
    <p:spTree>
      <p:nvGrpSpPr>
        <p:cNvPr id="1" name=""/>
        <p:cNvGrpSpPr/>
        <p:nvPr/>
      </p:nvGrpSpPr>
      <p:grpSpPr>
        <a:xfrm>
          <a:off x="0" y="0"/>
          <a:ext cx="0" cy="0"/>
          <a:chOff x="0" y="0"/>
          <a:chExt cx="0" cy="0"/>
        </a:xfrm>
      </p:grpSpPr>
      <p:grpSp>
        <p:nvGrpSpPr>
          <p:cNvPr name="Group 2" id="2"/>
          <p:cNvGrpSpPr/>
          <p:nvPr/>
        </p:nvGrpSpPr>
        <p:grpSpPr>
          <a:xfrm rot="0">
            <a:off x="900813" y="1910588"/>
            <a:ext cx="15822313" cy="7785428"/>
            <a:chOff x="0" y="0"/>
            <a:chExt cx="4167194" cy="2050483"/>
          </a:xfrm>
        </p:grpSpPr>
        <p:sp>
          <p:nvSpPr>
            <p:cNvPr name="Freeform 3" id="3"/>
            <p:cNvSpPr/>
            <p:nvPr/>
          </p:nvSpPr>
          <p:spPr>
            <a:xfrm flipH="false" flipV="false" rot="0">
              <a:off x="0" y="0"/>
              <a:ext cx="4167194" cy="2050483"/>
            </a:xfrm>
            <a:custGeom>
              <a:avLst/>
              <a:gdLst/>
              <a:ahLst/>
              <a:cxnLst/>
              <a:rect r="r" b="b" t="t" l="l"/>
              <a:pathLst>
                <a:path h="2050483" w="4167194">
                  <a:moveTo>
                    <a:pt x="9786" y="0"/>
                  </a:moveTo>
                  <a:lnTo>
                    <a:pt x="4157407" y="0"/>
                  </a:lnTo>
                  <a:cubicBezTo>
                    <a:pt x="4162812" y="0"/>
                    <a:pt x="4167194" y="4381"/>
                    <a:pt x="4167194" y="9786"/>
                  </a:cubicBezTo>
                  <a:lnTo>
                    <a:pt x="4167194" y="2040697"/>
                  </a:lnTo>
                  <a:cubicBezTo>
                    <a:pt x="4167194" y="2046102"/>
                    <a:pt x="4162812" y="2050483"/>
                    <a:pt x="4157407" y="2050483"/>
                  </a:cubicBezTo>
                  <a:lnTo>
                    <a:pt x="9786" y="2050483"/>
                  </a:lnTo>
                  <a:cubicBezTo>
                    <a:pt x="7191" y="2050483"/>
                    <a:pt x="4702" y="2049452"/>
                    <a:pt x="2866" y="2047617"/>
                  </a:cubicBezTo>
                  <a:cubicBezTo>
                    <a:pt x="1031" y="2045782"/>
                    <a:pt x="0" y="2043292"/>
                    <a:pt x="0" y="2040697"/>
                  </a:cubicBezTo>
                  <a:lnTo>
                    <a:pt x="0" y="9786"/>
                  </a:lnTo>
                  <a:cubicBezTo>
                    <a:pt x="0" y="7191"/>
                    <a:pt x="1031" y="4702"/>
                    <a:pt x="2866" y="2866"/>
                  </a:cubicBezTo>
                  <a:cubicBezTo>
                    <a:pt x="4702" y="1031"/>
                    <a:pt x="7191" y="0"/>
                    <a:pt x="9786" y="0"/>
                  </a:cubicBezTo>
                  <a:close/>
                </a:path>
              </a:pathLst>
            </a:custGeom>
            <a:solidFill>
              <a:srgbClr val="FBF9F1"/>
            </a:solidFill>
            <a:ln w="38100" cap="sq">
              <a:gradFill>
                <a:gsLst>
                  <a:gs pos="0">
                    <a:srgbClr val="013E6A">
                      <a:alpha val="100000"/>
                    </a:srgbClr>
                  </a:gs>
                  <a:gs pos="25000">
                    <a:srgbClr val="43D1FF">
                      <a:alpha val="100000"/>
                    </a:srgbClr>
                  </a:gs>
                  <a:gs pos="50000">
                    <a:srgbClr val="013E6A">
                      <a:alpha val="100000"/>
                    </a:srgbClr>
                  </a:gs>
                  <a:gs pos="75000">
                    <a:srgbClr val="419AD6">
                      <a:alpha val="100000"/>
                    </a:srgbClr>
                  </a:gs>
                  <a:gs pos="100000">
                    <a:srgbClr val="01186A">
                      <a:alpha val="100000"/>
                    </a:srgbClr>
                  </a:gs>
                </a:gsLst>
                <a:lin ang="5400000"/>
              </a:gradFill>
              <a:prstDash val="solid"/>
              <a:miter/>
            </a:ln>
          </p:spPr>
        </p:sp>
        <p:sp>
          <p:nvSpPr>
            <p:cNvPr name="TextBox 4" id="4"/>
            <p:cNvSpPr txBox="true"/>
            <p:nvPr/>
          </p:nvSpPr>
          <p:spPr>
            <a:xfrm>
              <a:off x="0" y="-38100"/>
              <a:ext cx="4167194" cy="2088583"/>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2046241" y="668100"/>
            <a:ext cx="13255795" cy="1050851"/>
          </a:xfrm>
          <a:prstGeom prst="rect">
            <a:avLst/>
          </a:prstGeom>
        </p:spPr>
        <p:txBody>
          <a:bodyPr anchor="t" rtlCol="false" tIns="0" lIns="0" bIns="0" rIns="0">
            <a:spAutoFit/>
          </a:bodyPr>
          <a:lstStyle/>
          <a:p>
            <a:pPr algn="ctr">
              <a:lnSpc>
                <a:spcPts val="7699"/>
              </a:lnSpc>
            </a:pPr>
            <a:r>
              <a:rPr lang="en-US" b="true" sz="6999">
                <a:solidFill>
                  <a:srgbClr val="FFFFFF"/>
                </a:solidFill>
                <a:latin typeface="Poppins Bold"/>
                <a:ea typeface="Poppins Bold"/>
                <a:cs typeface="Poppins Bold"/>
                <a:sym typeface="Poppins Bold"/>
              </a:rPr>
              <a:t>MODELO DE NEGOCIO</a:t>
            </a:r>
          </a:p>
        </p:txBody>
      </p:sp>
      <p:sp>
        <p:nvSpPr>
          <p:cNvPr name="TextBox 6" id="6"/>
          <p:cNvSpPr txBox="true"/>
          <p:nvPr/>
        </p:nvSpPr>
        <p:spPr>
          <a:xfrm rot="0">
            <a:off x="2294135" y="2064347"/>
            <a:ext cx="13456209" cy="5854586"/>
          </a:xfrm>
          <a:prstGeom prst="rect">
            <a:avLst/>
          </a:prstGeom>
        </p:spPr>
        <p:txBody>
          <a:bodyPr anchor="t" rtlCol="false" tIns="0" lIns="0" bIns="0" rIns="0">
            <a:spAutoFit/>
          </a:bodyPr>
          <a:lstStyle/>
          <a:p>
            <a:pPr algn="just">
              <a:lnSpc>
                <a:spcPts val="3359"/>
              </a:lnSpc>
              <a:spcBef>
                <a:spcPct val="0"/>
              </a:spcBef>
            </a:pPr>
          </a:p>
          <a:p>
            <a:pPr algn="just">
              <a:lnSpc>
                <a:spcPts val="3359"/>
              </a:lnSpc>
              <a:spcBef>
                <a:spcPct val="0"/>
              </a:spcBef>
            </a:pPr>
            <a:r>
              <a:rPr lang="en-US" b="true" sz="2400">
                <a:solidFill>
                  <a:srgbClr val="000000"/>
                </a:solidFill>
                <a:latin typeface="Lato Bold"/>
                <a:ea typeface="Lato Bold"/>
                <a:cs typeface="Lato Bold"/>
                <a:sym typeface="Lato Bold"/>
              </a:rPr>
              <a:t>Modelo de suscripción SaaS escalable </a:t>
            </a:r>
          </a:p>
          <a:p>
            <a:pPr algn="just">
              <a:lnSpc>
                <a:spcPts val="3359"/>
              </a:lnSpc>
              <a:spcBef>
                <a:spcPct val="0"/>
              </a:spcBef>
            </a:pPr>
          </a:p>
          <a:p>
            <a:pPr algn="just">
              <a:lnSpc>
                <a:spcPts val="3359"/>
              </a:lnSpc>
              <a:spcBef>
                <a:spcPct val="0"/>
              </a:spcBef>
            </a:pPr>
          </a:p>
          <a:p>
            <a:pPr algn="just">
              <a:lnSpc>
                <a:spcPts val="3359"/>
              </a:lnSpc>
              <a:spcBef>
                <a:spcPct val="0"/>
              </a:spcBef>
            </a:pPr>
            <a:r>
              <a:rPr lang="en-US" b="true" sz="2400">
                <a:solidFill>
                  <a:srgbClr val="000000"/>
                </a:solidFill>
                <a:latin typeface="Lato Bold"/>
                <a:ea typeface="Lato Bold"/>
                <a:cs typeface="Lato Bold"/>
                <a:sym typeface="Lato Bold"/>
              </a:rPr>
              <a:t>Con cuotas basadas en el volumen de animales albergados </a:t>
            </a:r>
          </a:p>
          <a:p>
            <a:pPr algn="just">
              <a:lnSpc>
                <a:spcPts val="3359"/>
              </a:lnSpc>
              <a:spcBef>
                <a:spcPct val="0"/>
              </a:spcBef>
            </a:pPr>
          </a:p>
          <a:p>
            <a:pPr algn="just">
              <a:lnSpc>
                <a:spcPts val="3359"/>
              </a:lnSpc>
              <a:spcBef>
                <a:spcPct val="0"/>
              </a:spcBef>
            </a:pPr>
            <a:r>
              <a:rPr lang="en-US" b="true" sz="2400">
                <a:solidFill>
                  <a:srgbClr val="001B3D"/>
                </a:solidFill>
                <a:latin typeface="Lato Bold"/>
                <a:ea typeface="Lato Bold"/>
                <a:cs typeface="Lato Bold"/>
                <a:sym typeface="Lato Bold"/>
              </a:rPr>
              <a:t>Segmentos de Cliente: Municipalidades (Dptos. de Higiene Ambiental).</a:t>
            </a:r>
          </a:p>
          <a:p>
            <a:pPr algn="just" marL="518160" indent="-259080" lvl="1">
              <a:lnSpc>
                <a:spcPts val="3359"/>
              </a:lnSpc>
              <a:spcBef>
                <a:spcPct val="0"/>
              </a:spcBef>
              <a:buFont typeface="Arial"/>
              <a:buChar char="•"/>
            </a:pPr>
            <a:r>
              <a:rPr lang="en-US" b="true" sz="2400">
                <a:solidFill>
                  <a:srgbClr val="001B3D"/>
                </a:solidFill>
                <a:latin typeface="Lato Bold"/>
                <a:ea typeface="Lato Bold"/>
                <a:cs typeface="Lato Bold"/>
                <a:sym typeface="Lato Bold"/>
              </a:rPr>
              <a:t>Gobiernos Regionales (GORE).</a:t>
            </a:r>
          </a:p>
          <a:p>
            <a:pPr algn="just" marL="518160" indent="-259080" lvl="1">
              <a:lnSpc>
                <a:spcPts val="3359"/>
              </a:lnSpc>
              <a:spcBef>
                <a:spcPct val="0"/>
              </a:spcBef>
              <a:buFont typeface="Arial"/>
              <a:buChar char="•"/>
            </a:pPr>
            <a:r>
              <a:rPr lang="en-US" b="true" sz="2400">
                <a:solidFill>
                  <a:srgbClr val="001B3D"/>
                </a:solidFill>
                <a:latin typeface="Lato Bold"/>
                <a:ea typeface="Lato Bold"/>
                <a:cs typeface="Lato Bold"/>
                <a:sym typeface="Lato Bold"/>
              </a:rPr>
              <a:t>Grandes fundaciones y refugios privados.</a:t>
            </a:r>
          </a:p>
          <a:p>
            <a:pPr algn="just">
              <a:lnSpc>
                <a:spcPts val="3359"/>
              </a:lnSpc>
              <a:spcBef>
                <a:spcPct val="0"/>
              </a:spcBef>
            </a:pPr>
          </a:p>
          <a:p>
            <a:pPr algn="just">
              <a:lnSpc>
                <a:spcPts val="3359"/>
              </a:lnSpc>
              <a:spcBef>
                <a:spcPct val="0"/>
              </a:spcBef>
            </a:pPr>
            <a:r>
              <a:rPr lang="en-US" b="true" sz="2400">
                <a:solidFill>
                  <a:srgbClr val="000000"/>
                </a:solidFill>
                <a:latin typeface="Lato Bold"/>
                <a:ea typeface="Lato Bold"/>
                <a:cs typeface="Lato Bold"/>
                <a:sym typeface="Lato Bold"/>
              </a:rPr>
              <a:t>Suscripciones a clientes como refugios municipales y privados, con variación en el costo de la suscripción dependiendo la cantidad de animales albergados.</a:t>
            </a:r>
          </a:p>
          <a:p>
            <a:pPr algn="just">
              <a:lnSpc>
                <a:spcPts val="3359"/>
              </a:lnSpc>
              <a:spcBef>
                <a:spcPct val="0"/>
              </a:spcBef>
            </a:pPr>
          </a:p>
          <a:p>
            <a:pPr algn="just">
              <a:lnSpc>
                <a:spcPts val="3359"/>
              </a:lnSpc>
              <a:spcBef>
                <a:spcPct val="0"/>
              </a:spcBef>
            </a:pPr>
          </a:p>
        </p:txBody>
      </p:sp>
      <p:sp>
        <p:nvSpPr>
          <p:cNvPr name="Freeform 7" id="7"/>
          <p:cNvSpPr/>
          <p:nvPr/>
        </p:nvSpPr>
        <p:spPr>
          <a:xfrm flipH="false" flipV="true" rot="-1542318">
            <a:off x="16140399" y="2712016"/>
            <a:ext cx="7674102" cy="8229600"/>
          </a:xfrm>
          <a:custGeom>
            <a:avLst/>
            <a:gdLst/>
            <a:ahLst/>
            <a:cxnLst/>
            <a:rect r="r" b="b" t="t" l="l"/>
            <a:pathLst>
              <a:path h="8229600" w="7674102">
                <a:moveTo>
                  <a:pt x="0" y="8229600"/>
                </a:moveTo>
                <a:lnTo>
                  <a:pt x="7674102" y="8229600"/>
                </a:lnTo>
                <a:lnTo>
                  <a:pt x="7674102" y="0"/>
                </a:lnTo>
                <a:lnTo>
                  <a:pt x="0" y="0"/>
                </a:lnTo>
                <a:lnTo>
                  <a:pt x="0" y="8229600"/>
                </a:lnTo>
                <a:close/>
              </a:path>
            </a:pathLst>
          </a:custGeom>
          <a:blipFill>
            <a:blip r:embed="rId2"/>
            <a:stretch>
              <a:fillRect l="0" t="0" r="0" b="0"/>
            </a:stretch>
          </a:blipFill>
        </p:spPr>
      </p:sp>
      <p:sp>
        <p:nvSpPr>
          <p:cNvPr name="Freeform 8" id="8"/>
          <p:cNvSpPr/>
          <p:nvPr/>
        </p:nvSpPr>
        <p:spPr>
          <a:xfrm flipH="false" flipV="false" rot="0">
            <a:off x="1738328" y="3873379"/>
            <a:ext cx="307914" cy="310241"/>
          </a:xfrm>
          <a:custGeom>
            <a:avLst/>
            <a:gdLst/>
            <a:ahLst/>
            <a:cxnLst/>
            <a:rect r="r" b="b" t="t" l="l"/>
            <a:pathLst>
              <a:path h="310241" w="307914">
                <a:moveTo>
                  <a:pt x="0" y="0"/>
                </a:moveTo>
                <a:lnTo>
                  <a:pt x="307913" y="0"/>
                </a:lnTo>
                <a:lnTo>
                  <a:pt x="307913" y="310240"/>
                </a:lnTo>
                <a:lnTo>
                  <a:pt x="0" y="310240"/>
                </a:lnTo>
                <a:lnTo>
                  <a:pt x="0" y="0"/>
                </a:lnTo>
                <a:close/>
              </a:path>
            </a:pathLst>
          </a:custGeom>
          <a:blipFill>
            <a:blip r:embed="rId3"/>
            <a:stretch>
              <a:fillRect l="0" t="0" r="0" b="0"/>
            </a:stretch>
          </a:blipFill>
        </p:spPr>
      </p:sp>
      <p:sp>
        <p:nvSpPr>
          <p:cNvPr name="Freeform 9" id="9"/>
          <p:cNvSpPr/>
          <p:nvPr/>
        </p:nvSpPr>
        <p:spPr>
          <a:xfrm flipH="false" flipV="false" rot="0">
            <a:off x="1738328" y="6826816"/>
            <a:ext cx="307914" cy="310241"/>
          </a:xfrm>
          <a:custGeom>
            <a:avLst/>
            <a:gdLst/>
            <a:ahLst/>
            <a:cxnLst/>
            <a:rect r="r" b="b" t="t" l="l"/>
            <a:pathLst>
              <a:path h="310241" w="307914">
                <a:moveTo>
                  <a:pt x="0" y="0"/>
                </a:moveTo>
                <a:lnTo>
                  <a:pt x="307913" y="0"/>
                </a:lnTo>
                <a:lnTo>
                  <a:pt x="307913" y="310240"/>
                </a:lnTo>
                <a:lnTo>
                  <a:pt x="0" y="310240"/>
                </a:lnTo>
                <a:lnTo>
                  <a:pt x="0" y="0"/>
                </a:lnTo>
                <a:close/>
              </a:path>
            </a:pathLst>
          </a:custGeom>
          <a:blipFill>
            <a:blip r:embed="rId3"/>
            <a:stretch>
              <a:fillRect l="0" t="0" r="0" b="0"/>
            </a:stretch>
          </a:blipFill>
        </p:spPr>
      </p:sp>
      <p:sp>
        <p:nvSpPr>
          <p:cNvPr name="Freeform 10" id="10"/>
          <p:cNvSpPr/>
          <p:nvPr/>
        </p:nvSpPr>
        <p:spPr>
          <a:xfrm flipH="false" flipV="false" rot="0">
            <a:off x="1738328" y="5143500"/>
            <a:ext cx="307914" cy="310241"/>
          </a:xfrm>
          <a:custGeom>
            <a:avLst/>
            <a:gdLst/>
            <a:ahLst/>
            <a:cxnLst/>
            <a:rect r="r" b="b" t="t" l="l"/>
            <a:pathLst>
              <a:path h="310241" w="307914">
                <a:moveTo>
                  <a:pt x="0" y="0"/>
                </a:moveTo>
                <a:lnTo>
                  <a:pt x="307913" y="0"/>
                </a:lnTo>
                <a:lnTo>
                  <a:pt x="307913" y="310241"/>
                </a:lnTo>
                <a:lnTo>
                  <a:pt x="0" y="310241"/>
                </a:lnTo>
                <a:lnTo>
                  <a:pt x="0" y="0"/>
                </a:lnTo>
                <a:close/>
              </a:path>
            </a:pathLst>
          </a:custGeom>
          <a:blipFill>
            <a:blip r:embed="rId3"/>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E7AA51">
                <a:alpha val="100000"/>
              </a:srgbClr>
            </a:gs>
            <a:gs pos="25000">
              <a:srgbClr val="FFE499">
                <a:alpha val="100000"/>
              </a:srgbClr>
            </a:gs>
            <a:gs pos="50000">
              <a:srgbClr val="8D5A1B">
                <a:alpha val="100000"/>
              </a:srgbClr>
            </a:gs>
            <a:gs pos="75000">
              <a:srgbClr val="E7AA51">
                <a:alpha val="100000"/>
              </a:srgbClr>
            </a:gs>
            <a:gs pos="100000">
              <a:srgbClr val="AC7031">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567025" y="558176"/>
            <a:ext cx="16776280" cy="9140423"/>
            <a:chOff x="0" y="0"/>
            <a:chExt cx="4418444" cy="2407354"/>
          </a:xfrm>
        </p:grpSpPr>
        <p:sp>
          <p:nvSpPr>
            <p:cNvPr name="Freeform 3" id="3"/>
            <p:cNvSpPr/>
            <p:nvPr/>
          </p:nvSpPr>
          <p:spPr>
            <a:xfrm flipH="false" flipV="false" rot="0">
              <a:off x="0" y="0"/>
              <a:ext cx="4418444" cy="2407354"/>
            </a:xfrm>
            <a:custGeom>
              <a:avLst/>
              <a:gdLst/>
              <a:ahLst/>
              <a:cxnLst/>
              <a:rect r="r" b="b" t="t" l="l"/>
              <a:pathLst>
                <a:path h="2407354" w="4418444">
                  <a:moveTo>
                    <a:pt x="9230" y="0"/>
                  </a:moveTo>
                  <a:lnTo>
                    <a:pt x="4409215" y="0"/>
                  </a:lnTo>
                  <a:cubicBezTo>
                    <a:pt x="4414312" y="0"/>
                    <a:pt x="4418444" y="4132"/>
                    <a:pt x="4418444" y="9230"/>
                  </a:cubicBezTo>
                  <a:lnTo>
                    <a:pt x="4418444" y="2398125"/>
                  </a:lnTo>
                  <a:cubicBezTo>
                    <a:pt x="4418444" y="2403222"/>
                    <a:pt x="4414312" y="2407354"/>
                    <a:pt x="4409215" y="2407354"/>
                  </a:cubicBezTo>
                  <a:lnTo>
                    <a:pt x="9230" y="2407354"/>
                  </a:lnTo>
                  <a:cubicBezTo>
                    <a:pt x="4132" y="2407354"/>
                    <a:pt x="0" y="2403222"/>
                    <a:pt x="0" y="2398125"/>
                  </a:cubicBezTo>
                  <a:lnTo>
                    <a:pt x="0" y="9230"/>
                  </a:lnTo>
                  <a:cubicBezTo>
                    <a:pt x="0" y="4132"/>
                    <a:pt x="4132" y="0"/>
                    <a:pt x="9230" y="0"/>
                  </a:cubicBezTo>
                  <a:close/>
                </a:path>
              </a:pathLst>
            </a:custGeom>
            <a:solidFill>
              <a:srgbClr val="B88917"/>
            </a:solidFill>
            <a:ln w="38100" cap="sq">
              <a:gradFill>
                <a:gsLst>
                  <a:gs pos="0">
                    <a:srgbClr val="013E6A">
                      <a:alpha val="100000"/>
                    </a:srgbClr>
                  </a:gs>
                  <a:gs pos="25000">
                    <a:srgbClr val="43D1FF">
                      <a:alpha val="100000"/>
                    </a:srgbClr>
                  </a:gs>
                  <a:gs pos="50000">
                    <a:srgbClr val="013E6A">
                      <a:alpha val="100000"/>
                    </a:srgbClr>
                  </a:gs>
                  <a:gs pos="75000">
                    <a:srgbClr val="419AD6">
                      <a:alpha val="100000"/>
                    </a:srgbClr>
                  </a:gs>
                  <a:gs pos="100000">
                    <a:srgbClr val="01186A">
                      <a:alpha val="100000"/>
                    </a:srgbClr>
                  </a:gs>
                </a:gsLst>
                <a:lin ang="5400000"/>
              </a:gradFill>
              <a:prstDash val="solid"/>
              <a:miter/>
            </a:ln>
          </p:spPr>
        </p:sp>
        <p:sp>
          <p:nvSpPr>
            <p:cNvPr name="TextBox 4" id="4"/>
            <p:cNvSpPr txBox="true"/>
            <p:nvPr/>
          </p:nvSpPr>
          <p:spPr>
            <a:xfrm>
              <a:off x="0" y="-38100"/>
              <a:ext cx="4418444" cy="2445454"/>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true" rot="-1542318">
            <a:off x="14960001" y="3262201"/>
            <a:ext cx="7674102" cy="8229600"/>
          </a:xfrm>
          <a:custGeom>
            <a:avLst/>
            <a:gdLst/>
            <a:ahLst/>
            <a:cxnLst/>
            <a:rect r="r" b="b" t="t" l="l"/>
            <a:pathLst>
              <a:path h="8229600" w="7674102">
                <a:moveTo>
                  <a:pt x="0" y="8229600"/>
                </a:moveTo>
                <a:lnTo>
                  <a:pt x="7674102" y="8229600"/>
                </a:lnTo>
                <a:lnTo>
                  <a:pt x="7674102" y="0"/>
                </a:lnTo>
                <a:lnTo>
                  <a:pt x="0" y="0"/>
                </a:lnTo>
                <a:lnTo>
                  <a:pt x="0" y="8229600"/>
                </a:lnTo>
                <a:close/>
              </a:path>
            </a:pathLst>
          </a:custGeom>
          <a:blipFill>
            <a:blip r:embed="rId2"/>
            <a:stretch>
              <a:fillRect l="0" t="0" r="0" b="0"/>
            </a:stretch>
          </a:blipFill>
        </p:spPr>
      </p:sp>
      <p:sp>
        <p:nvSpPr>
          <p:cNvPr name="TextBox 6" id="6"/>
          <p:cNvSpPr txBox="true"/>
          <p:nvPr/>
        </p:nvSpPr>
        <p:spPr>
          <a:xfrm rot="0">
            <a:off x="1706127" y="1767693"/>
            <a:ext cx="13255795" cy="1050851"/>
          </a:xfrm>
          <a:prstGeom prst="rect">
            <a:avLst/>
          </a:prstGeom>
        </p:spPr>
        <p:txBody>
          <a:bodyPr anchor="t" rtlCol="false" tIns="0" lIns="0" bIns="0" rIns="0">
            <a:spAutoFit/>
          </a:bodyPr>
          <a:lstStyle/>
          <a:p>
            <a:pPr algn="ctr">
              <a:lnSpc>
                <a:spcPts val="7699"/>
              </a:lnSpc>
            </a:pPr>
            <a:r>
              <a:rPr lang="en-US" b="true" sz="6999">
                <a:solidFill>
                  <a:srgbClr val="FFFFFF"/>
                </a:solidFill>
                <a:latin typeface="Poppins Bold"/>
                <a:ea typeface="Poppins Bold"/>
                <a:cs typeface="Poppins Bold"/>
                <a:sym typeface="Poppins Bold"/>
              </a:rPr>
              <a:t>DEMOSTRACIÓN</a:t>
            </a:r>
          </a:p>
        </p:txBody>
      </p:sp>
      <p:sp>
        <p:nvSpPr>
          <p:cNvPr name="TextBox 7" id="7"/>
          <p:cNvSpPr txBox="true"/>
          <p:nvPr/>
        </p:nvSpPr>
        <p:spPr>
          <a:xfrm rot="0">
            <a:off x="1892893" y="3590408"/>
            <a:ext cx="13876749" cy="2846071"/>
          </a:xfrm>
          <a:prstGeom prst="rect">
            <a:avLst/>
          </a:prstGeom>
        </p:spPr>
        <p:txBody>
          <a:bodyPr anchor="t" rtlCol="false" tIns="0" lIns="0" bIns="0" rIns="0">
            <a:spAutoFit/>
          </a:bodyPr>
          <a:lstStyle/>
          <a:p>
            <a:pPr algn="ctr">
              <a:lnSpc>
                <a:spcPts val="3779"/>
              </a:lnSpc>
            </a:pPr>
            <a:r>
              <a:rPr lang="en-US" sz="2699">
                <a:solidFill>
                  <a:srgbClr val="FBF9F1"/>
                </a:solidFill>
                <a:latin typeface="Lato"/>
                <a:ea typeface="Lato"/>
                <a:cs typeface="Lato"/>
                <a:sym typeface="Lato"/>
              </a:rPr>
              <a:t>Mock Up</a:t>
            </a:r>
          </a:p>
          <a:p>
            <a:pPr algn="ctr">
              <a:lnSpc>
                <a:spcPts val="3779"/>
              </a:lnSpc>
            </a:pPr>
          </a:p>
          <a:p>
            <a:pPr algn="ctr">
              <a:lnSpc>
                <a:spcPts val="3779"/>
              </a:lnSpc>
            </a:pPr>
            <a:r>
              <a:rPr lang="en-US" sz="2699">
                <a:solidFill>
                  <a:srgbClr val="FBF9F1"/>
                </a:solidFill>
                <a:latin typeface="Lato"/>
                <a:ea typeface="Lato"/>
                <a:cs typeface="Lato"/>
                <a:sym typeface="Lato"/>
              </a:rPr>
              <a:t>https://stitch.withgoogle.com/projects/12866471884715408564</a:t>
            </a:r>
          </a:p>
          <a:p>
            <a:pPr algn="ctr">
              <a:lnSpc>
                <a:spcPts val="3779"/>
              </a:lnSpc>
            </a:pPr>
          </a:p>
          <a:p>
            <a:pPr algn="ctr">
              <a:lnSpc>
                <a:spcPts val="3779"/>
              </a:lnSpc>
              <a:spcBef>
                <a:spcPct val="0"/>
              </a:spcBef>
            </a:pPr>
            <a:r>
              <a:rPr lang="en-US" sz="2699">
                <a:solidFill>
                  <a:srgbClr val="FBF9F1"/>
                </a:solidFill>
                <a:latin typeface="Lato"/>
                <a:ea typeface="Lato"/>
                <a:cs typeface="Lato"/>
                <a:sym typeface="Lato"/>
              </a:rPr>
              <a:t>https://stitch.withgoogle.com/preview/12866471884715408564?node-id=4cd1353627a04f41b9911d295237c0be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E7AA51">
                <a:alpha val="100000"/>
              </a:srgbClr>
            </a:gs>
            <a:gs pos="25000">
              <a:srgbClr val="FFE499">
                <a:alpha val="100000"/>
              </a:srgbClr>
            </a:gs>
            <a:gs pos="50000">
              <a:srgbClr val="8D5A1B">
                <a:alpha val="100000"/>
              </a:srgbClr>
            </a:gs>
            <a:gs pos="75000">
              <a:srgbClr val="E7AA51">
                <a:alpha val="100000"/>
              </a:srgbClr>
            </a:gs>
            <a:gs pos="100000">
              <a:srgbClr val="AC7031">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944695" y="758341"/>
            <a:ext cx="16398610" cy="8951588"/>
            <a:chOff x="0" y="0"/>
            <a:chExt cx="4318976" cy="2357620"/>
          </a:xfrm>
        </p:grpSpPr>
        <p:sp>
          <p:nvSpPr>
            <p:cNvPr name="Freeform 3" id="3"/>
            <p:cNvSpPr/>
            <p:nvPr/>
          </p:nvSpPr>
          <p:spPr>
            <a:xfrm flipH="false" flipV="false" rot="0">
              <a:off x="0" y="0"/>
              <a:ext cx="4318976" cy="2357620"/>
            </a:xfrm>
            <a:custGeom>
              <a:avLst/>
              <a:gdLst/>
              <a:ahLst/>
              <a:cxnLst/>
              <a:rect r="r" b="b" t="t" l="l"/>
              <a:pathLst>
                <a:path h="2357620" w="4318976">
                  <a:moveTo>
                    <a:pt x="9442" y="0"/>
                  </a:moveTo>
                  <a:lnTo>
                    <a:pt x="4309533" y="0"/>
                  </a:lnTo>
                  <a:cubicBezTo>
                    <a:pt x="4314748" y="0"/>
                    <a:pt x="4318976" y="4227"/>
                    <a:pt x="4318976" y="9442"/>
                  </a:cubicBezTo>
                  <a:lnTo>
                    <a:pt x="4318976" y="2348178"/>
                  </a:lnTo>
                  <a:cubicBezTo>
                    <a:pt x="4318976" y="2350682"/>
                    <a:pt x="4317981" y="2353084"/>
                    <a:pt x="4316210" y="2354854"/>
                  </a:cubicBezTo>
                  <a:cubicBezTo>
                    <a:pt x="4314439" y="2356625"/>
                    <a:pt x="4312038" y="2357620"/>
                    <a:pt x="4309533" y="2357620"/>
                  </a:cubicBezTo>
                  <a:lnTo>
                    <a:pt x="9442" y="2357620"/>
                  </a:lnTo>
                  <a:cubicBezTo>
                    <a:pt x="4227" y="2357620"/>
                    <a:pt x="0" y="2353392"/>
                    <a:pt x="0" y="2348178"/>
                  </a:cubicBezTo>
                  <a:lnTo>
                    <a:pt x="0" y="9442"/>
                  </a:lnTo>
                  <a:cubicBezTo>
                    <a:pt x="0" y="4227"/>
                    <a:pt x="4227" y="0"/>
                    <a:pt x="9442" y="0"/>
                  </a:cubicBezTo>
                  <a:close/>
                </a:path>
              </a:pathLst>
            </a:custGeom>
            <a:solidFill>
              <a:srgbClr val="B88917"/>
            </a:solidFill>
            <a:ln w="38100" cap="sq">
              <a:gradFill>
                <a:gsLst>
                  <a:gs pos="0">
                    <a:srgbClr val="013E6A">
                      <a:alpha val="100000"/>
                    </a:srgbClr>
                  </a:gs>
                  <a:gs pos="25000">
                    <a:srgbClr val="43D1FF">
                      <a:alpha val="100000"/>
                    </a:srgbClr>
                  </a:gs>
                  <a:gs pos="50000">
                    <a:srgbClr val="013E6A">
                      <a:alpha val="100000"/>
                    </a:srgbClr>
                  </a:gs>
                  <a:gs pos="75000">
                    <a:srgbClr val="419AD6">
                      <a:alpha val="100000"/>
                    </a:srgbClr>
                  </a:gs>
                  <a:gs pos="100000">
                    <a:srgbClr val="01186A">
                      <a:alpha val="100000"/>
                    </a:srgbClr>
                  </a:gs>
                </a:gsLst>
                <a:lin ang="5400000"/>
              </a:gradFill>
              <a:prstDash val="solid"/>
              <a:miter/>
            </a:ln>
          </p:spPr>
        </p:sp>
        <p:sp>
          <p:nvSpPr>
            <p:cNvPr name="TextBox 4" id="4"/>
            <p:cNvSpPr txBox="true"/>
            <p:nvPr/>
          </p:nvSpPr>
          <p:spPr>
            <a:xfrm>
              <a:off x="0" y="-38100"/>
              <a:ext cx="4318976" cy="239572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10435729">
            <a:off x="-2125405" y="-3995644"/>
            <a:ext cx="7674102" cy="8229600"/>
          </a:xfrm>
          <a:custGeom>
            <a:avLst/>
            <a:gdLst/>
            <a:ahLst/>
            <a:cxnLst/>
            <a:rect r="r" b="b" t="t" l="l"/>
            <a:pathLst>
              <a:path h="8229600" w="7674102">
                <a:moveTo>
                  <a:pt x="0" y="0"/>
                </a:moveTo>
                <a:lnTo>
                  <a:pt x="7674102" y="0"/>
                </a:lnTo>
                <a:lnTo>
                  <a:pt x="7674102" y="8229600"/>
                </a:lnTo>
                <a:lnTo>
                  <a:pt x="0" y="8229600"/>
                </a:lnTo>
                <a:lnTo>
                  <a:pt x="0" y="0"/>
                </a:lnTo>
                <a:close/>
              </a:path>
            </a:pathLst>
          </a:custGeom>
          <a:blipFill>
            <a:blip r:embed="rId2"/>
            <a:stretch>
              <a:fillRect l="0" t="0" r="0" b="0"/>
            </a:stretch>
          </a:blipFill>
        </p:spPr>
      </p:sp>
      <p:sp>
        <p:nvSpPr>
          <p:cNvPr name="TextBox 6" id="6"/>
          <p:cNvSpPr txBox="true"/>
          <p:nvPr/>
        </p:nvSpPr>
        <p:spPr>
          <a:xfrm rot="0">
            <a:off x="4661434" y="1563598"/>
            <a:ext cx="8700580" cy="852095"/>
          </a:xfrm>
          <a:prstGeom prst="rect">
            <a:avLst/>
          </a:prstGeom>
        </p:spPr>
        <p:txBody>
          <a:bodyPr anchor="t" rtlCol="false" tIns="0" lIns="0" bIns="0" rIns="0">
            <a:spAutoFit/>
          </a:bodyPr>
          <a:lstStyle/>
          <a:p>
            <a:pPr algn="ctr">
              <a:lnSpc>
                <a:spcPts val="6159"/>
              </a:lnSpc>
            </a:pPr>
            <a:r>
              <a:rPr lang="en-US" b="true" sz="5599">
                <a:solidFill>
                  <a:srgbClr val="FFFFFF"/>
                </a:solidFill>
                <a:latin typeface="Poppins Bold"/>
                <a:ea typeface="Poppins Bold"/>
                <a:cs typeface="Poppins Bold"/>
                <a:sym typeface="Poppins Bold"/>
              </a:rPr>
              <a:t>MEJORAS FUTURAS</a:t>
            </a:r>
          </a:p>
        </p:txBody>
      </p:sp>
      <p:sp>
        <p:nvSpPr>
          <p:cNvPr name="TextBox 7" id="7"/>
          <p:cNvSpPr txBox="true"/>
          <p:nvPr/>
        </p:nvSpPr>
        <p:spPr>
          <a:xfrm rot="0">
            <a:off x="4114679" y="2536822"/>
            <a:ext cx="11788994" cy="3940438"/>
          </a:xfrm>
          <a:prstGeom prst="rect">
            <a:avLst/>
          </a:prstGeom>
        </p:spPr>
        <p:txBody>
          <a:bodyPr anchor="t" rtlCol="false" tIns="0" lIns="0" bIns="0" rIns="0">
            <a:spAutoFit/>
          </a:bodyPr>
          <a:lstStyle/>
          <a:p>
            <a:pPr algn="l">
              <a:lnSpc>
                <a:spcPts val="3499"/>
              </a:lnSpc>
            </a:pPr>
          </a:p>
          <a:p>
            <a:pPr algn="l">
              <a:lnSpc>
                <a:spcPts val="3079"/>
              </a:lnSpc>
            </a:pPr>
            <a:r>
              <a:rPr lang="en-US" sz="2199">
                <a:solidFill>
                  <a:srgbClr val="FFFFFF"/>
                </a:solidFill>
                <a:latin typeface="Lato"/>
                <a:ea typeface="Lato"/>
                <a:cs typeface="Lato"/>
                <a:sym typeface="Lato"/>
              </a:rPr>
              <a:t> Implementar rec</a:t>
            </a:r>
            <a:r>
              <a:rPr lang="en-US" sz="2199">
                <a:solidFill>
                  <a:srgbClr val="FFFFFF"/>
                </a:solidFill>
                <a:latin typeface="Lato"/>
                <a:ea typeface="Lato"/>
                <a:cs typeface="Lato"/>
                <a:sym typeface="Lato"/>
              </a:rPr>
              <a:t>onocimiento de imagen para identificar razas, tamaños y rasgos físicos de mascotas abandonadas a partir de fotos tomadas en la calle, facilitando su registro automático</a:t>
            </a:r>
          </a:p>
          <a:p>
            <a:pPr algn="l">
              <a:lnSpc>
                <a:spcPts val="3079"/>
              </a:lnSpc>
            </a:pPr>
          </a:p>
          <a:p>
            <a:pPr algn="l">
              <a:lnSpc>
                <a:spcPts val="3079"/>
              </a:lnSpc>
            </a:pPr>
            <a:r>
              <a:rPr lang="en-US" sz="2199" b="true">
                <a:solidFill>
                  <a:srgbClr val="FFFFFF"/>
                </a:solidFill>
                <a:latin typeface="Lato Bold"/>
                <a:ea typeface="Lato Bold"/>
                <a:cs typeface="Lato Bold"/>
                <a:sym typeface="Lato Bold"/>
              </a:rPr>
              <a:t> Asistente virtual (Chatbot) basado en Gemini 3 Flash para resolver dudas sobre la Ley Cholito y cuidados básicos.</a:t>
            </a:r>
          </a:p>
          <a:p>
            <a:pPr algn="l">
              <a:lnSpc>
                <a:spcPts val="3079"/>
              </a:lnSpc>
            </a:pPr>
          </a:p>
          <a:p>
            <a:pPr algn="l">
              <a:lnSpc>
                <a:spcPts val="3079"/>
              </a:lnSpc>
            </a:pPr>
            <a:r>
              <a:rPr lang="en-US" sz="2199" b="true">
                <a:solidFill>
                  <a:srgbClr val="FFFFFF"/>
                </a:solidFill>
                <a:latin typeface="Lato Bold"/>
                <a:ea typeface="Lato Bold"/>
                <a:cs typeface="Lato Bold"/>
                <a:sym typeface="Lato Bold"/>
              </a:rPr>
              <a:t> Usar modelos geoespaciales para predecir en qué barrios es más probable que ocurra abandono, permitiendo que el gobierno realice campañas preventivas focalizadas.</a:t>
            </a:r>
          </a:p>
          <a:p>
            <a:pPr algn="l">
              <a:lnSpc>
                <a:spcPts val="3079"/>
              </a:lnSpc>
              <a:spcBef>
                <a:spcPct val="0"/>
              </a:spcBef>
            </a:pPr>
          </a:p>
        </p:txBody>
      </p:sp>
      <p:sp>
        <p:nvSpPr>
          <p:cNvPr name="Freeform 8" id="8"/>
          <p:cNvSpPr/>
          <p:nvPr/>
        </p:nvSpPr>
        <p:spPr>
          <a:xfrm flipH="false" flipV="false" rot="0">
            <a:off x="3555663" y="3029977"/>
            <a:ext cx="344044" cy="346643"/>
          </a:xfrm>
          <a:custGeom>
            <a:avLst/>
            <a:gdLst/>
            <a:ahLst/>
            <a:cxnLst/>
            <a:rect r="r" b="b" t="t" l="l"/>
            <a:pathLst>
              <a:path h="346643" w="344044">
                <a:moveTo>
                  <a:pt x="0" y="0"/>
                </a:moveTo>
                <a:lnTo>
                  <a:pt x="344044" y="0"/>
                </a:lnTo>
                <a:lnTo>
                  <a:pt x="344044" y="346643"/>
                </a:lnTo>
                <a:lnTo>
                  <a:pt x="0" y="346643"/>
                </a:lnTo>
                <a:lnTo>
                  <a:pt x="0" y="0"/>
                </a:lnTo>
                <a:close/>
              </a:path>
            </a:pathLst>
          </a:custGeom>
          <a:blipFill>
            <a:blip r:embed="rId3"/>
            <a:stretch>
              <a:fillRect l="0" t="0" r="0" b="0"/>
            </a:stretch>
          </a:blipFill>
        </p:spPr>
      </p:sp>
      <p:sp>
        <p:nvSpPr>
          <p:cNvPr name="Freeform 9" id="9"/>
          <p:cNvSpPr/>
          <p:nvPr/>
        </p:nvSpPr>
        <p:spPr>
          <a:xfrm flipH="false" flipV="false" rot="0">
            <a:off x="3573728" y="4306458"/>
            <a:ext cx="307914" cy="310241"/>
          </a:xfrm>
          <a:custGeom>
            <a:avLst/>
            <a:gdLst/>
            <a:ahLst/>
            <a:cxnLst/>
            <a:rect r="r" b="b" t="t" l="l"/>
            <a:pathLst>
              <a:path h="310241" w="307914">
                <a:moveTo>
                  <a:pt x="0" y="0"/>
                </a:moveTo>
                <a:lnTo>
                  <a:pt x="307914" y="0"/>
                </a:lnTo>
                <a:lnTo>
                  <a:pt x="307914" y="310240"/>
                </a:lnTo>
                <a:lnTo>
                  <a:pt x="0" y="310240"/>
                </a:lnTo>
                <a:lnTo>
                  <a:pt x="0" y="0"/>
                </a:lnTo>
                <a:close/>
              </a:path>
            </a:pathLst>
          </a:custGeom>
          <a:blipFill>
            <a:blip r:embed="rId3"/>
            <a:stretch>
              <a:fillRect l="0" t="0" r="0" b="0"/>
            </a:stretch>
          </a:blipFill>
        </p:spPr>
      </p:sp>
      <p:sp>
        <p:nvSpPr>
          <p:cNvPr name="Freeform 10" id="10"/>
          <p:cNvSpPr/>
          <p:nvPr/>
        </p:nvSpPr>
        <p:spPr>
          <a:xfrm flipH="false" flipV="false" rot="0">
            <a:off x="3555663" y="5805191"/>
            <a:ext cx="316051" cy="318439"/>
          </a:xfrm>
          <a:custGeom>
            <a:avLst/>
            <a:gdLst/>
            <a:ahLst/>
            <a:cxnLst/>
            <a:rect r="r" b="b" t="t" l="l"/>
            <a:pathLst>
              <a:path h="318439" w="316051">
                <a:moveTo>
                  <a:pt x="0" y="0"/>
                </a:moveTo>
                <a:lnTo>
                  <a:pt x="316050" y="0"/>
                </a:lnTo>
                <a:lnTo>
                  <a:pt x="316050" y="318439"/>
                </a:lnTo>
                <a:lnTo>
                  <a:pt x="0" y="318439"/>
                </a:lnTo>
                <a:lnTo>
                  <a:pt x="0" y="0"/>
                </a:lnTo>
                <a:close/>
              </a:path>
            </a:pathLst>
          </a:custGeom>
          <a:blipFill>
            <a:blip r:embed="rId3"/>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E7AA51">
                <a:alpha val="100000"/>
              </a:srgbClr>
            </a:gs>
            <a:gs pos="25000">
              <a:srgbClr val="FFE499">
                <a:alpha val="100000"/>
              </a:srgbClr>
            </a:gs>
            <a:gs pos="50000">
              <a:srgbClr val="8D5A1B">
                <a:alpha val="100000"/>
              </a:srgbClr>
            </a:gs>
            <a:gs pos="75000">
              <a:srgbClr val="E7AA51">
                <a:alpha val="100000"/>
              </a:srgbClr>
            </a:gs>
            <a:gs pos="100000">
              <a:srgbClr val="AC7031">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true" flipV="false" rot="2100837">
            <a:off x="2654440" y="-3566866"/>
            <a:ext cx="14771228" cy="15609133"/>
          </a:xfrm>
          <a:custGeom>
            <a:avLst/>
            <a:gdLst/>
            <a:ahLst/>
            <a:cxnLst/>
            <a:rect r="r" b="b" t="t" l="l"/>
            <a:pathLst>
              <a:path h="15609133" w="14771228">
                <a:moveTo>
                  <a:pt x="14771228" y="0"/>
                </a:moveTo>
                <a:lnTo>
                  <a:pt x="0" y="0"/>
                </a:lnTo>
                <a:lnTo>
                  <a:pt x="0" y="15609133"/>
                </a:lnTo>
                <a:lnTo>
                  <a:pt x="14771228" y="15609133"/>
                </a:lnTo>
                <a:lnTo>
                  <a:pt x="14771228" y="0"/>
                </a:lnTo>
                <a:close/>
              </a:path>
            </a:pathLst>
          </a:custGeom>
          <a:blipFill>
            <a:blip r:embed="rId2"/>
            <a:stretch>
              <a:fillRect l="0" t="0" r="-381" b="-1869"/>
            </a:stretch>
          </a:blipFill>
        </p:spPr>
      </p:sp>
      <p:sp>
        <p:nvSpPr>
          <p:cNvPr name="TextBox 3" id="3"/>
          <p:cNvSpPr txBox="true"/>
          <p:nvPr/>
        </p:nvSpPr>
        <p:spPr>
          <a:xfrm rot="0">
            <a:off x="4538563" y="5143500"/>
            <a:ext cx="9976909" cy="2612330"/>
          </a:xfrm>
          <a:prstGeom prst="rect">
            <a:avLst/>
          </a:prstGeom>
        </p:spPr>
        <p:txBody>
          <a:bodyPr anchor="t" rtlCol="false" tIns="0" lIns="0" bIns="0" rIns="0">
            <a:spAutoFit/>
          </a:bodyPr>
          <a:lstStyle/>
          <a:p>
            <a:pPr algn="ctr">
              <a:lnSpc>
                <a:spcPts val="2970"/>
              </a:lnSpc>
            </a:pPr>
            <a:r>
              <a:rPr lang="en-US" b="true" sz="2700">
                <a:solidFill>
                  <a:srgbClr val="FBF9F1"/>
                </a:solidFill>
                <a:latin typeface="Poppins Bold"/>
                <a:ea typeface="Poppins Bold"/>
                <a:cs typeface="Poppins Bold"/>
                <a:sym typeface="Poppins Bold"/>
              </a:rPr>
              <a:t>“ADOPTAR ES SUMAR FAMILIA.”</a:t>
            </a:r>
          </a:p>
          <a:p>
            <a:pPr algn="ctr">
              <a:lnSpc>
                <a:spcPts val="2970"/>
              </a:lnSpc>
            </a:pPr>
            <a:r>
              <a:rPr lang="en-US" b="true" sz="2700">
                <a:solidFill>
                  <a:srgbClr val="FBF9F1"/>
                </a:solidFill>
                <a:latin typeface="Poppins Bold"/>
                <a:ea typeface="Poppins Bold"/>
                <a:cs typeface="Poppins Bold"/>
                <a:sym typeface="Poppins Bold"/>
              </a:rPr>
              <a:t> </a:t>
            </a:r>
          </a:p>
          <a:p>
            <a:pPr algn="l">
              <a:lnSpc>
                <a:spcPts val="13953"/>
              </a:lnSpc>
            </a:pPr>
            <a:r>
              <a:rPr lang="en-US" sz="12684" b="true">
                <a:solidFill>
                  <a:srgbClr val="FBF9F1"/>
                </a:solidFill>
                <a:latin typeface="Poppins Bold"/>
                <a:ea typeface="Poppins Bold"/>
                <a:cs typeface="Poppins Bold"/>
                <a:sym typeface="Poppins Bold"/>
              </a:rPr>
              <a:t>¡GRACIAS!</a:t>
            </a:r>
          </a:p>
        </p:txBody>
      </p:sp>
      <p:sp>
        <p:nvSpPr>
          <p:cNvPr name="Freeform 4" id="4"/>
          <p:cNvSpPr/>
          <p:nvPr/>
        </p:nvSpPr>
        <p:spPr>
          <a:xfrm flipH="false" flipV="false" rot="-10800000">
            <a:off x="-158874" y="-94408"/>
            <a:ext cx="4697437" cy="4913254"/>
          </a:xfrm>
          <a:custGeom>
            <a:avLst/>
            <a:gdLst/>
            <a:ahLst/>
            <a:cxnLst/>
            <a:rect r="r" b="b" t="t" l="l"/>
            <a:pathLst>
              <a:path h="4913254" w="4697437">
                <a:moveTo>
                  <a:pt x="0" y="0"/>
                </a:moveTo>
                <a:lnTo>
                  <a:pt x="4697437" y="0"/>
                </a:lnTo>
                <a:lnTo>
                  <a:pt x="4697437" y="4913253"/>
                </a:lnTo>
                <a:lnTo>
                  <a:pt x="0" y="4913253"/>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3787209" y="5458344"/>
            <a:ext cx="4697437" cy="4913254"/>
          </a:xfrm>
          <a:custGeom>
            <a:avLst/>
            <a:gdLst/>
            <a:ahLst/>
            <a:cxnLst/>
            <a:rect r="r" b="b" t="t" l="l"/>
            <a:pathLst>
              <a:path h="4913254" w="4697437">
                <a:moveTo>
                  <a:pt x="0" y="0"/>
                </a:moveTo>
                <a:lnTo>
                  <a:pt x="4697438" y="0"/>
                </a:lnTo>
                <a:lnTo>
                  <a:pt x="4697438" y="4913254"/>
                </a:lnTo>
                <a:lnTo>
                  <a:pt x="0" y="4913254"/>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DAGyh6hv9FE</dc:identifier>
  <dcterms:modified xsi:type="dcterms:W3CDTF">2011-08-01T06:04:30Z</dcterms:modified>
  <cp:revision>1</cp:revision>
  <dc:title>Adoptame Presentación</dc:title>
</cp:coreProperties>
</file>