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Poppins Bold" charset="1" panose="00000800000000000000"/>
      <p:regular r:id="rId22"/>
    </p:embeddedFont>
    <p:embeddedFont>
      <p:font typeface="Poppins Italics" charset="1" panose="00000500000000000000"/>
      <p:regular r:id="rId23"/>
    </p:embeddedFont>
    <p:embeddedFont>
      <p:font typeface="Poppins" charset="1" panose="00000500000000000000"/>
      <p:regular r:id="rId24"/>
    </p:embeddedFont>
    <p:embeddedFont>
      <p:font typeface="Lato" charset="1" panose="020F0502020204030203"/>
      <p:regular r:id="rId25"/>
    </p:embeddedFont>
    <p:embeddedFont>
      <p:font typeface="Lato Bold" charset="1" panose="020F0502020204030203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jpeg" Type="http://schemas.openxmlformats.org/officeDocument/2006/relationships/image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76010" y="637268"/>
            <a:ext cx="12525207" cy="9012465"/>
          </a:xfrm>
          <a:custGeom>
            <a:avLst/>
            <a:gdLst/>
            <a:ahLst/>
            <a:cxnLst/>
            <a:rect r="r" b="b" t="t" l="l"/>
            <a:pathLst>
              <a:path h="9012465" w="12525207">
                <a:moveTo>
                  <a:pt x="0" y="0"/>
                </a:moveTo>
                <a:lnTo>
                  <a:pt x="12525207" y="0"/>
                </a:lnTo>
                <a:lnTo>
                  <a:pt x="12525207" y="9012464"/>
                </a:lnTo>
                <a:lnTo>
                  <a:pt x="0" y="90124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" t="-501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47823" y="3545853"/>
            <a:ext cx="11411477" cy="2203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59"/>
              </a:lnSpc>
            </a:pPr>
            <a:r>
              <a:rPr lang="en-US" b="true" sz="14508">
                <a:solidFill>
                  <a:srgbClr val="333333"/>
                </a:solidFill>
                <a:latin typeface="Poppins Bold"/>
                <a:ea typeface="Poppins Bold"/>
                <a:cs typeface="Poppins Bold"/>
                <a:sym typeface="Poppins Bold"/>
              </a:rPr>
              <a:t>FAMILIA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75693" y="8683829"/>
            <a:ext cx="7762921" cy="566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i="true">
                <a:solidFill>
                  <a:srgbClr val="0A714E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Presentado por</a:t>
            </a:r>
            <a:r>
              <a:rPr lang="en-US" sz="3200">
                <a:solidFill>
                  <a:srgbClr val="0A714E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b="true" sz="3200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Carolina Medina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400000">
            <a:off x="14253481" y="-157749"/>
            <a:ext cx="4697437" cy="4913254"/>
          </a:xfrm>
          <a:custGeom>
            <a:avLst/>
            <a:gdLst/>
            <a:ahLst/>
            <a:cxnLst/>
            <a:rect r="r" b="b" t="t" l="l"/>
            <a:pathLst>
              <a:path h="4913254" w="4697437">
                <a:moveTo>
                  <a:pt x="0" y="0"/>
                </a:moveTo>
                <a:lnTo>
                  <a:pt x="4697437" y="0"/>
                </a:lnTo>
                <a:lnTo>
                  <a:pt x="4697437" y="4913253"/>
                </a:lnTo>
                <a:lnTo>
                  <a:pt x="0" y="4913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-690290" y="6560213"/>
            <a:ext cx="4684205" cy="4899413"/>
          </a:xfrm>
          <a:custGeom>
            <a:avLst/>
            <a:gdLst/>
            <a:ahLst/>
            <a:cxnLst/>
            <a:rect r="r" b="b" t="t" l="l"/>
            <a:pathLst>
              <a:path h="4899413" w="4684205">
                <a:moveTo>
                  <a:pt x="0" y="0"/>
                </a:moveTo>
                <a:lnTo>
                  <a:pt x="4684205" y="0"/>
                </a:lnTo>
                <a:lnTo>
                  <a:pt x="4684205" y="4899414"/>
                </a:lnTo>
                <a:lnTo>
                  <a:pt x="0" y="4899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4968" y="2223934"/>
            <a:ext cx="16830152" cy="7148135"/>
            <a:chOff x="0" y="0"/>
            <a:chExt cx="4432633" cy="18826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32633" cy="1882636"/>
            </a:xfrm>
            <a:custGeom>
              <a:avLst/>
              <a:gdLst/>
              <a:ahLst/>
              <a:cxnLst/>
              <a:rect r="r" b="b" t="t" l="l"/>
              <a:pathLst>
                <a:path h="1882636" w="4432633">
                  <a:moveTo>
                    <a:pt x="9200" y="0"/>
                  </a:moveTo>
                  <a:lnTo>
                    <a:pt x="4423432" y="0"/>
                  </a:lnTo>
                  <a:cubicBezTo>
                    <a:pt x="4428513" y="0"/>
                    <a:pt x="4432633" y="4119"/>
                    <a:pt x="4432633" y="9200"/>
                  </a:cubicBezTo>
                  <a:lnTo>
                    <a:pt x="4432633" y="1873436"/>
                  </a:lnTo>
                  <a:cubicBezTo>
                    <a:pt x="4432633" y="1878517"/>
                    <a:pt x="4428513" y="1882636"/>
                    <a:pt x="4423432" y="1882636"/>
                  </a:cubicBezTo>
                  <a:lnTo>
                    <a:pt x="9200" y="1882636"/>
                  </a:lnTo>
                  <a:cubicBezTo>
                    <a:pt x="4119" y="1882636"/>
                    <a:pt x="0" y="1878517"/>
                    <a:pt x="0" y="1873436"/>
                  </a:cubicBezTo>
                  <a:lnTo>
                    <a:pt x="0" y="9200"/>
                  </a:lnTo>
                  <a:cubicBezTo>
                    <a:pt x="0" y="4119"/>
                    <a:pt x="4119" y="0"/>
                    <a:pt x="9200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32633" cy="19207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95304" y="2888242"/>
            <a:ext cx="14530408" cy="3798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6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En la actualidad cada año el gobierno ha destinado mediante la Subsecretaria de de Desarrollo Regional y Administrativo (SUBDERE) al rededor de 500 millones de pesos a fondos para la tenencia responsable de mascotas y animales abandonados, sin considerar que el sector privado destina mucho mas recursos económicos en estas materias.</a:t>
            </a:r>
          </a:p>
          <a:p>
            <a:pPr algn="just">
              <a:lnSpc>
                <a:spcPts val="3779"/>
              </a:lnSpc>
            </a:pPr>
            <a:r>
              <a:rPr lang="en-US" sz="26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Alta tasa de devolución de mascotas debido a "matches" subjetivos basados en estética y no en psicografía.</a:t>
            </a:r>
          </a:p>
          <a:p>
            <a:pPr algn="just">
              <a:lnSpc>
                <a:spcPts val="3779"/>
              </a:lnSpc>
            </a:pPr>
            <a:r>
              <a:rPr lang="en-US" sz="26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Exceso de horas-hombre en entrevistas iniciales y pre-selección manual.</a:t>
            </a:r>
          </a:p>
          <a:p>
            <a:pPr algn="just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true" rot="-1542318">
            <a:off x="12687733" y="-4343179"/>
            <a:ext cx="7674102" cy="8229600"/>
          </a:xfrm>
          <a:custGeom>
            <a:avLst/>
            <a:gdLst/>
            <a:ahLst/>
            <a:cxnLst/>
            <a:rect r="r" b="b" t="t" l="l"/>
            <a:pathLst>
              <a:path h="8229600" w="7674102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>
              <a:alphaModFix amt="96000"/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16102" y="1019175"/>
            <a:ext cx="13255795" cy="9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b="true" sz="6000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CONTEXTO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8924" y="603626"/>
            <a:ext cx="16830152" cy="8440946"/>
            <a:chOff x="0" y="0"/>
            <a:chExt cx="4432633" cy="22231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32633" cy="2223130"/>
            </a:xfrm>
            <a:custGeom>
              <a:avLst/>
              <a:gdLst/>
              <a:ahLst/>
              <a:cxnLst/>
              <a:rect r="r" b="b" t="t" l="l"/>
              <a:pathLst>
                <a:path h="2223130" w="4432633">
                  <a:moveTo>
                    <a:pt x="9200" y="0"/>
                  </a:moveTo>
                  <a:lnTo>
                    <a:pt x="4423432" y="0"/>
                  </a:lnTo>
                  <a:cubicBezTo>
                    <a:pt x="4428513" y="0"/>
                    <a:pt x="4432633" y="4119"/>
                    <a:pt x="4432633" y="9200"/>
                  </a:cubicBezTo>
                  <a:lnTo>
                    <a:pt x="4432633" y="2213930"/>
                  </a:lnTo>
                  <a:cubicBezTo>
                    <a:pt x="4432633" y="2219011"/>
                    <a:pt x="4428513" y="2223130"/>
                    <a:pt x="4423432" y="2223130"/>
                  </a:cubicBezTo>
                  <a:lnTo>
                    <a:pt x="9200" y="2223130"/>
                  </a:lnTo>
                  <a:cubicBezTo>
                    <a:pt x="4119" y="2223130"/>
                    <a:pt x="0" y="2219011"/>
                    <a:pt x="0" y="2213930"/>
                  </a:cubicBezTo>
                  <a:lnTo>
                    <a:pt x="0" y="9200"/>
                  </a:lnTo>
                  <a:cubicBezTo>
                    <a:pt x="0" y="4119"/>
                    <a:pt x="4119" y="0"/>
                    <a:pt x="9200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32633" cy="2261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65862" y="3366731"/>
            <a:ext cx="14956276" cy="4178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FamilIA es una solución tecnológica de vanguardia diseñada para optimizar el proceso de adopción de mascotas mediante el uso de Inteligencia Artificial Generativa (GenAI). A través de un ecosistema Full-Stack robusto que orqueste modelos de IA (Gemini 3.1 Pro (High) y Gemini 3 Flash) para automatizar el emparejamiento semántico entre humanos y mascotas, optimizando la gestion de refugios y reduciendo la tasa de devolución menor al 5%.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Con esta aplicación se propone reducir en un 60% el tiempo de permanencia en refugios mediante algoritmos de predicción.</a:t>
            </a:r>
          </a:p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Generar bases de datos estructuradas para la toma de decisiones gubernamentales basadas en patrones.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Automatizar la etapa de pre-selección eliminando el sesgo humano y garantizando compatibilidad de estilo de vida.</a:t>
            </a:r>
          </a:p>
        </p:txBody>
      </p:sp>
      <p:sp>
        <p:nvSpPr>
          <p:cNvPr name="Freeform 6" id="6"/>
          <p:cNvSpPr/>
          <p:nvPr/>
        </p:nvSpPr>
        <p:spPr>
          <a:xfrm flipH="false" flipV="true" rot="-1542318">
            <a:off x="13254198" y="-4807681"/>
            <a:ext cx="7674102" cy="8229600"/>
          </a:xfrm>
          <a:custGeom>
            <a:avLst/>
            <a:gdLst/>
            <a:ahLst/>
            <a:cxnLst/>
            <a:rect r="r" b="b" t="t" l="l"/>
            <a:pathLst>
              <a:path h="8229600" w="7674102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>
              <a:alphaModFix amt="96000"/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16102" y="1019175"/>
            <a:ext cx="13255795" cy="9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b="true" sz="6000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OBJETIVOS GENERALES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5286" y="702513"/>
            <a:ext cx="16404909" cy="9092717"/>
            <a:chOff x="0" y="0"/>
            <a:chExt cx="4320635" cy="23947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20635" cy="2394789"/>
            </a:xfrm>
            <a:custGeom>
              <a:avLst/>
              <a:gdLst/>
              <a:ahLst/>
              <a:cxnLst/>
              <a:rect r="r" b="b" t="t" l="l"/>
              <a:pathLst>
                <a:path h="2394789" w="4320635">
                  <a:moveTo>
                    <a:pt x="9439" y="0"/>
                  </a:moveTo>
                  <a:lnTo>
                    <a:pt x="4311196" y="0"/>
                  </a:lnTo>
                  <a:cubicBezTo>
                    <a:pt x="4313699" y="0"/>
                    <a:pt x="4316100" y="994"/>
                    <a:pt x="4317870" y="2764"/>
                  </a:cubicBezTo>
                  <a:cubicBezTo>
                    <a:pt x="4319640" y="4535"/>
                    <a:pt x="4320635" y="6935"/>
                    <a:pt x="4320635" y="9439"/>
                  </a:cubicBezTo>
                  <a:lnTo>
                    <a:pt x="4320635" y="2385351"/>
                  </a:lnTo>
                  <a:cubicBezTo>
                    <a:pt x="4320635" y="2387854"/>
                    <a:pt x="4319640" y="2390255"/>
                    <a:pt x="4317870" y="2392025"/>
                  </a:cubicBezTo>
                  <a:cubicBezTo>
                    <a:pt x="4316100" y="2393795"/>
                    <a:pt x="4313699" y="2394789"/>
                    <a:pt x="4311196" y="2394789"/>
                  </a:cubicBezTo>
                  <a:lnTo>
                    <a:pt x="9439" y="2394789"/>
                  </a:lnTo>
                  <a:cubicBezTo>
                    <a:pt x="6935" y="2394789"/>
                    <a:pt x="4535" y="2393795"/>
                    <a:pt x="2764" y="2392025"/>
                  </a:cubicBezTo>
                  <a:cubicBezTo>
                    <a:pt x="994" y="2390255"/>
                    <a:pt x="0" y="2387854"/>
                    <a:pt x="0" y="2385351"/>
                  </a:cubicBezTo>
                  <a:lnTo>
                    <a:pt x="0" y="9439"/>
                  </a:lnTo>
                  <a:cubicBezTo>
                    <a:pt x="0" y="6935"/>
                    <a:pt x="994" y="4535"/>
                    <a:pt x="2764" y="2764"/>
                  </a:cubicBezTo>
                  <a:cubicBezTo>
                    <a:pt x="4535" y="994"/>
                    <a:pt x="6935" y="0"/>
                    <a:pt x="9439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20635" cy="2432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6626729">
            <a:off x="-8130685" y="2389405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446177" y="1113463"/>
            <a:ext cx="8700580" cy="83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49"/>
              </a:lnSpc>
            </a:pPr>
            <a:r>
              <a:rPr lang="en-US" b="true" sz="5499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OBJETIVOS ESPECIFICOS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310410" y="3031162"/>
            <a:ext cx="365671" cy="368434"/>
          </a:xfrm>
          <a:custGeom>
            <a:avLst/>
            <a:gdLst/>
            <a:ahLst/>
            <a:cxnLst/>
            <a:rect r="r" b="b" t="t" l="l"/>
            <a:pathLst>
              <a:path h="368434" w="365671">
                <a:moveTo>
                  <a:pt x="0" y="0"/>
                </a:moveTo>
                <a:lnTo>
                  <a:pt x="365671" y="0"/>
                </a:lnTo>
                <a:lnTo>
                  <a:pt x="365671" y="368435"/>
                </a:lnTo>
                <a:lnTo>
                  <a:pt x="0" y="3684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275679" y="4170532"/>
            <a:ext cx="400402" cy="403428"/>
          </a:xfrm>
          <a:custGeom>
            <a:avLst/>
            <a:gdLst/>
            <a:ahLst/>
            <a:cxnLst/>
            <a:rect r="r" b="b" t="t" l="l"/>
            <a:pathLst>
              <a:path h="403428" w="400402">
                <a:moveTo>
                  <a:pt x="0" y="0"/>
                </a:moveTo>
                <a:lnTo>
                  <a:pt x="400402" y="0"/>
                </a:lnTo>
                <a:lnTo>
                  <a:pt x="400402" y="403427"/>
                </a:lnTo>
                <a:lnTo>
                  <a:pt x="0" y="4034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317182" y="7975842"/>
            <a:ext cx="376264" cy="379108"/>
          </a:xfrm>
          <a:custGeom>
            <a:avLst/>
            <a:gdLst/>
            <a:ahLst/>
            <a:cxnLst/>
            <a:rect r="r" b="b" t="t" l="l"/>
            <a:pathLst>
              <a:path h="379108" w="376264">
                <a:moveTo>
                  <a:pt x="0" y="0"/>
                </a:moveTo>
                <a:lnTo>
                  <a:pt x="376265" y="0"/>
                </a:lnTo>
                <a:lnTo>
                  <a:pt x="376265" y="379108"/>
                </a:lnTo>
                <a:lnTo>
                  <a:pt x="0" y="3791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076287" y="2983537"/>
            <a:ext cx="12107170" cy="1108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Reducir el tiempo promedio de adopción: Lograr que un animal pase un porcentaje de menos de tiempo en el refugio desde su ingreso hasta su adopción definitiva gracias a la agilidad del emparejamiento digital.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76287" y="4122907"/>
            <a:ext cx="12107170" cy="1108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Acelerar la etapa de pre-selección: Disminuir en un porcentaje las horas hombre dedicadas por el personal de los refugios a las entrevistas iniciales y revisión de perfiles, automatizando el filtrado mediante el algoritmo.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076287" y="6753264"/>
            <a:ext cx="12343693" cy="737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4"/>
              </a:lnSpc>
            </a:pPr>
            <a:r>
              <a:rPr lang="en-US" sz="211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Crear una base de datos analítica: Generar reportes mensuales sobre perfiles de adoptantes y demanda de tipos de mascotas para ayudar a los organismos públicos a tomar decisiones basadas en datos reales.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76287" y="5322533"/>
            <a:ext cx="12107170" cy="1108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Generar ahorro operativo: Reducir los costos directos de mantención (alimento, caniles y medicina preventiva) de las instituciones en un porcentaje significativo anual, al acelerar el flujo de salida de los animales hacia hogares permanentes.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3275679" y="5345484"/>
            <a:ext cx="393630" cy="396605"/>
          </a:xfrm>
          <a:custGeom>
            <a:avLst/>
            <a:gdLst/>
            <a:ahLst/>
            <a:cxnLst/>
            <a:rect r="r" b="b" t="t" l="l"/>
            <a:pathLst>
              <a:path h="396605" w="393630">
                <a:moveTo>
                  <a:pt x="0" y="0"/>
                </a:moveTo>
                <a:lnTo>
                  <a:pt x="393630" y="0"/>
                </a:lnTo>
                <a:lnTo>
                  <a:pt x="393630" y="396605"/>
                </a:lnTo>
                <a:lnTo>
                  <a:pt x="0" y="396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293045" y="6800889"/>
            <a:ext cx="400402" cy="403428"/>
          </a:xfrm>
          <a:custGeom>
            <a:avLst/>
            <a:gdLst/>
            <a:ahLst/>
            <a:cxnLst/>
            <a:rect r="r" b="b" t="t" l="l"/>
            <a:pathLst>
              <a:path h="403428" w="400402">
                <a:moveTo>
                  <a:pt x="0" y="0"/>
                </a:moveTo>
                <a:lnTo>
                  <a:pt x="400402" y="0"/>
                </a:lnTo>
                <a:lnTo>
                  <a:pt x="400402" y="403428"/>
                </a:lnTo>
                <a:lnTo>
                  <a:pt x="0" y="4034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076287" y="7843401"/>
            <a:ext cx="12107170" cy="737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Minimizar la tasa de devolución: Mantener el índice de devoluciones por incompatibilidad por debajo del porcentaje  (siendo el estándar actual mucho más alto), asegurando vínculos duraderos.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5286" y="702513"/>
            <a:ext cx="16404909" cy="9092717"/>
            <a:chOff x="0" y="0"/>
            <a:chExt cx="4320635" cy="23947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20635" cy="2394789"/>
            </a:xfrm>
            <a:custGeom>
              <a:avLst/>
              <a:gdLst/>
              <a:ahLst/>
              <a:cxnLst/>
              <a:rect r="r" b="b" t="t" l="l"/>
              <a:pathLst>
                <a:path h="2394789" w="4320635">
                  <a:moveTo>
                    <a:pt x="9439" y="0"/>
                  </a:moveTo>
                  <a:lnTo>
                    <a:pt x="4311196" y="0"/>
                  </a:lnTo>
                  <a:cubicBezTo>
                    <a:pt x="4313699" y="0"/>
                    <a:pt x="4316100" y="994"/>
                    <a:pt x="4317870" y="2764"/>
                  </a:cubicBezTo>
                  <a:cubicBezTo>
                    <a:pt x="4319640" y="4535"/>
                    <a:pt x="4320635" y="6935"/>
                    <a:pt x="4320635" y="9439"/>
                  </a:cubicBezTo>
                  <a:lnTo>
                    <a:pt x="4320635" y="2385351"/>
                  </a:lnTo>
                  <a:cubicBezTo>
                    <a:pt x="4320635" y="2387854"/>
                    <a:pt x="4319640" y="2390255"/>
                    <a:pt x="4317870" y="2392025"/>
                  </a:cubicBezTo>
                  <a:cubicBezTo>
                    <a:pt x="4316100" y="2393795"/>
                    <a:pt x="4313699" y="2394789"/>
                    <a:pt x="4311196" y="2394789"/>
                  </a:cubicBezTo>
                  <a:lnTo>
                    <a:pt x="9439" y="2394789"/>
                  </a:lnTo>
                  <a:cubicBezTo>
                    <a:pt x="6935" y="2394789"/>
                    <a:pt x="4535" y="2393795"/>
                    <a:pt x="2764" y="2392025"/>
                  </a:cubicBezTo>
                  <a:cubicBezTo>
                    <a:pt x="994" y="2390255"/>
                    <a:pt x="0" y="2387854"/>
                    <a:pt x="0" y="2385351"/>
                  </a:cubicBezTo>
                  <a:lnTo>
                    <a:pt x="0" y="9439"/>
                  </a:lnTo>
                  <a:cubicBezTo>
                    <a:pt x="0" y="6935"/>
                    <a:pt x="994" y="4535"/>
                    <a:pt x="2764" y="2764"/>
                  </a:cubicBezTo>
                  <a:cubicBezTo>
                    <a:pt x="4535" y="994"/>
                    <a:pt x="6935" y="0"/>
                    <a:pt x="9439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20635" cy="2432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6626729">
            <a:off x="-8130685" y="2389405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32731" y="1137693"/>
            <a:ext cx="8700580" cy="83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9"/>
              </a:lnSpc>
            </a:pPr>
            <a:r>
              <a:rPr lang="en-US" b="true" sz="5499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ALCANCE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310410" y="2623561"/>
            <a:ext cx="365671" cy="368434"/>
          </a:xfrm>
          <a:custGeom>
            <a:avLst/>
            <a:gdLst/>
            <a:ahLst/>
            <a:cxnLst/>
            <a:rect r="r" b="b" t="t" l="l"/>
            <a:pathLst>
              <a:path h="368434" w="365671">
                <a:moveTo>
                  <a:pt x="0" y="0"/>
                </a:moveTo>
                <a:lnTo>
                  <a:pt x="365671" y="0"/>
                </a:lnTo>
                <a:lnTo>
                  <a:pt x="365671" y="368434"/>
                </a:lnTo>
                <a:lnTo>
                  <a:pt x="0" y="368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305114" y="7382629"/>
            <a:ext cx="376264" cy="379108"/>
          </a:xfrm>
          <a:custGeom>
            <a:avLst/>
            <a:gdLst/>
            <a:ahLst/>
            <a:cxnLst/>
            <a:rect r="r" b="b" t="t" l="l"/>
            <a:pathLst>
              <a:path h="379108" w="376264">
                <a:moveTo>
                  <a:pt x="0" y="0"/>
                </a:moveTo>
                <a:lnTo>
                  <a:pt x="376264" y="0"/>
                </a:lnTo>
                <a:lnTo>
                  <a:pt x="376264" y="379108"/>
                </a:lnTo>
                <a:lnTo>
                  <a:pt x="0" y="3791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076287" y="2575936"/>
            <a:ext cx="12107170" cy="1851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Módulo del Adoptante (App Móvil React):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Registro y perfilamiento psicográfico mediante un formulario dinámico.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Visualización de "Matches" generados por Gemini 3.1 Pro, incluyendo una explicación semántica de la compatibilidad.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076287" y="4504935"/>
            <a:ext cx="12107170" cy="259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Módulo del Refugio/Municipio (Plataforma Web React):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Gestión de inventario de mascotas (ingreso de fichas, fotos y antecedentes conductuales).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Visualización de analítica básica: número de adopciones exitosas y estimación de ahorro de recursos por liberación de cupos.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Herramienta de "Generación de Perfiles": Uso de GenAI para crear descripciones atractivas de las mascotas a partir de datos técnicos.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282451" y="4552560"/>
            <a:ext cx="393630" cy="396605"/>
          </a:xfrm>
          <a:custGeom>
            <a:avLst/>
            <a:gdLst/>
            <a:ahLst/>
            <a:cxnLst/>
            <a:rect r="r" b="b" t="t" l="l"/>
            <a:pathLst>
              <a:path h="396605" w="393630">
                <a:moveTo>
                  <a:pt x="0" y="0"/>
                </a:moveTo>
                <a:lnTo>
                  <a:pt x="393630" y="0"/>
                </a:lnTo>
                <a:lnTo>
                  <a:pt x="393630" y="396604"/>
                </a:lnTo>
                <a:lnTo>
                  <a:pt x="0" y="396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76287" y="7335004"/>
            <a:ext cx="12107170" cy="2223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Alcance Técnico (La infraestructura)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Despliegue Cloud Full-Stack: Implementación de la solución utilizando Firebase como plataforma única para Backend (Functions), Base de Datos (Firestore), Autenticación y Almacenamiento.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Integración de IA Generativa: Conexión mediante la API de Antigravity para orquestar los modelos Gemini. El alcance se limita al procesamiento de texto y razonamiento lógico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5286" y="283329"/>
            <a:ext cx="16404909" cy="9783805"/>
            <a:chOff x="0" y="0"/>
            <a:chExt cx="4320635" cy="25768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20635" cy="2576805"/>
            </a:xfrm>
            <a:custGeom>
              <a:avLst/>
              <a:gdLst/>
              <a:ahLst/>
              <a:cxnLst/>
              <a:rect r="r" b="b" t="t" l="l"/>
              <a:pathLst>
                <a:path h="2576805" w="4320635">
                  <a:moveTo>
                    <a:pt x="9439" y="0"/>
                  </a:moveTo>
                  <a:lnTo>
                    <a:pt x="4311196" y="0"/>
                  </a:lnTo>
                  <a:cubicBezTo>
                    <a:pt x="4313699" y="0"/>
                    <a:pt x="4316100" y="994"/>
                    <a:pt x="4317870" y="2764"/>
                  </a:cubicBezTo>
                  <a:cubicBezTo>
                    <a:pt x="4319640" y="4535"/>
                    <a:pt x="4320635" y="6935"/>
                    <a:pt x="4320635" y="9439"/>
                  </a:cubicBezTo>
                  <a:lnTo>
                    <a:pt x="4320635" y="2567366"/>
                  </a:lnTo>
                  <a:cubicBezTo>
                    <a:pt x="4320635" y="2569869"/>
                    <a:pt x="4319640" y="2572270"/>
                    <a:pt x="4317870" y="2574040"/>
                  </a:cubicBezTo>
                  <a:cubicBezTo>
                    <a:pt x="4316100" y="2575810"/>
                    <a:pt x="4313699" y="2576805"/>
                    <a:pt x="4311196" y="2576805"/>
                  </a:cubicBezTo>
                  <a:lnTo>
                    <a:pt x="9439" y="2576805"/>
                  </a:lnTo>
                  <a:cubicBezTo>
                    <a:pt x="6935" y="2576805"/>
                    <a:pt x="4535" y="2575810"/>
                    <a:pt x="2764" y="2574040"/>
                  </a:cubicBezTo>
                  <a:cubicBezTo>
                    <a:pt x="994" y="2572270"/>
                    <a:pt x="0" y="2569869"/>
                    <a:pt x="0" y="2567366"/>
                  </a:cubicBezTo>
                  <a:lnTo>
                    <a:pt x="0" y="9439"/>
                  </a:lnTo>
                  <a:cubicBezTo>
                    <a:pt x="0" y="6935"/>
                    <a:pt x="994" y="4535"/>
                    <a:pt x="2764" y="2764"/>
                  </a:cubicBezTo>
                  <a:cubicBezTo>
                    <a:pt x="4535" y="994"/>
                    <a:pt x="6935" y="0"/>
                    <a:pt x="9439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20635" cy="2614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6626729">
            <a:off x="-8731139" y="2321429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436942" y="874319"/>
            <a:ext cx="8676966" cy="540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b="true" sz="3600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REQUERIMIENTOS FUNCIONALES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16169" y="1951552"/>
            <a:ext cx="6359256" cy="768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0A714E"/>
                </a:solidFill>
                <a:latin typeface="Lato Bold"/>
                <a:ea typeface="Lato Bold"/>
                <a:cs typeface="Lato Bold"/>
                <a:sym typeface="Lato Bold"/>
              </a:rPr>
              <a:t>Gestión de Usuarios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RF-01: Registro de Adoptantes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El sistema deberá permitir que un usuario se registre mediante correo electrónico y contraseña.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RF-02: Inicio de Sesión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El sistema deberá autenticar usuarios mediante Firebase Authentication.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RF-03: Gestión de Perfil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El adoptante podrá editar su información personal y preferencias.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0A714E"/>
                </a:solidFill>
                <a:latin typeface="Lato Bold"/>
                <a:ea typeface="Lato Bold"/>
                <a:cs typeface="Lato Bold"/>
                <a:sym typeface="Lato Bold"/>
              </a:rPr>
              <a:t>Perfilamiento Psicográfico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RF-04: Cuestionario Inicial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El sistema deberá presentar un formulario dinámico para conocer:</a:t>
            </a:r>
          </a:p>
          <a:p>
            <a:pPr algn="l" marL="259080" indent="-129540" lvl="1">
              <a:lnSpc>
                <a:spcPts val="1679"/>
              </a:lnSpc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Tipo de vivienda</a:t>
            </a:r>
          </a:p>
          <a:p>
            <a:pPr algn="l" marL="259080" indent="-129540" lvl="1">
              <a:lnSpc>
                <a:spcPts val="1679"/>
              </a:lnSpc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Horarios disponibles</a:t>
            </a:r>
          </a:p>
          <a:p>
            <a:pPr algn="l" marL="259080" indent="-129540" lvl="1">
              <a:lnSpc>
                <a:spcPts val="1679"/>
              </a:lnSpc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Experiencia con mascotas</a:t>
            </a:r>
          </a:p>
          <a:p>
            <a:pPr algn="l" marL="259080" indent="-129540" lvl="1">
              <a:lnSpc>
                <a:spcPts val="1679"/>
              </a:lnSpc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Nivel de actividad física</a:t>
            </a:r>
          </a:p>
          <a:p>
            <a:pPr algn="l" marL="259080" indent="-129540" lvl="1">
              <a:lnSpc>
                <a:spcPts val="1679"/>
              </a:lnSpc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Composición familiar</a:t>
            </a:r>
          </a:p>
          <a:p>
            <a:pPr algn="l" marL="259080" indent="-129540" lvl="1">
              <a:lnSpc>
                <a:spcPts val="1679"/>
              </a:lnSpc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Presupuesto estimado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RF-05: Almacenamiento de Perfil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El sistema deberá almacenar las respuestas del cuestionario en Firestore.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0A714E"/>
                </a:solidFill>
                <a:latin typeface="Lato Bold"/>
                <a:ea typeface="Lato Bold"/>
                <a:cs typeface="Lato Bold"/>
                <a:sym typeface="Lato Bold"/>
              </a:rPr>
              <a:t>Motor de Compatibilidad IA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RF-06: Generación de Compatibilidad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El sistema deberá enviar los perfiles del adoptante y de las mascotas al motor Gemini para calcular compatibilidad.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RF-07: Ranking de Matches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El sistema deberá devolver una lista ordenada de mascotas compatibles.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820987" y="1951552"/>
            <a:ext cx="6687806" cy="768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0A714E"/>
                </a:solidFill>
                <a:latin typeface="Lato Bold"/>
                <a:ea typeface="Lato Bold"/>
                <a:cs typeface="Lato Bold"/>
                <a:sym typeface="Lato Bold"/>
              </a:rPr>
              <a:t>Motor de Compatibilidad IA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RF-8: Explicación Semántica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El sistema deberá mostrar una explicación generada por IA indicando por qué existe compatibilidad entre usuario y mascota.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RF-9: Recomendaciones Alternativas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El sistema deberá sugerir mascotas similares cuando no exista una coincidencia alta.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0A714E"/>
                </a:solidFill>
                <a:latin typeface="Lato Bold"/>
                <a:ea typeface="Lato Bold"/>
                <a:cs typeface="Lato Bold"/>
                <a:sym typeface="Lato Bold"/>
              </a:rPr>
              <a:t>Gestión de Mascotas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RF-10: Registro de Mascotas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El refugio deberá poder registrar mascotas indicando:</a:t>
            </a:r>
          </a:p>
          <a:p>
            <a:pPr algn="l" marL="259080" indent="-129540" lvl="1">
              <a:lnSpc>
                <a:spcPts val="1679"/>
              </a:lnSpc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ombre</a:t>
            </a:r>
          </a:p>
          <a:p>
            <a:pPr algn="l" marL="259080" indent="-129540" lvl="1">
              <a:lnSpc>
                <a:spcPts val="1679"/>
              </a:lnSpc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Edad</a:t>
            </a:r>
          </a:p>
          <a:p>
            <a:pPr algn="l" marL="259080" indent="-129540" lvl="1">
              <a:lnSpc>
                <a:spcPts val="1679"/>
              </a:lnSpc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Sexo</a:t>
            </a:r>
          </a:p>
          <a:p>
            <a:pPr algn="l" marL="259080" indent="-129540" lvl="1">
              <a:lnSpc>
                <a:spcPts val="1679"/>
              </a:lnSpc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Tamaño</a:t>
            </a:r>
          </a:p>
          <a:p>
            <a:pPr algn="l" marL="259080" indent="-129540" lvl="1">
              <a:lnSpc>
                <a:spcPts val="1679"/>
              </a:lnSpc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Estado de salud</a:t>
            </a:r>
          </a:p>
          <a:p>
            <a:pPr algn="l" marL="259080" indent="-129540" lvl="1">
              <a:lnSpc>
                <a:spcPts val="1679"/>
              </a:lnSpc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Temperamento</a:t>
            </a:r>
          </a:p>
          <a:p>
            <a:pPr algn="l" marL="259080" indent="-129540" lvl="1">
              <a:lnSpc>
                <a:spcPts val="1679"/>
              </a:lnSpc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Fotografías</a:t>
            </a:r>
          </a:p>
          <a:p>
            <a:pPr algn="l" marL="259080" indent="-129540" lvl="1">
              <a:lnSpc>
                <a:spcPts val="1679"/>
              </a:lnSpc>
              <a:buFont typeface="Arial"/>
              <a:buChar char="•"/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H</a:t>
            </a: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istorial conductual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RF-11: Edición de Mascotas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El refugio podrá actualizar la información de una mascota.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714E"/>
                </a:solidFill>
                <a:latin typeface="Lato"/>
                <a:ea typeface="Lato"/>
                <a:cs typeface="Lato"/>
                <a:sym typeface="Lato"/>
              </a:rPr>
              <a:t>Solicitudes de Adopción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RF-16: Solicitud de Adopción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El usuario podrá solicitar formalmente la adopción de una mascota.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RF-17: Gestión de Solicitudes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El refugio podrá aprobar o rechazar solicitudes.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RF-18: Historial de Solicitudes</a:t>
            </a:r>
          </a:p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El sistema almacenará el historial de postulaciones.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5286" y="283329"/>
            <a:ext cx="16404909" cy="9783805"/>
            <a:chOff x="0" y="0"/>
            <a:chExt cx="4320635" cy="25768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20635" cy="2576805"/>
            </a:xfrm>
            <a:custGeom>
              <a:avLst/>
              <a:gdLst/>
              <a:ahLst/>
              <a:cxnLst/>
              <a:rect r="r" b="b" t="t" l="l"/>
              <a:pathLst>
                <a:path h="2576805" w="4320635">
                  <a:moveTo>
                    <a:pt x="9439" y="0"/>
                  </a:moveTo>
                  <a:lnTo>
                    <a:pt x="4311196" y="0"/>
                  </a:lnTo>
                  <a:cubicBezTo>
                    <a:pt x="4313699" y="0"/>
                    <a:pt x="4316100" y="994"/>
                    <a:pt x="4317870" y="2764"/>
                  </a:cubicBezTo>
                  <a:cubicBezTo>
                    <a:pt x="4319640" y="4535"/>
                    <a:pt x="4320635" y="6935"/>
                    <a:pt x="4320635" y="9439"/>
                  </a:cubicBezTo>
                  <a:lnTo>
                    <a:pt x="4320635" y="2567366"/>
                  </a:lnTo>
                  <a:cubicBezTo>
                    <a:pt x="4320635" y="2569869"/>
                    <a:pt x="4319640" y="2572270"/>
                    <a:pt x="4317870" y="2574040"/>
                  </a:cubicBezTo>
                  <a:cubicBezTo>
                    <a:pt x="4316100" y="2575810"/>
                    <a:pt x="4313699" y="2576805"/>
                    <a:pt x="4311196" y="2576805"/>
                  </a:cubicBezTo>
                  <a:lnTo>
                    <a:pt x="9439" y="2576805"/>
                  </a:lnTo>
                  <a:cubicBezTo>
                    <a:pt x="6935" y="2576805"/>
                    <a:pt x="4535" y="2575810"/>
                    <a:pt x="2764" y="2574040"/>
                  </a:cubicBezTo>
                  <a:cubicBezTo>
                    <a:pt x="994" y="2572270"/>
                    <a:pt x="0" y="2569869"/>
                    <a:pt x="0" y="2567366"/>
                  </a:cubicBezTo>
                  <a:lnTo>
                    <a:pt x="0" y="9439"/>
                  </a:lnTo>
                  <a:cubicBezTo>
                    <a:pt x="0" y="6935"/>
                    <a:pt x="994" y="4535"/>
                    <a:pt x="2764" y="2764"/>
                  </a:cubicBezTo>
                  <a:cubicBezTo>
                    <a:pt x="4535" y="994"/>
                    <a:pt x="6935" y="0"/>
                    <a:pt x="9439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20635" cy="2614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6626729">
            <a:off x="-8731139" y="2321429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05063" y="853465"/>
            <a:ext cx="9877873" cy="612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0"/>
              </a:lnSpc>
            </a:pPr>
            <a:r>
              <a:rPr lang="en-US" b="true" sz="4000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REQUERIMIENTOS NO FUNCIONALES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16169" y="1951552"/>
            <a:ext cx="6574513" cy="7432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714E"/>
                </a:solidFill>
                <a:latin typeface="Lato"/>
                <a:ea typeface="Lato"/>
                <a:cs typeface="Lato"/>
                <a:sym typeface="Lato"/>
              </a:rPr>
              <a:t>Rendimiento</a:t>
            </a:r>
          </a:p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RNF-01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El tiempo de respuesta de consultas normales no deberá superar 3 segundos.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RNF-02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La generación de compatibilidad mediante IA no deberá superar 10 segundos.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RNF-03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El sistema deberá soportar al menos 500 usuarios concurrentes.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A714E"/>
                </a:solidFill>
                <a:latin typeface="Lato"/>
                <a:ea typeface="Lato"/>
                <a:cs typeface="Lato"/>
                <a:sym typeface="Lato"/>
              </a:rPr>
              <a:t>Seguridad</a:t>
            </a:r>
          </a:p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RNF-04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Toda la comunicación deberá utilizar HTTPS.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RNF-05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Las contraseñas deberán ser gestionadas mediante Firebase Authentication.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0A714E"/>
                </a:solidFill>
                <a:latin typeface="Lato Bold"/>
                <a:ea typeface="Lato Bold"/>
                <a:cs typeface="Lato Bold"/>
                <a:sym typeface="Lato Bold"/>
              </a:rPr>
              <a:t>Mantenibilidad</a:t>
            </a:r>
          </a:p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RNF-16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La arquitectura deberá seguir una estructura multicapa:</a:t>
            </a:r>
          </a:p>
          <a:p>
            <a:pPr algn="l" marL="259080" indent="-129540" lvl="1">
              <a:lnSpc>
                <a:spcPts val="1679"/>
              </a:lnSpc>
              <a:buFont typeface="Arial"/>
              <a:buChar char="•"/>
            </a:pPr>
            <a:r>
              <a:rPr lang="en-US" b="true" sz="1200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Frontend</a:t>
            </a:r>
          </a:p>
          <a:p>
            <a:pPr algn="l" marL="259080" indent="-129540" lvl="1">
              <a:lnSpc>
                <a:spcPts val="1679"/>
              </a:lnSpc>
              <a:buFont typeface="Arial"/>
              <a:buChar char="•"/>
            </a:pPr>
            <a:r>
              <a:rPr lang="en-US" b="true" sz="1200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Backend/API</a:t>
            </a:r>
          </a:p>
          <a:p>
            <a:pPr algn="l" marL="259080" indent="-129540" lvl="1">
              <a:lnSpc>
                <a:spcPts val="1679"/>
              </a:lnSpc>
              <a:buFont typeface="Arial"/>
              <a:buChar char="•"/>
            </a:pPr>
            <a:r>
              <a:rPr lang="en-US" b="true" sz="1200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IA</a:t>
            </a:r>
          </a:p>
          <a:p>
            <a:pPr algn="l" marL="259080" indent="-129540" lvl="1">
              <a:lnSpc>
                <a:spcPts val="1679"/>
              </a:lnSpc>
              <a:buFont typeface="Arial"/>
              <a:buChar char="•"/>
            </a:pPr>
            <a:r>
              <a:rPr lang="en-US" b="true" sz="1200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Base de Datos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0A714E"/>
                </a:solidFill>
                <a:latin typeface="Lato Bold"/>
                <a:ea typeface="Lato Bold"/>
                <a:cs typeface="Lato Bold"/>
                <a:sym typeface="Lato Bold"/>
              </a:rPr>
              <a:t>Disponibilidad</a:t>
            </a:r>
          </a:p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RNF-08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La plataforma deberá tener una disponibilidad mínima del 99%.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RNF-09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Los datos deberán mantenerse respaldados automáticamente mediante Firebase.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820987" y="1951552"/>
            <a:ext cx="6359256" cy="659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0A714E"/>
                </a:solidFill>
                <a:latin typeface="Lato Bold"/>
                <a:ea typeface="Lato Bold"/>
                <a:cs typeface="Lato Bold"/>
                <a:sym typeface="Lato Bold"/>
              </a:rPr>
              <a:t>Compatibilidad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RNF-17</a:t>
            </a:r>
          </a:p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La aplicación móvil deberá funcionar en Android e iOS.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RNF-18</a:t>
            </a:r>
          </a:p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La plataforma web deberá funcionar en:</a:t>
            </a:r>
          </a:p>
          <a:p>
            <a:pPr algn="l" marL="259080" indent="-129540" lvl="1">
              <a:lnSpc>
                <a:spcPts val="1679"/>
              </a:lnSpc>
              <a:buFont typeface="Arial"/>
              <a:buChar char="•"/>
            </a:pPr>
            <a:r>
              <a:rPr lang="en-US" b="true" sz="1200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Chrome</a:t>
            </a:r>
          </a:p>
          <a:p>
            <a:pPr algn="l" marL="259080" indent="-129540" lvl="1">
              <a:lnSpc>
                <a:spcPts val="1679"/>
              </a:lnSpc>
              <a:buFont typeface="Arial"/>
              <a:buChar char="•"/>
            </a:pPr>
            <a:r>
              <a:rPr lang="en-US" b="true" sz="1200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Edge</a:t>
            </a:r>
          </a:p>
          <a:p>
            <a:pPr algn="l" marL="259080" indent="-129540" lvl="1">
              <a:lnSpc>
                <a:spcPts val="1679"/>
              </a:lnSpc>
              <a:buFont typeface="Arial"/>
              <a:buChar char="•"/>
            </a:pPr>
            <a:r>
              <a:rPr lang="en-US" b="true" sz="1200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Firefox</a:t>
            </a:r>
          </a:p>
          <a:p>
            <a:pPr algn="l" marL="259080" indent="-129540" lvl="1">
              <a:lnSpc>
                <a:spcPts val="1679"/>
              </a:lnSpc>
              <a:buFont typeface="Arial"/>
              <a:buChar char="•"/>
            </a:pPr>
            <a:r>
              <a:rPr lang="en-US" b="true" sz="1200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Safari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0A714E"/>
                </a:solidFill>
                <a:latin typeface="Lato Bold"/>
                <a:ea typeface="Lato Bold"/>
                <a:cs typeface="Lato Bold"/>
                <a:sym typeface="Lato Bold"/>
              </a:rPr>
              <a:t>Motor de Compatibilidad IA</a:t>
            </a:r>
          </a:p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RNF-19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Las recomendaciones deberán ser explicables para el usuario.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RNF-20</a:t>
            </a:r>
          </a:p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El sistema deberá registrar auditorías de los resultados generados por IA.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RNF-21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La precisión del algoritmo de compatibilidad deberá superar el 80% durante las pruebas piloto.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626729">
            <a:off x="-8344185" y="1455172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9"/>
                </a:lnTo>
                <a:lnTo>
                  <a:pt x="12221289" y="8822969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60839" y="2204125"/>
            <a:ext cx="12553295" cy="6857237"/>
          </a:xfrm>
          <a:custGeom>
            <a:avLst/>
            <a:gdLst/>
            <a:ahLst/>
            <a:cxnLst/>
            <a:rect r="r" b="b" t="t" l="l"/>
            <a:pathLst>
              <a:path h="6857237" w="12553295">
                <a:moveTo>
                  <a:pt x="0" y="0"/>
                </a:moveTo>
                <a:lnTo>
                  <a:pt x="12553295" y="0"/>
                </a:lnTo>
                <a:lnTo>
                  <a:pt x="12553295" y="6857237"/>
                </a:lnTo>
                <a:lnTo>
                  <a:pt x="0" y="68572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54285" y="810306"/>
            <a:ext cx="8700580" cy="83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9"/>
              </a:lnSpc>
            </a:pPr>
            <a:r>
              <a:rPr lang="en-US" b="true" sz="5499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ARQUITECTURA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5681" y="462234"/>
            <a:ext cx="17142063" cy="9243617"/>
            <a:chOff x="0" y="0"/>
            <a:chExt cx="4514782" cy="24345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4782" cy="2434533"/>
            </a:xfrm>
            <a:custGeom>
              <a:avLst/>
              <a:gdLst/>
              <a:ahLst/>
              <a:cxnLst/>
              <a:rect r="r" b="b" t="t" l="l"/>
              <a:pathLst>
                <a:path h="2434533" w="4514782">
                  <a:moveTo>
                    <a:pt x="9033" y="0"/>
                  </a:moveTo>
                  <a:lnTo>
                    <a:pt x="4505749" y="0"/>
                  </a:lnTo>
                  <a:cubicBezTo>
                    <a:pt x="4508145" y="0"/>
                    <a:pt x="4510442" y="952"/>
                    <a:pt x="4512136" y="2646"/>
                  </a:cubicBezTo>
                  <a:cubicBezTo>
                    <a:pt x="4513830" y="4340"/>
                    <a:pt x="4514782" y="6637"/>
                    <a:pt x="4514782" y="9033"/>
                  </a:cubicBezTo>
                  <a:lnTo>
                    <a:pt x="4514782" y="2425500"/>
                  </a:lnTo>
                  <a:cubicBezTo>
                    <a:pt x="4514782" y="2430489"/>
                    <a:pt x="4510738" y="2434533"/>
                    <a:pt x="4505749" y="2434533"/>
                  </a:cubicBezTo>
                  <a:lnTo>
                    <a:pt x="9033" y="2434533"/>
                  </a:lnTo>
                  <a:cubicBezTo>
                    <a:pt x="4044" y="2434533"/>
                    <a:pt x="0" y="2430489"/>
                    <a:pt x="0" y="2425500"/>
                  </a:cubicBezTo>
                  <a:lnTo>
                    <a:pt x="0" y="9033"/>
                  </a:lnTo>
                  <a:cubicBezTo>
                    <a:pt x="0" y="4044"/>
                    <a:pt x="4044" y="0"/>
                    <a:pt x="9033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14782" cy="24726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470920" y="1338020"/>
            <a:ext cx="10218709" cy="852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b="true" sz="5599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METODOLOGÍA CASCADA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8319903" y="5965442"/>
            <a:ext cx="190372" cy="191810"/>
          </a:xfrm>
          <a:custGeom>
            <a:avLst/>
            <a:gdLst/>
            <a:ahLst/>
            <a:cxnLst/>
            <a:rect r="r" b="b" t="t" l="l"/>
            <a:pathLst>
              <a:path h="191810" w="190372">
                <a:moveTo>
                  <a:pt x="0" y="0"/>
                </a:moveTo>
                <a:lnTo>
                  <a:pt x="190372" y="0"/>
                </a:lnTo>
                <a:lnTo>
                  <a:pt x="190372" y="191810"/>
                </a:lnTo>
                <a:lnTo>
                  <a:pt x="0" y="1918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75544" y="3883070"/>
            <a:ext cx="5557732" cy="3102402"/>
          </a:xfrm>
          <a:custGeom>
            <a:avLst/>
            <a:gdLst/>
            <a:ahLst/>
            <a:cxnLst/>
            <a:rect r="r" b="b" t="t" l="l"/>
            <a:pathLst>
              <a:path h="3102402" w="5557732">
                <a:moveTo>
                  <a:pt x="0" y="0"/>
                </a:moveTo>
                <a:lnTo>
                  <a:pt x="5557732" y="0"/>
                </a:lnTo>
                <a:lnTo>
                  <a:pt x="5557732" y="3102402"/>
                </a:lnTo>
                <a:lnTo>
                  <a:pt x="0" y="31024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695934" y="3105843"/>
            <a:ext cx="8469503" cy="3896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Estructura secuencia para garantizar entregables técnicos robustos bajo el marco del semestre académico.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Fase 1: Definición de requerimientos y Prompt Engineering.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Fase 2: Modela de Firestore y reglas de seguridad.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Fase 3: Desarrollo de UI/UX en React.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Fase 4: Integración de API LLM y  Transbank.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319903" y="6793662"/>
            <a:ext cx="190372" cy="191810"/>
          </a:xfrm>
          <a:custGeom>
            <a:avLst/>
            <a:gdLst/>
            <a:ahLst/>
            <a:cxnLst/>
            <a:rect r="r" b="b" t="t" l="l"/>
            <a:pathLst>
              <a:path h="191810" w="190372">
                <a:moveTo>
                  <a:pt x="0" y="0"/>
                </a:moveTo>
                <a:lnTo>
                  <a:pt x="190372" y="0"/>
                </a:lnTo>
                <a:lnTo>
                  <a:pt x="190372" y="191810"/>
                </a:lnTo>
                <a:lnTo>
                  <a:pt x="0" y="1918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319903" y="5242461"/>
            <a:ext cx="190372" cy="191810"/>
          </a:xfrm>
          <a:custGeom>
            <a:avLst/>
            <a:gdLst/>
            <a:ahLst/>
            <a:cxnLst/>
            <a:rect r="r" b="b" t="t" l="l"/>
            <a:pathLst>
              <a:path h="191810" w="190372">
                <a:moveTo>
                  <a:pt x="0" y="0"/>
                </a:moveTo>
                <a:lnTo>
                  <a:pt x="190372" y="0"/>
                </a:lnTo>
                <a:lnTo>
                  <a:pt x="190372" y="191810"/>
                </a:lnTo>
                <a:lnTo>
                  <a:pt x="0" y="1918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319903" y="4412475"/>
            <a:ext cx="190372" cy="191810"/>
          </a:xfrm>
          <a:custGeom>
            <a:avLst/>
            <a:gdLst/>
            <a:ahLst/>
            <a:cxnLst/>
            <a:rect r="r" b="b" t="t" l="l"/>
            <a:pathLst>
              <a:path h="191810" w="190372">
                <a:moveTo>
                  <a:pt x="0" y="0"/>
                </a:moveTo>
                <a:lnTo>
                  <a:pt x="190372" y="0"/>
                </a:lnTo>
                <a:lnTo>
                  <a:pt x="190372" y="191811"/>
                </a:lnTo>
                <a:lnTo>
                  <a:pt x="0" y="1918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626729">
            <a:off x="-8386328" y="2124287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9"/>
                </a:lnTo>
                <a:lnTo>
                  <a:pt x="12221289" y="8822969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77509" y="4958147"/>
            <a:ext cx="1712905" cy="1712905"/>
          </a:xfrm>
          <a:custGeom>
            <a:avLst/>
            <a:gdLst/>
            <a:ahLst/>
            <a:cxnLst/>
            <a:rect r="r" b="b" t="t" l="l"/>
            <a:pathLst>
              <a:path h="1712905" w="1712905">
                <a:moveTo>
                  <a:pt x="0" y="0"/>
                </a:moveTo>
                <a:lnTo>
                  <a:pt x="1712906" y="0"/>
                </a:lnTo>
                <a:lnTo>
                  <a:pt x="1712906" y="1712905"/>
                </a:lnTo>
                <a:lnTo>
                  <a:pt x="0" y="171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91102" y="7520475"/>
            <a:ext cx="3980453" cy="1432963"/>
          </a:xfrm>
          <a:custGeom>
            <a:avLst/>
            <a:gdLst/>
            <a:ahLst/>
            <a:cxnLst/>
            <a:rect r="r" b="b" t="t" l="l"/>
            <a:pathLst>
              <a:path h="1432963" w="3980453">
                <a:moveTo>
                  <a:pt x="0" y="0"/>
                </a:moveTo>
                <a:lnTo>
                  <a:pt x="3980453" y="0"/>
                </a:lnTo>
                <a:lnTo>
                  <a:pt x="3980453" y="1432963"/>
                </a:lnTo>
                <a:lnTo>
                  <a:pt x="0" y="14329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16591" y="7420306"/>
            <a:ext cx="1633301" cy="1633301"/>
          </a:xfrm>
          <a:custGeom>
            <a:avLst/>
            <a:gdLst/>
            <a:ahLst/>
            <a:cxnLst/>
            <a:rect r="r" b="b" t="t" l="l"/>
            <a:pathLst>
              <a:path h="1633301" w="1633301">
                <a:moveTo>
                  <a:pt x="0" y="0"/>
                </a:moveTo>
                <a:lnTo>
                  <a:pt x="1633301" y="0"/>
                </a:lnTo>
                <a:lnTo>
                  <a:pt x="1633301" y="1633301"/>
                </a:lnTo>
                <a:lnTo>
                  <a:pt x="0" y="16333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58053" y="7431354"/>
            <a:ext cx="1622253" cy="1622253"/>
          </a:xfrm>
          <a:custGeom>
            <a:avLst/>
            <a:gdLst/>
            <a:ahLst/>
            <a:cxnLst/>
            <a:rect r="r" b="b" t="t" l="l"/>
            <a:pathLst>
              <a:path h="1622253" w="1622253">
                <a:moveTo>
                  <a:pt x="0" y="0"/>
                </a:moveTo>
                <a:lnTo>
                  <a:pt x="1622253" y="0"/>
                </a:lnTo>
                <a:lnTo>
                  <a:pt x="1622253" y="1622253"/>
                </a:lnTo>
                <a:lnTo>
                  <a:pt x="0" y="16222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888213" y="4859343"/>
            <a:ext cx="1676428" cy="1676428"/>
          </a:xfrm>
          <a:custGeom>
            <a:avLst/>
            <a:gdLst/>
            <a:ahLst/>
            <a:cxnLst/>
            <a:rect r="r" b="b" t="t" l="l"/>
            <a:pathLst>
              <a:path h="1676428" w="1676428">
                <a:moveTo>
                  <a:pt x="0" y="0"/>
                </a:moveTo>
                <a:lnTo>
                  <a:pt x="1676428" y="0"/>
                </a:lnTo>
                <a:lnTo>
                  <a:pt x="1676428" y="1676428"/>
                </a:lnTo>
                <a:lnTo>
                  <a:pt x="0" y="16764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019307" y="5077921"/>
            <a:ext cx="1837055" cy="1593131"/>
          </a:xfrm>
          <a:custGeom>
            <a:avLst/>
            <a:gdLst/>
            <a:ahLst/>
            <a:cxnLst/>
            <a:rect r="r" b="b" t="t" l="l"/>
            <a:pathLst>
              <a:path h="1593131" w="1837055">
                <a:moveTo>
                  <a:pt x="0" y="0"/>
                </a:moveTo>
                <a:lnTo>
                  <a:pt x="1837055" y="0"/>
                </a:lnTo>
                <a:lnTo>
                  <a:pt x="1837055" y="1593131"/>
                </a:lnTo>
                <a:lnTo>
                  <a:pt x="0" y="15931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187756" y="5047684"/>
            <a:ext cx="1762136" cy="1623368"/>
          </a:xfrm>
          <a:custGeom>
            <a:avLst/>
            <a:gdLst/>
            <a:ahLst/>
            <a:cxnLst/>
            <a:rect r="r" b="b" t="t" l="l"/>
            <a:pathLst>
              <a:path h="1623368" w="1762136">
                <a:moveTo>
                  <a:pt x="0" y="0"/>
                </a:moveTo>
                <a:lnTo>
                  <a:pt x="1762136" y="0"/>
                </a:lnTo>
                <a:lnTo>
                  <a:pt x="1762136" y="1623368"/>
                </a:lnTo>
                <a:lnTo>
                  <a:pt x="0" y="16233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297720" y="4958147"/>
            <a:ext cx="1699900" cy="1699900"/>
          </a:xfrm>
          <a:custGeom>
            <a:avLst/>
            <a:gdLst/>
            <a:ahLst/>
            <a:cxnLst/>
            <a:rect r="r" b="b" t="t" l="l"/>
            <a:pathLst>
              <a:path h="1699900" w="1699900">
                <a:moveTo>
                  <a:pt x="0" y="0"/>
                </a:moveTo>
                <a:lnTo>
                  <a:pt x="1699899" y="0"/>
                </a:lnTo>
                <a:lnTo>
                  <a:pt x="1699899" y="1699899"/>
                </a:lnTo>
                <a:lnTo>
                  <a:pt x="0" y="1699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111306" y="1028700"/>
            <a:ext cx="12065388" cy="83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9"/>
              </a:lnSpc>
            </a:pPr>
            <a:r>
              <a:rPr lang="en-US" b="true" sz="5499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TECNOLOGÍAS Y HERRAMIENTAS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58053" y="3666670"/>
            <a:ext cx="4461891" cy="45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b="true" sz="3000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FRONT-END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09664" y="3535285"/>
            <a:ext cx="4461891" cy="457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b="true" sz="3000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BACK-END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626729">
            <a:off x="-8130685" y="1817905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04195" y="2049653"/>
            <a:ext cx="12672499" cy="7793587"/>
          </a:xfrm>
          <a:custGeom>
            <a:avLst/>
            <a:gdLst/>
            <a:ahLst/>
            <a:cxnLst/>
            <a:rect r="r" b="b" t="t" l="l"/>
            <a:pathLst>
              <a:path h="7793587" w="12672499">
                <a:moveTo>
                  <a:pt x="0" y="0"/>
                </a:moveTo>
                <a:lnTo>
                  <a:pt x="12672499" y="0"/>
                </a:lnTo>
                <a:lnTo>
                  <a:pt x="12672499" y="7793586"/>
                </a:lnTo>
                <a:lnTo>
                  <a:pt x="0" y="7793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11306" y="1028700"/>
            <a:ext cx="12065388" cy="83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9"/>
              </a:lnSpc>
            </a:pPr>
            <a:r>
              <a:rPr lang="en-US" b="true" sz="5499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CRONOLOGÍA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2843" y="2535321"/>
            <a:ext cx="15822313" cy="5859443"/>
            <a:chOff x="0" y="0"/>
            <a:chExt cx="4167194" cy="15432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67194" cy="1543228"/>
            </a:xfrm>
            <a:custGeom>
              <a:avLst/>
              <a:gdLst/>
              <a:ahLst/>
              <a:cxnLst/>
              <a:rect r="r" b="b" t="t" l="l"/>
              <a:pathLst>
                <a:path h="1543228" w="4167194">
                  <a:moveTo>
                    <a:pt x="9786" y="0"/>
                  </a:moveTo>
                  <a:lnTo>
                    <a:pt x="4157407" y="0"/>
                  </a:lnTo>
                  <a:cubicBezTo>
                    <a:pt x="4162812" y="0"/>
                    <a:pt x="4167194" y="4381"/>
                    <a:pt x="4167194" y="9786"/>
                  </a:cubicBezTo>
                  <a:lnTo>
                    <a:pt x="4167194" y="1533442"/>
                  </a:lnTo>
                  <a:cubicBezTo>
                    <a:pt x="4167194" y="1536037"/>
                    <a:pt x="4166163" y="1538526"/>
                    <a:pt x="4164328" y="1540362"/>
                  </a:cubicBezTo>
                  <a:cubicBezTo>
                    <a:pt x="4162492" y="1542197"/>
                    <a:pt x="4160003" y="1543228"/>
                    <a:pt x="4157407" y="1543228"/>
                  </a:cubicBezTo>
                  <a:lnTo>
                    <a:pt x="9786" y="1543228"/>
                  </a:lnTo>
                  <a:cubicBezTo>
                    <a:pt x="4381" y="1543228"/>
                    <a:pt x="0" y="1538847"/>
                    <a:pt x="0" y="1533442"/>
                  </a:cubicBezTo>
                  <a:lnTo>
                    <a:pt x="0" y="9786"/>
                  </a:lnTo>
                  <a:cubicBezTo>
                    <a:pt x="0" y="7191"/>
                    <a:pt x="1031" y="4702"/>
                    <a:pt x="2866" y="2866"/>
                  </a:cubicBezTo>
                  <a:cubicBezTo>
                    <a:pt x="4702" y="1031"/>
                    <a:pt x="7191" y="0"/>
                    <a:pt x="9786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67194" cy="1581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46241" y="668100"/>
            <a:ext cx="13255795" cy="1050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b="true" sz="6999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MODELO DE NEGOCIO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94135" y="2540178"/>
            <a:ext cx="13456209" cy="585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Modelo de suscripción SaaS escalable 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El cliente (refugio municipal o privado)  no compra el software, si no que paga por utilizarlo.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Con cuotas basadas en el volumen de animales albergados 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Segmentos de Cliente: 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Municipalidades (Dptos. de Higiene Ambiental).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Gobiernos Regionales (GORE).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Grandes fundaciones y refugios privados.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true" rot="-1542318">
            <a:off x="16140399" y="2712016"/>
            <a:ext cx="7674102" cy="8229600"/>
          </a:xfrm>
          <a:custGeom>
            <a:avLst/>
            <a:gdLst/>
            <a:ahLst/>
            <a:cxnLst/>
            <a:rect r="r" b="b" t="t" l="l"/>
            <a:pathLst>
              <a:path h="8229600" w="7674102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92285" y="4292564"/>
            <a:ext cx="307914" cy="310241"/>
          </a:xfrm>
          <a:custGeom>
            <a:avLst/>
            <a:gdLst/>
            <a:ahLst/>
            <a:cxnLst/>
            <a:rect r="r" b="b" t="t" l="l"/>
            <a:pathLst>
              <a:path h="310241" w="307914">
                <a:moveTo>
                  <a:pt x="0" y="0"/>
                </a:moveTo>
                <a:lnTo>
                  <a:pt x="307913" y="0"/>
                </a:lnTo>
                <a:lnTo>
                  <a:pt x="307913" y="310240"/>
                </a:lnTo>
                <a:lnTo>
                  <a:pt x="0" y="3102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92285" y="5996666"/>
            <a:ext cx="307914" cy="310241"/>
          </a:xfrm>
          <a:custGeom>
            <a:avLst/>
            <a:gdLst/>
            <a:ahLst/>
            <a:cxnLst/>
            <a:rect r="r" b="b" t="t" l="l"/>
            <a:pathLst>
              <a:path h="310241" w="307914">
                <a:moveTo>
                  <a:pt x="0" y="0"/>
                </a:moveTo>
                <a:lnTo>
                  <a:pt x="307913" y="0"/>
                </a:lnTo>
                <a:lnTo>
                  <a:pt x="307913" y="310240"/>
                </a:lnTo>
                <a:lnTo>
                  <a:pt x="0" y="3102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92285" y="5143500"/>
            <a:ext cx="307914" cy="310241"/>
          </a:xfrm>
          <a:custGeom>
            <a:avLst/>
            <a:gdLst/>
            <a:ahLst/>
            <a:cxnLst/>
            <a:rect r="r" b="b" t="t" l="l"/>
            <a:pathLst>
              <a:path h="310241" w="307914">
                <a:moveTo>
                  <a:pt x="0" y="0"/>
                </a:moveTo>
                <a:lnTo>
                  <a:pt x="307913" y="0"/>
                </a:lnTo>
                <a:lnTo>
                  <a:pt x="307913" y="310241"/>
                </a:lnTo>
                <a:lnTo>
                  <a:pt x="0" y="3102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7025" y="558176"/>
            <a:ext cx="16776280" cy="9140423"/>
            <a:chOff x="0" y="0"/>
            <a:chExt cx="4418444" cy="24073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18444" cy="2407354"/>
            </a:xfrm>
            <a:custGeom>
              <a:avLst/>
              <a:gdLst/>
              <a:ahLst/>
              <a:cxnLst/>
              <a:rect r="r" b="b" t="t" l="l"/>
              <a:pathLst>
                <a:path h="2407354" w="4418444">
                  <a:moveTo>
                    <a:pt x="9230" y="0"/>
                  </a:moveTo>
                  <a:lnTo>
                    <a:pt x="4409215" y="0"/>
                  </a:lnTo>
                  <a:cubicBezTo>
                    <a:pt x="4414312" y="0"/>
                    <a:pt x="4418444" y="4132"/>
                    <a:pt x="4418444" y="9230"/>
                  </a:cubicBezTo>
                  <a:lnTo>
                    <a:pt x="4418444" y="2398125"/>
                  </a:lnTo>
                  <a:cubicBezTo>
                    <a:pt x="4418444" y="2403222"/>
                    <a:pt x="4414312" y="2407354"/>
                    <a:pt x="4409215" y="2407354"/>
                  </a:cubicBezTo>
                  <a:lnTo>
                    <a:pt x="9230" y="2407354"/>
                  </a:lnTo>
                  <a:cubicBezTo>
                    <a:pt x="4132" y="2407354"/>
                    <a:pt x="0" y="2403222"/>
                    <a:pt x="0" y="2398125"/>
                  </a:cubicBezTo>
                  <a:lnTo>
                    <a:pt x="0" y="9230"/>
                  </a:lnTo>
                  <a:cubicBezTo>
                    <a:pt x="0" y="4132"/>
                    <a:pt x="4132" y="0"/>
                    <a:pt x="9230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18444" cy="2445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-1542318">
            <a:off x="14960001" y="3262201"/>
            <a:ext cx="7674102" cy="8229600"/>
          </a:xfrm>
          <a:custGeom>
            <a:avLst/>
            <a:gdLst/>
            <a:ahLst/>
            <a:cxnLst/>
            <a:rect r="r" b="b" t="t" l="l"/>
            <a:pathLst>
              <a:path h="8229600" w="7674102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06127" y="1767693"/>
            <a:ext cx="13255795" cy="1050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b="true" sz="6999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DEMOSTRACIÓN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92893" y="3590408"/>
            <a:ext cx="13876749" cy="2846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Mock Up</a:t>
            </a:r>
          </a:p>
          <a:p>
            <a:pPr algn="ctr">
              <a:lnSpc>
                <a:spcPts val="3779"/>
              </a:lnSpc>
            </a:pPr>
          </a:p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https://stitch.withgoogle.com/projects/12866471884715408564</a:t>
            </a:r>
          </a:p>
          <a:p>
            <a:pPr algn="ctr">
              <a:lnSpc>
                <a:spcPts val="3779"/>
              </a:lnSpc>
            </a:pP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https://stitch.withgoogle.com/preview/12866471884715408564?node-id=4cd1353627a04f41b9911d295237c0be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1604" y="2584447"/>
            <a:ext cx="15560241" cy="6045985"/>
            <a:chOff x="0" y="0"/>
            <a:chExt cx="4098170" cy="1592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98170" cy="1592358"/>
            </a:xfrm>
            <a:custGeom>
              <a:avLst/>
              <a:gdLst/>
              <a:ahLst/>
              <a:cxnLst/>
              <a:rect r="r" b="b" t="t" l="l"/>
              <a:pathLst>
                <a:path h="1592358" w="4098170">
                  <a:moveTo>
                    <a:pt x="9951" y="0"/>
                  </a:moveTo>
                  <a:lnTo>
                    <a:pt x="4088219" y="0"/>
                  </a:lnTo>
                  <a:cubicBezTo>
                    <a:pt x="4090859" y="0"/>
                    <a:pt x="4093390" y="1048"/>
                    <a:pt x="4095256" y="2915"/>
                  </a:cubicBezTo>
                  <a:cubicBezTo>
                    <a:pt x="4097122" y="4781"/>
                    <a:pt x="4098170" y="7312"/>
                    <a:pt x="4098170" y="9951"/>
                  </a:cubicBezTo>
                  <a:lnTo>
                    <a:pt x="4098170" y="1582407"/>
                  </a:lnTo>
                  <a:cubicBezTo>
                    <a:pt x="4098170" y="1585046"/>
                    <a:pt x="4097122" y="1587578"/>
                    <a:pt x="4095256" y="1589444"/>
                  </a:cubicBezTo>
                  <a:cubicBezTo>
                    <a:pt x="4093390" y="1591310"/>
                    <a:pt x="4090859" y="1592358"/>
                    <a:pt x="4088219" y="1592358"/>
                  </a:cubicBezTo>
                  <a:lnTo>
                    <a:pt x="9951" y="1592358"/>
                  </a:lnTo>
                  <a:cubicBezTo>
                    <a:pt x="7312" y="1592358"/>
                    <a:pt x="4781" y="1591310"/>
                    <a:pt x="2915" y="1589444"/>
                  </a:cubicBezTo>
                  <a:cubicBezTo>
                    <a:pt x="1048" y="1587578"/>
                    <a:pt x="0" y="1585046"/>
                    <a:pt x="0" y="1582407"/>
                  </a:cubicBezTo>
                  <a:lnTo>
                    <a:pt x="0" y="9951"/>
                  </a:lnTo>
                  <a:cubicBezTo>
                    <a:pt x="0" y="7312"/>
                    <a:pt x="1048" y="4781"/>
                    <a:pt x="2915" y="2915"/>
                  </a:cubicBezTo>
                  <a:cubicBezTo>
                    <a:pt x="4781" y="1048"/>
                    <a:pt x="7312" y="0"/>
                    <a:pt x="9951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098170" cy="1639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0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10435729">
            <a:off x="-2125405" y="-3995644"/>
            <a:ext cx="7674102" cy="8229600"/>
          </a:xfrm>
          <a:custGeom>
            <a:avLst/>
            <a:gdLst/>
            <a:ahLst/>
            <a:cxnLst/>
            <a:rect r="r" b="b" t="t" l="l"/>
            <a:pathLst>
              <a:path h="8229600" w="7674102">
                <a:moveTo>
                  <a:pt x="0" y="0"/>
                </a:moveTo>
                <a:lnTo>
                  <a:pt x="7674102" y="0"/>
                </a:lnTo>
                <a:lnTo>
                  <a:pt x="76741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61434" y="1563598"/>
            <a:ext cx="8700580" cy="852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b="true" sz="5599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MEJORAS FUTURAS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14679" y="2536822"/>
            <a:ext cx="11788994" cy="5111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Implementar rec</a:t>
            </a:r>
            <a:r>
              <a:rPr lang="en-US" sz="21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onocimiento de imagen para identificar razas, tamaños y rasgos físicos de mascotas abandonadas a partir de fotos tomadas en la calle, facilitando su registro automático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 Asistente virtual (Chatbot) basado en Gemini 3 Flash para resolver dudas sobre la Ley Cholito y cuidados básicos.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 Usar modelos geoespaciales para predecir en qué barrios es más probable que ocurra abandono, permitiendo que el gobierno realice campañas preventivas focalizadas.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745750" y="3413011"/>
            <a:ext cx="344044" cy="346643"/>
          </a:xfrm>
          <a:custGeom>
            <a:avLst/>
            <a:gdLst/>
            <a:ahLst/>
            <a:cxnLst/>
            <a:rect r="r" b="b" t="t" l="l"/>
            <a:pathLst>
              <a:path h="346643" w="344044">
                <a:moveTo>
                  <a:pt x="0" y="0"/>
                </a:moveTo>
                <a:lnTo>
                  <a:pt x="344043" y="0"/>
                </a:lnTo>
                <a:lnTo>
                  <a:pt x="344043" y="346644"/>
                </a:lnTo>
                <a:lnTo>
                  <a:pt x="0" y="346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745750" y="4988380"/>
            <a:ext cx="307914" cy="310241"/>
          </a:xfrm>
          <a:custGeom>
            <a:avLst/>
            <a:gdLst/>
            <a:ahLst/>
            <a:cxnLst/>
            <a:rect r="r" b="b" t="t" l="l"/>
            <a:pathLst>
              <a:path h="310241" w="307914">
                <a:moveTo>
                  <a:pt x="0" y="0"/>
                </a:moveTo>
                <a:lnTo>
                  <a:pt x="307913" y="0"/>
                </a:lnTo>
                <a:lnTo>
                  <a:pt x="307913" y="310240"/>
                </a:lnTo>
                <a:lnTo>
                  <a:pt x="0" y="3102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745750" y="6527028"/>
            <a:ext cx="316051" cy="318439"/>
          </a:xfrm>
          <a:custGeom>
            <a:avLst/>
            <a:gdLst/>
            <a:ahLst/>
            <a:cxnLst/>
            <a:rect r="r" b="b" t="t" l="l"/>
            <a:pathLst>
              <a:path h="318439" w="316051">
                <a:moveTo>
                  <a:pt x="0" y="0"/>
                </a:moveTo>
                <a:lnTo>
                  <a:pt x="316050" y="0"/>
                </a:lnTo>
                <a:lnTo>
                  <a:pt x="316050" y="318439"/>
                </a:lnTo>
                <a:lnTo>
                  <a:pt x="0" y="318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2299" y="3048949"/>
            <a:ext cx="15968096" cy="4867736"/>
            <a:chOff x="0" y="0"/>
            <a:chExt cx="4205589" cy="12820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05589" cy="1282037"/>
            </a:xfrm>
            <a:custGeom>
              <a:avLst/>
              <a:gdLst/>
              <a:ahLst/>
              <a:cxnLst/>
              <a:rect r="r" b="b" t="t" l="l"/>
              <a:pathLst>
                <a:path h="1282037" w="4205589">
                  <a:moveTo>
                    <a:pt x="9697" y="0"/>
                  </a:moveTo>
                  <a:lnTo>
                    <a:pt x="4195892" y="0"/>
                  </a:lnTo>
                  <a:cubicBezTo>
                    <a:pt x="4198464" y="0"/>
                    <a:pt x="4200930" y="1022"/>
                    <a:pt x="4202749" y="2840"/>
                  </a:cubicBezTo>
                  <a:cubicBezTo>
                    <a:pt x="4204567" y="4659"/>
                    <a:pt x="4205589" y="7125"/>
                    <a:pt x="4205589" y="9697"/>
                  </a:cubicBezTo>
                  <a:lnTo>
                    <a:pt x="4205589" y="1272341"/>
                  </a:lnTo>
                  <a:cubicBezTo>
                    <a:pt x="4205589" y="1277696"/>
                    <a:pt x="4201248" y="1282037"/>
                    <a:pt x="4195892" y="1282037"/>
                  </a:cubicBezTo>
                  <a:lnTo>
                    <a:pt x="9697" y="1282037"/>
                  </a:lnTo>
                  <a:cubicBezTo>
                    <a:pt x="7125" y="1282037"/>
                    <a:pt x="4659" y="1281016"/>
                    <a:pt x="2840" y="1279197"/>
                  </a:cubicBezTo>
                  <a:cubicBezTo>
                    <a:pt x="1022" y="1277379"/>
                    <a:pt x="0" y="1274912"/>
                    <a:pt x="0" y="1272341"/>
                  </a:cubicBezTo>
                  <a:lnTo>
                    <a:pt x="0" y="9697"/>
                  </a:lnTo>
                  <a:cubicBezTo>
                    <a:pt x="0" y="7125"/>
                    <a:pt x="1022" y="4659"/>
                    <a:pt x="2840" y="2840"/>
                  </a:cubicBezTo>
                  <a:cubicBezTo>
                    <a:pt x="4659" y="1022"/>
                    <a:pt x="7125" y="0"/>
                    <a:pt x="9697" y="0"/>
                  </a:cubicBezTo>
                  <a:close/>
                </a:path>
              </a:pathLst>
            </a:custGeom>
            <a:solidFill>
              <a:srgbClr val="FBF9F1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205589" cy="13296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10435729">
            <a:off x="-2125405" y="-3995644"/>
            <a:ext cx="7674102" cy="8229600"/>
          </a:xfrm>
          <a:custGeom>
            <a:avLst/>
            <a:gdLst/>
            <a:ahLst/>
            <a:cxnLst/>
            <a:rect r="r" b="b" t="t" l="l"/>
            <a:pathLst>
              <a:path h="8229600" w="7674102">
                <a:moveTo>
                  <a:pt x="0" y="0"/>
                </a:moveTo>
                <a:lnTo>
                  <a:pt x="7674102" y="0"/>
                </a:lnTo>
                <a:lnTo>
                  <a:pt x="767410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61434" y="1563598"/>
            <a:ext cx="8700580" cy="852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b="true" sz="5599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19191" y="3990669"/>
            <a:ext cx="12684010" cy="272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Implementar reconocimiento de imagen para identificar razas, tamaños y rasgos físicos de mascotas abandonadas a partir de fotos tomadas en la calle, facilitando su registro automático</a:t>
            </a:r>
          </a:p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 Asistente virtual (Chatbot) basado en Gemini 3 Flash para resolver dudas sobre la Ley Cholito y cuidados básicos.</a:t>
            </a:r>
          </a:p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333333"/>
                </a:solidFill>
                <a:latin typeface="Lato Bold"/>
                <a:ea typeface="Lato Bold"/>
                <a:cs typeface="Lato Bold"/>
                <a:sym typeface="Lato Bold"/>
              </a:rPr>
              <a:t> Usar modelos geoespaciales para predecir en qué barrios es más probable que ocurra abandono, permitiendo que el gobierno realice campañas preventivas focalizadas.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2" t="0" r="-125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04920" y="7149570"/>
            <a:ext cx="9976909" cy="2612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</a:p>
          <a:p>
            <a:pPr algn="ctr">
              <a:lnSpc>
                <a:spcPts val="2970"/>
              </a:lnSpc>
            </a:pPr>
            <a:r>
              <a:rPr lang="en-US" b="true" sz="2700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l">
              <a:lnSpc>
                <a:spcPts val="13953"/>
              </a:lnSpc>
            </a:pPr>
            <a:r>
              <a:rPr lang="en-US" sz="12684" b="true">
                <a:solidFill>
                  <a:srgbClr val="0A714E"/>
                </a:solidFill>
                <a:latin typeface="Poppins Bold"/>
                <a:ea typeface="Poppins Bold"/>
                <a:cs typeface="Poppins Bold"/>
                <a:sym typeface="Poppins Bold"/>
              </a:rPr>
              <a:t>¡GRACIAS!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DAGyh6hv9FE</dc:identifier>
  <dcterms:modified xsi:type="dcterms:W3CDTF">2011-08-01T06:04:30Z</dcterms:modified>
  <cp:revision>1</cp:revision>
  <dc:title>Adoptame Presentación</dc:title>
</cp:coreProperties>
</file>